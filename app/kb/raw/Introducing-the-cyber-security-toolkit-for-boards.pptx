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xml" ContentType="application/vnd.openxmlformats-officedocument.presentationml.tags+xml"/>
  <Override PartName="/ppt/notesSlides/notesSlide10.xml" ContentType="application/vnd.openxmlformats-officedocument.presentationml.notesSlide+xml"/>
  <Override PartName="/ppt/tags/tag2.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7"/>
    <p:sldMasterId id="2147483663" r:id="rId8"/>
  </p:sldMasterIdLst>
  <p:notesMasterIdLst>
    <p:notesMasterId r:id="rId21"/>
  </p:notesMasterIdLst>
  <p:sldIdLst>
    <p:sldId id="256" r:id="rId9"/>
    <p:sldId id="292" r:id="rId10"/>
    <p:sldId id="293" r:id="rId11"/>
    <p:sldId id="259" r:id="rId12"/>
    <p:sldId id="267" r:id="rId13"/>
    <p:sldId id="268" r:id="rId14"/>
    <p:sldId id="294" r:id="rId15"/>
    <p:sldId id="295" r:id="rId16"/>
    <p:sldId id="262" r:id="rId17"/>
    <p:sldId id="291" r:id="rId18"/>
    <p:sldId id="272" r:id="rId19"/>
    <p:sldId id="27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529E093-9545-415B-98D6-8E8D6F435E9C}">
          <p14:sldIdLst>
            <p14:sldId id="256"/>
            <p14:sldId id="292"/>
            <p14:sldId id="293"/>
            <p14:sldId id="259"/>
            <p14:sldId id="267"/>
            <p14:sldId id="268"/>
            <p14:sldId id="294"/>
            <p14:sldId id="295"/>
            <p14:sldId id="262"/>
            <p14:sldId id="291"/>
            <p14:sldId id="272"/>
            <p14:sldId id="27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8B1E"/>
    <a:srgbClr val="0D2650"/>
    <a:srgbClr val="C8A150"/>
    <a:srgbClr val="DFC390"/>
    <a:srgbClr val="51587C"/>
    <a:srgbClr val="000000"/>
    <a:srgbClr val="21305A"/>
    <a:srgbClr val="123D97"/>
    <a:srgbClr val="124097"/>
    <a:srgbClr val="021D4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1954" autoAdjust="0"/>
  </p:normalViewPr>
  <p:slideViewPr>
    <p:cSldViewPr snapToGrid="0">
      <p:cViewPr varScale="1">
        <p:scale>
          <a:sx n="67" d="100"/>
          <a:sy n="67" d="100"/>
        </p:scale>
        <p:origin x="1188" y="60"/>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2.xml"/><Relationship Id="rId13" Type="http://schemas.openxmlformats.org/officeDocument/2006/relationships/slide" Target="slides/slide5.xml"/><Relationship Id="rId18" Type="http://schemas.openxmlformats.org/officeDocument/2006/relationships/slide" Target="slides/slide10.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Master" Target="slideMasters/slideMaster1.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1" Type="http://schemas.openxmlformats.org/officeDocument/2006/relationships/customXml" Target="../customXml/item1.xml"/><Relationship Id="rId24" Type="http://schemas.openxmlformats.org/officeDocument/2006/relationships/theme" Target="theme/theme1.xml"/><Relationship Id="rId11" Type="http://schemas.openxmlformats.org/officeDocument/2006/relationships/slide" Target="slides/slide3.xml"/><Relationship Id="rId23" Type="http://schemas.openxmlformats.org/officeDocument/2006/relationships/viewProps" Target="viewProps.xml"/><Relationship Id="rId15" Type="http://schemas.openxmlformats.org/officeDocument/2006/relationships/slide" Target="slides/slide7.xml"/><Relationship Id="rId10" Type="http://schemas.openxmlformats.org/officeDocument/2006/relationships/slide" Target="slides/slide2.xml"/><Relationship Id="rId19" Type="http://schemas.openxmlformats.org/officeDocument/2006/relationships/slide" Target="slides/slide11.xml"/><Relationship Id="rId22" Type="http://schemas.openxmlformats.org/officeDocument/2006/relationships/presProps" Target="presProps.xml"/><Relationship Id="rId9" Type="http://schemas.openxmlformats.org/officeDocument/2006/relationships/slide" Target="slides/slide1.xml"/><Relationship Id="rId14"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827C29-BB2E-4378-86E8-C3526A786AA9}" type="datetimeFigureOut">
              <a:rPr lang="en-GB" smtClean="0"/>
              <a:t>23/10/2023</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644FDF-E411-44D0-9482-7F7F6DB58F0D}" type="slidenum">
              <a:rPr lang="en-GB" smtClean="0"/>
              <a:t>‹#›</a:t>
            </a:fld>
            <a:endParaRPr lang="en-GB"/>
          </a:p>
        </p:txBody>
      </p:sp>
    </p:spTree>
    <p:extLst>
      <p:ext uri="{BB962C8B-B14F-4D97-AF65-F5344CB8AC3E}">
        <p14:creationId xmlns:p14="http://schemas.microsoft.com/office/powerpoint/2010/main" val="20448139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8" Type="http://schemas.openxmlformats.org/officeDocument/2006/relationships/hyperlink" Target="https://ukncsc.atlassian.net/wiki/spaces/BT2/pages/3971383409" TargetMode="External"/><Relationship Id="rId3" Type="http://schemas.openxmlformats.org/officeDocument/2006/relationships/hyperlink" Target="https://ukncsc.atlassian.net/wiki/spaces/BT2/pages/3903094846/Board+toolkit+2022+home+page" TargetMode="External"/><Relationship Id="rId7" Type="http://schemas.openxmlformats.org/officeDocument/2006/relationships/hyperlink" Target="https://ukncsc.atlassian.net/wiki/spaces/BT2/pages/3942678604" TargetMode="External"/><Relationship Id="rId2" Type="http://schemas.openxmlformats.org/officeDocument/2006/relationships/slide" Target="../slides/slide8.xml"/><Relationship Id="rId1" Type="http://schemas.openxmlformats.org/officeDocument/2006/relationships/notesMaster" Target="../notesMasters/notesMaster1.xml"/><Relationship Id="rId6" Type="http://schemas.openxmlformats.org/officeDocument/2006/relationships/hyperlink" Target="https://ukncsc.atlassian.net/wiki/spaces/BT2/pages/3925770390" TargetMode="External"/><Relationship Id="rId5" Type="http://schemas.openxmlformats.org/officeDocument/2006/relationships/hyperlink" Target="https://ukncsc.atlassian.net/wiki/spaces/BT2/pages/3918987291" TargetMode="External"/><Relationship Id="rId4" Type="http://schemas.openxmlformats.org/officeDocument/2006/relationships/hyperlink" Target="https://ukncsc.atlassian.net/wiki/spaces/BT2/pages/3913318563"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ncsc.gov.uk/information/cyber-incidents" TargetMode="External"/><Relationship Id="rId2" Type="http://schemas.openxmlformats.org/officeDocument/2006/relationships/slide" Target="../slides/slide10.xml"/><Relationship Id="rId1" Type="http://schemas.openxmlformats.org/officeDocument/2006/relationships/notesMaster" Target="../notesMasters/notesMaster1.xml"/><Relationship Id="rId4" Type="http://schemas.openxmlformats.org/officeDocument/2006/relationships/hyperlink" Target="https://www.actionfraud.police.uk/" TargetMode="Externa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578840" y="4400550"/>
            <a:ext cx="5593360" cy="4080720"/>
          </a:xfrm>
        </p:spPr>
        <p: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GB" b="0" i="0" dirty="0">
                <a:solidFill>
                  <a:srgbClr val="000000"/>
                </a:solidFill>
                <a:effectLst/>
                <a:latin typeface="Poppins" panose="00000500000000000000" pitchFamily="2" charset="0"/>
                <a:cs typeface="Poppins" panose="00000500000000000000" pitchFamily="2" charset="0"/>
              </a:rPr>
              <a:t>(</a:t>
            </a:r>
            <a:r>
              <a:rPr lang="en-GB" b="0" i="1" dirty="0">
                <a:solidFill>
                  <a:srgbClr val="000000"/>
                </a:solidFill>
                <a:effectLst/>
                <a:latin typeface="Poppins" panose="00000500000000000000" pitchFamily="2" charset="0"/>
                <a:cs typeface="Poppins" panose="00000500000000000000" pitchFamily="2" charset="0"/>
              </a:rPr>
              <a:t>Note for presenters: text in </a:t>
            </a:r>
            <a:r>
              <a:rPr lang="en-GB" b="1" i="1" dirty="0">
                <a:solidFill>
                  <a:srgbClr val="000000"/>
                </a:solidFill>
                <a:effectLst/>
                <a:latin typeface="Poppins" panose="00000500000000000000" pitchFamily="2" charset="0"/>
                <a:cs typeface="Poppins" panose="00000500000000000000" pitchFamily="2" charset="0"/>
              </a:rPr>
              <a:t>bold</a:t>
            </a:r>
            <a:r>
              <a:rPr lang="en-GB" b="0" i="1" dirty="0">
                <a:solidFill>
                  <a:srgbClr val="000000"/>
                </a:solidFill>
                <a:effectLst/>
                <a:latin typeface="Poppins" panose="00000500000000000000" pitchFamily="2" charset="0"/>
                <a:cs typeface="Poppins" panose="00000500000000000000" pitchFamily="2" charset="0"/>
              </a:rPr>
              <a:t> throughout the presentation indicates where the text relates to a specific line on the slide and/or an animation).</a:t>
            </a:r>
          </a:p>
          <a:p>
            <a:pPr marL="0" marR="0" lvl="0" indent="0" algn="l" defTabSz="914400" rtl="0" eaLnBrk="1" fontAlgn="auto" latinLnBrk="0" hangingPunct="1">
              <a:lnSpc>
                <a:spcPct val="107000"/>
              </a:lnSpc>
              <a:spcBef>
                <a:spcPts val="0"/>
              </a:spcBef>
              <a:spcAft>
                <a:spcPts val="800"/>
              </a:spcAft>
              <a:buClrTx/>
              <a:buSzTx/>
              <a:buFontTx/>
              <a:buNone/>
              <a:tabLst/>
              <a:defRPr/>
            </a:pPr>
            <a:endParaRPr lang="en-GB" b="0" i="1" dirty="0">
              <a:solidFill>
                <a:srgbClr val="000000"/>
              </a:solidFill>
              <a:effectLst/>
              <a:latin typeface="Poppins" panose="00000500000000000000" pitchFamily="2" charset="0"/>
              <a:cs typeface="Poppins" panose="00000500000000000000" pitchFamily="2" charset="0"/>
            </a:endParaRPr>
          </a:p>
          <a:p>
            <a:pPr>
              <a:lnSpc>
                <a:spcPct val="107000"/>
              </a:lnSpc>
              <a:spcAft>
                <a:spcPts val="800"/>
              </a:spcAft>
            </a:pPr>
            <a:r>
              <a:rPr lang="en-GB" dirty="0">
                <a:effectLst/>
                <a:latin typeface="Poppins" panose="00000500000000000000" pitchFamily="2" charset="0"/>
                <a:ea typeface="Calibri" panose="020F0502020204030204" pitchFamily="34" charset="0"/>
                <a:cs typeface="Poppins" panose="00000500000000000000" pitchFamily="2" charset="0"/>
              </a:rPr>
              <a:t>This presentation introduces the NCSC’s Cyber Security Toolkit for Boards which is freely available and designed to meet the needs of boards of</a:t>
            </a:r>
            <a:r>
              <a:rPr lang="en-GB" dirty="0">
                <a:latin typeface="Poppins" panose="00000500000000000000" pitchFamily="2" charset="0"/>
                <a:ea typeface="Calibri" panose="020F0502020204030204" pitchFamily="34" charset="0"/>
                <a:cs typeface="Poppins" panose="00000500000000000000" pitchFamily="2" charset="0"/>
              </a:rPr>
              <a:t> medium and large organisations</a:t>
            </a:r>
            <a:r>
              <a:rPr lang="en-GB" dirty="0">
                <a:effectLst/>
                <a:latin typeface="Poppins" panose="00000500000000000000" pitchFamily="2" charset="0"/>
                <a:ea typeface="Calibri" panose="020F0502020204030204" pitchFamily="34" charset="0"/>
                <a:cs typeface="Poppins" panose="00000500000000000000" pitchFamily="2" charset="0"/>
              </a:rPr>
              <a:t> and in all sectors. </a:t>
            </a:r>
          </a:p>
          <a:p>
            <a:pPr>
              <a:lnSpc>
                <a:spcPct val="107000"/>
              </a:lnSpc>
              <a:spcAft>
                <a:spcPts val="800"/>
              </a:spcAft>
            </a:pPr>
            <a:r>
              <a:rPr lang="en-GB" dirty="0">
                <a:effectLst/>
                <a:latin typeface="Poppins" panose="00000500000000000000" pitchFamily="2" charset="0"/>
                <a:ea typeface="Calibri" panose="020F0502020204030204" pitchFamily="34" charset="0"/>
                <a:cs typeface="Poppins" panose="00000500000000000000" pitchFamily="2" charset="0"/>
              </a:rPr>
              <a:t>We start by focusing on boards’ roles and responsibilities for cyber security and then move onto the toolkit itself, showing how board members can work with their key staff to seek assurance and, where relevant, to help drive change in their organisation’s cyber resilience.</a:t>
            </a:r>
          </a:p>
          <a:p>
            <a:pPr>
              <a:lnSpc>
                <a:spcPct val="107000"/>
              </a:lnSpc>
              <a:spcAft>
                <a:spcPts val="800"/>
              </a:spcAft>
            </a:pPr>
            <a:r>
              <a:rPr lang="en-GB" dirty="0">
                <a:effectLst/>
                <a:latin typeface="Poppins" panose="00000500000000000000" pitchFamily="2" charset="0"/>
                <a:ea typeface="Calibri" panose="020F0502020204030204" pitchFamily="34" charset="0"/>
                <a:cs typeface="Poppins" panose="00000500000000000000" pitchFamily="2" charset="0"/>
              </a:rPr>
              <a:t> </a:t>
            </a:r>
          </a:p>
          <a:p>
            <a:pPr>
              <a:lnSpc>
                <a:spcPct val="107000"/>
              </a:lnSpc>
              <a:spcAft>
                <a:spcPts val="800"/>
              </a:spcAft>
            </a:pPr>
            <a:r>
              <a:rPr lang="en-GB" dirty="0">
                <a:effectLst/>
                <a:latin typeface="Poppins" panose="00000500000000000000" pitchFamily="2" charset="0"/>
                <a:ea typeface="Calibri" panose="020F0502020204030204" pitchFamily="34" charset="0"/>
                <a:cs typeface="Poppins" panose="00000500000000000000" pitchFamily="2" charset="0"/>
              </a:rPr>
              <a:t>As this presentation is an introduction to the toolkit, we’ll be looking at its structure and themes rather than the detail of it. We don’t assume any detailed technical knowledge in what we cover today, not least because the toolkit itself is designed to be useful to everyone, no matter what their starting point with cyber security.</a:t>
            </a:r>
          </a:p>
          <a:p>
            <a:endParaRPr lang="en-GB" dirty="0"/>
          </a:p>
        </p:txBody>
      </p:sp>
      <p:sp>
        <p:nvSpPr>
          <p:cNvPr id="4" name="Slide Number Placeholder 3"/>
          <p:cNvSpPr>
            <a:spLocks noGrp="1"/>
          </p:cNvSpPr>
          <p:nvPr>
            <p:ph type="sldNum" sz="quarter" idx="5"/>
          </p:nvPr>
        </p:nvSpPr>
        <p:spPr/>
        <p:txBody>
          <a:bodyPr/>
          <a:lstStyle/>
          <a:p>
            <a:fld id="{7F644FDF-E411-44D0-9482-7F7F6DB58F0D}" type="slidenum">
              <a:rPr lang="en-GB" smtClean="0"/>
              <a:t>1</a:t>
            </a:fld>
            <a:endParaRPr lang="en-GB"/>
          </a:p>
        </p:txBody>
      </p:sp>
    </p:spTree>
    <p:extLst>
      <p:ext uri="{BB962C8B-B14F-4D97-AF65-F5344CB8AC3E}">
        <p14:creationId xmlns:p14="http://schemas.microsoft.com/office/powerpoint/2010/main" val="31542928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r>
              <a:rPr lang="en-US" sz="1600" i="1" dirty="0">
                <a:effectLst/>
                <a:latin typeface="Poppins" panose="00000500000000000000" pitchFamily="2" charset="0"/>
                <a:ea typeface="Calibri" panose="020F0502020204030204" pitchFamily="34" charset="0"/>
                <a:cs typeface="Poppins" panose="00000500000000000000" pitchFamily="2" charset="0"/>
              </a:rPr>
              <a:t>(</a:t>
            </a:r>
            <a:r>
              <a:rPr lang="en-US" sz="1200" i="1" dirty="0">
                <a:effectLst/>
                <a:latin typeface="Poppins" panose="00000500000000000000" pitchFamily="2" charset="0"/>
                <a:ea typeface="Calibri" panose="020F0502020204030204" pitchFamily="34" charset="0"/>
                <a:cs typeface="Poppins" panose="00000500000000000000" pitchFamily="2" charset="0"/>
              </a:rPr>
              <a:t>Note for presenters: if combining presentations, it is worth noting that slide is also included in slide deck 1).</a:t>
            </a:r>
          </a:p>
          <a:p>
            <a:pPr>
              <a:lnSpc>
                <a:spcPct val="107000"/>
              </a:lnSpc>
              <a:spcAft>
                <a:spcPts val="800"/>
              </a:spcAft>
            </a:pPr>
            <a:r>
              <a:rPr lang="en-US" sz="1200" i="1" dirty="0">
                <a:effectLst/>
                <a:latin typeface="Poppins" panose="00000500000000000000" pitchFamily="2" charset="0"/>
                <a:ea typeface="Calibri" panose="020F0502020204030204" pitchFamily="34" charset="0"/>
                <a:cs typeface="Poppins" panose="00000500000000000000" pitchFamily="2" charset="0"/>
              </a:rPr>
              <a:t>--</a:t>
            </a:r>
          </a:p>
          <a:p>
            <a:pPr algn="l" rtl="0" fontAlgn="base"/>
            <a:r>
              <a:rPr lang="en-GB" sz="1200" b="0" i="0" dirty="0">
                <a:solidFill>
                  <a:srgbClr val="000000"/>
                </a:solidFill>
                <a:effectLst/>
                <a:latin typeface="Poppins" panose="00000500000000000000" pitchFamily="2" charset="0"/>
                <a:cs typeface="Poppins" panose="00000500000000000000" pitchFamily="2" charset="0"/>
              </a:rPr>
              <a:t>To set the scene, it’s helpful to understand what the National Cyber Security Centre is and what we do. </a:t>
            </a:r>
          </a:p>
          <a:p>
            <a:pPr algn="l" rtl="0" fontAlgn="base"/>
            <a:r>
              <a:rPr lang="en-GB" sz="1200" b="0" i="0" dirty="0">
                <a:solidFill>
                  <a:srgbClr val="000000"/>
                </a:solidFill>
                <a:effectLst/>
                <a:latin typeface="Poppins" panose="00000500000000000000" pitchFamily="2" charset="0"/>
                <a:cs typeface="Poppins" panose="00000500000000000000" pitchFamily="2" charset="0"/>
              </a:rPr>
              <a:t> </a:t>
            </a:r>
          </a:p>
          <a:p>
            <a:pPr algn="l" rtl="0" fontAlgn="base"/>
            <a:r>
              <a:rPr lang="en-GB" sz="1200" b="0" i="0" dirty="0">
                <a:solidFill>
                  <a:srgbClr val="000000"/>
                </a:solidFill>
                <a:effectLst/>
                <a:latin typeface="Poppins" panose="00000500000000000000" pitchFamily="2" charset="0"/>
                <a:cs typeface="Poppins" panose="00000500000000000000" pitchFamily="2" charset="0"/>
              </a:rPr>
              <a:t>The NCSC was set up in October 2016 bringing together various parts of government.  </a:t>
            </a:r>
          </a:p>
          <a:p>
            <a:pPr algn="l" rtl="0" fontAlgn="base"/>
            <a:r>
              <a:rPr lang="en-GB" sz="1200" b="0" i="0" dirty="0">
                <a:solidFill>
                  <a:srgbClr val="000000"/>
                </a:solidFill>
                <a:effectLst/>
                <a:latin typeface="Poppins" panose="00000500000000000000" pitchFamily="2" charset="0"/>
                <a:cs typeface="Poppins" panose="00000500000000000000" pitchFamily="2" charset="0"/>
              </a:rPr>
              <a:t>We’re not a regulator but the UK’s technical experts in cyber security. </a:t>
            </a:r>
          </a:p>
          <a:p>
            <a:pPr algn="l" rtl="0" fontAlgn="base"/>
            <a:r>
              <a:rPr lang="en-GB" sz="1200" b="0" i="0" dirty="0">
                <a:solidFill>
                  <a:srgbClr val="000000"/>
                </a:solidFill>
                <a:effectLst/>
                <a:latin typeface="Poppins" panose="00000500000000000000" pitchFamily="2" charset="0"/>
                <a:cs typeface="Poppins" panose="00000500000000000000" pitchFamily="2" charset="0"/>
              </a:rPr>
              <a:t>As you’ll see from our logo at the top of the slide, we’re a part of GCHQ. </a:t>
            </a:r>
          </a:p>
          <a:p>
            <a:pPr algn="l" rtl="0" fontAlgn="base"/>
            <a:r>
              <a:rPr lang="en-GB" sz="1200" b="0" i="0" dirty="0">
                <a:solidFill>
                  <a:srgbClr val="000000"/>
                </a:solidFill>
                <a:effectLst/>
                <a:latin typeface="Poppins" panose="00000500000000000000" pitchFamily="2" charset="0"/>
                <a:cs typeface="Poppins" panose="00000500000000000000" pitchFamily="2" charset="0"/>
              </a:rPr>
              <a:t> </a:t>
            </a:r>
          </a:p>
          <a:p>
            <a:pPr algn="l" rtl="0" fontAlgn="base"/>
            <a:r>
              <a:rPr lang="en-GB" sz="1200" b="0" i="0" dirty="0">
                <a:solidFill>
                  <a:srgbClr val="000000"/>
                </a:solidFill>
                <a:effectLst/>
                <a:latin typeface="Poppins" panose="00000500000000000000" pitchFamily="2" charset="0"/>
                <a:cs typeface="Poppins" panose="00000500000000000000" pitchFamily="2" charset="0"/>
              </a:rPr>
              <a:t>NCSC’s strapline is ‘</a:t>
            </a:r>
            <a:r>
              <a:rPr lang="en-GB" sz="1200" b="0" i="1" dirty="0">
                <a:solidFill>
                  <a:srgbClr val="000000"/>
                </a:solidFill>
                <a:effectLst/>
                <a:latin typeface="Poppins" panose="00000500000000000000" pitchFamily="2" charset="0"/>
                <a:cs typeface="Poppins" panose="00000500000000000000" pitchFamily="2" charset="0"/>
              </a:rPr>
              <a:t>helping to make the UK the safest place to live and work online</a:t>
            </a:r>
            <a:r>
              <a:rPr lang="en-GB" sz="1200" b="0" i="0" dirty="0">
                <a:solidFill>
                  <a:srgbClr val="000000"/>
                </a:solidFill>
                <a:effectLst/>
                <a:latin typeface="Poppins" panose="00000500000000000000" pitchFamily="2" charset="0"/>
                <a:cs typeface="Poppins" panose="00000500000000000000" pitchFamily="2" charset="0"/>
              </a:rPr>
              <a:t>’ and this defines everything we do. </a:t>
            </a:r>
          </a:p>
          <a:p>
            <a:pPr algn="l" rtl="0" fontAlgn="base"/>
            <a:r>
              <a:rPr lang="en-GB" sz="1200" b="0" i="0" dirty="0">
                <a:solidFill>
                  <a:srgbClr val="000000"/>
                </a:solidFill>
                <a:effectLst/>
                <a:latin typeface="Poppins" panose="00000500000000000000" pitchFamily="2" charset="0"/>
                <a:cs typeface="Poppins" panose="00000500000000000000" pitchFamily="2" charset="0"/>
              </a:rPr>
              <a:t>Our website at www.ncsc.gov.uk is full of information and guidance aimed at audiences from the general public to cyber security professionals. </a:t>
            </a:r>
          </a:p>
          <a:p>
            <a:endParaRPr lang="en-GB" dirty="0"/>
          </a:p>
        </p:txBody>
      </p:sp>
      <p:sp>
        <p:nvSpPr>
          <p:cNvPr id="4" name="Slide Number Placeholder 3"/>
          <p:cNvSpPr>
            <a:spLocks noGrp="1"/>
          </p:cNvSpPr>
          <p:nvPr>
            <p:ph type="sldNum" sz="quarter" idx="5"/>
          </p:nvPr>
        </p:nvSpPr>
        <p:spPr/>
        <p:txBody>
          <a:bodyPr/>
          <a:lstStyle/>
          <a:p>
            <a:fld id="{7F644FDF-E411-44D0-9482-7F7F6DB58F0D}" type="slidenum">
              <a:rPr lang="en-GB" smtClean="0"/>
              <a:t>2</a:t>
            </a:fld>
            <a:endParaRPr lang="en-GB"/>
          </a:p>
        </p:txBody>
      </p:sp>
    </p:spTree>
    <p:extLst>
      <p:ext uri="{BB962C8B-B14F-4D97-AF65-F5344CB8AC3E}">
        <p14:creationId xmlns:p14="http://schemas.microsoft.com/office/powerpoint/2010/main" val="4376520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r>
              <a:rPr lang="en-US" sz="1200" i="1" dirty="0">
                <a:effectLst/>
                <a:latin typeface="Poppins" panose="00000500000000000000" pitchFamily="2" charset="0"/>
                <a:ea typeface="Calibri" panose="020F0502020204030204" pitchFamily="34" charset="0"/>
                <a:cs typeface="Poppins" panose="00000500000000000000" pitchFamily="2" charset="0"/>
              </a:rPr>
              <a:t>(Note for presenters: if combining presentations, it is worth noting this slide is also included in slide deck 1).</a:t>
            </a:r>
            <a:endParaRPr lang="en-GB" dirty="0">
              <a:latin typeface="Poppins" panose="00000500000000000000" pitchFamily="2" charset="0"/>
              <a:cs typeface="Poppins" panose="00000500000000000000" pitchFamily="2" charset="0"/>
            </a:endParaRPr>
          </a:p>
          <a:p>
            <a:pPr>
              <a:lnSpc>
                <a:spcPct val="107000"/>
              </a:lnSpc>
              <a:spcAft>
                <a:spcPts val="800"/>
              </a:spcAft>
            </a:pPr>
            <a:endParaRPr lang="en-US" i="1" dirty="0">
              <a:solidFill>
                <a:srgbClr val="000000"/>
              </a:solidFill>
              <a:latin typeface="Poppins" panose="00000500000000000000" pitchFamily="2" charset="0"/>
              <a:cs typeface="Poppins" panose="00000500000000000000" pitchFamily="2" charset="0"/>
            </a:endParaRPr>
          </a:p>
          <a:p>
            <a:pPr algn="l" rtl="0" fontAlgn="base"/>
            <a:r>
              <a:rPr lang="en-GB" sz="1200" b="0" i="0" dirty="0">
                <a:solidFill>
                  <a:srgbClr val="000000"/>
                </a:solidFill>
                <a:effectLst/>
                <a:latin typeface="Poppins" panose="00000500000000000000" pitchFamily="2" charset="0"/>
                <a:cs typeface="Poppins" panose="00000500000000000000" pitchFamily="2" charset="0"/>
              </a:rPr>
              <a:t>We now look at why cyber security is a board level responsibility. </a:t>
            </a:r>
          </a:p>
          <a:p>
            <a:pPr algn="l" rtl="0" fontAlgn="base"/>
            <a:endParaRPr lang="en-GB" sz="1200" b="0" i="0" dirty="0">
              <a:solidFill>
                <a:srgbClr val="000000"/>
              </a:solidFill>
              <a:effectLst/>
              <a:latin typeface="Poppins" panose="00000500000000000000" pitchFamily="2" charset="0"/>
              <a:cs typeface="Poppins" panose="00000500000000000000" pitchFamily="2" charset="0"/>
            </a:endParaRPr>
          </a:p>
          <a:p>
            <a:pPr algn="l" rtl="0" fontAlgn="base"/>
            <a:r>
              <a:rPr lang="en-GB" sz="1200" b="0" i="0" dirty="0">
                <a:solidFill>
                  <a:srgbClr val="000000"/>
                </a:solidFill>
                <a:effectLst/>
                <a:latin typeface="Poppins" panose="00000500000000000000" pitchFamily="2" charset="0"/>
                <a:cs typeface="Poppins" panose="00000500000000000000" pitchFamily="2" charset="0"/>
              </a:rPr>
              <a:t>To put it plainly, if your organisation is connected to the internet then it is exposed to cyber risk.</a:t>
            </a:r>
            <a:r>
              <a:rPr lang="en-GB" b="0" i="0" dirty="0">
                <a:solidFill>
                  <a:srgbClr val="172B4D"/>
                </a:solidFill>
                <a:effectLst/>
                <a:latin typeface="Poppins" panose="00000500000000000000" pitchFamily="2" charset="0"/>
                <a:cs typeface="Poppins" panose="00000500000000000000" pitchFamily="2" charset="0"/>
              </a:rPr>
              <a:t> Critically for the Board, responsibility for incidents or data breaches sits with the organisation and not an individual.</a:t>
            </a:r>
            <a:endParaRPr lang="en-GB" b="0" i="0" dirty="0">
              <a:solidFill>
                <a:srgbClr val="000000"/>
              </a:solidFill>
              <a:effectLst/>
              <a:latin typeface="Poppins" panose="00000500000000000000" pitchFamily="2" charset="0"/>
              <a:cs typeface="Poppins" panose="00000500000000000000" pitchFamily="2" charset="0"/>
            </a:endParaRPr>
          </a:p>
          <a:p>
            <a:pPr algn="l" rtl="0" fontAlgn="base"/>
            <a:r>
              <a:rPr lang="en-GB" sz="1200" b="0" i="0" dirty="0">
                <a:solidFill>
                  <a:srgbClr val="000000"/>
                </a:solidFill>
                <a:effectLst/>
                <a:latin typeface="Poppins" panose="00000500000000000000" pitchFamily="2" charset="0"/>
                <a:cs typeface="Poppins" panose="00000500000000000000" pitchFamily="2" charset="0"/>
              </a:rPr>
              <a:t>This means that the board of directors, as the effective governing body of a company, has </a:t>
            </a:r>
            <a:r>
              <a:rPr lang="en-GB" sz="1200" b="0" i="1" dirty="0">
                <a:solidFill>
                  <a:srgbClr val="000000"/>
                </a:solidFill>
                <a:effectLst/>
                <a:latin typeface="Poppins" panose="00000500000000000000" pitchFamily="2" charset="0"/>
                <a:cs typeface="Poppins" panose="00000500000000000000" pitchFamily="2" charset="0"/>
              </a:rPr>
              <a:t>collective</a:t>
            </a:r>
            <a:r>
              <a:rPr lang="en-GB" sz="1200" b="0" i="0" dirty="0">
                <a:solidFill>
                  <a:srgbClr val="000000"/>
                </a:solidFill>
                <a:effectLst/>
                <a:latin typeface="Poppins" panose="00000500000000000000" pitchFamily="2" charset="0"/>
                <a:cs typeface="Poppins" panose="00000500000000000000" pitchFamily="2" charset="0"/>
              </a:rPr>
              <a:t> responsibility for cyber security. </a:t>
            </a:r>
            <a:endParaRPr lang="en-GB" b="0" i="0" dirty="0">
              <a:solidFill>
                <a:srgbClr val="000000"/>
              </a:solidFill>
              <a:effectLst/>
              <a:latin typeface="Poppins" panose="00000500000000000000" pitchFamily="2" charset="0"/>
              <a:cs typeface="Poppins" panose="00000500000000000000" pitchFamily="2" charset="0"/>
            </a:endParaRPr>
          </a:p>
          <a:p>
            <a:pPr algn="l" rtl="0" fontAlgn="base"/>
            <a:r>
              <a:rPr lang="en-GB" sz="1200" b="0" i="0" dirty="0">
                <a:solidFill>
                  <a:srgbClr val="000000"/>
                </a:solidFill>
                <a:effectLst/>
                <a:latin typeface="Poppins" panose="00000500000000000000" pitchFamily="2" charset="0"/>
                <a:cs typeface="Poppins" panose="00000500000000000000" pitchFamily="2" charset="0"/>
              </a:rPr>
              <a:t> Beyond that, there are three inter-related reasons that board members need to take cyber security seriously. </a:t>
            </a:r>
            <a:endParaRPr lang="en-GB" b="0" i="0" dirty="0">
              <a:solidFill>
                <a:srgbClr val="000000"/>
              </a:solidFill>
              <a:effectLst/>
              <a:latin typeface="Poppins" panose="00000500000000000000" pitchFamily="2" charset="0"/>
              <a:cs typeface="Poppins" panose="00000500000000000000" pitchFamily="2" charset="0"/>
            </a:endParaRPr>
          </a:p>
          <a:p>
            <a:pPr algn="l" rtl="0" fontAlgn="base"/>
            <a:r>
              <a:rPr lang="en-GB" sz="1200" b="0" i="0" dirty="0">
                <a:solidFill>
                  <a:srgbClr val="000000"/>
                </a:solidFill>
                <a:effectLst/>
                <a:latin typeface="Poppins" panose="00000500000000000000" pitchFamily="2" charset="0"/>
                <a:cs typeface="Poppins" panose="00000500000000000000" pitchFamily="2" charset="0"/>
              </a:rPr>
              <a:t> </a:t>
            </a:r>
            <a:endParaRPr lang="en-GB" b="0" i="0" dirty="0">
              <a:solidFill>
                <a:srgbClr val="000000"/>
              </a:solidFill>
              <a:effectLst/>
              <a:latin typeface="Poppins" panose="00000500000000000000" pitchFamily="2" charset="0"/>
              <a:cs typeface="Poppins" panose="00000500000000000000" pitchFamily="2" charset="0"/>
            </a:endParaRPr>
          </a:p>
          <a:p>
            <a:pPr algn="l" rtl="0" fontAlgn="base"/>
            <a:r>
              <a:rPr lang="en-GB" sz="1200" b="0" i="0" dirty="0">
                <a:solidFill>
                  <a:srgbClr val="000000"/>
                </a:solidFill>
                <a:effectLst/>
                <a:latin typeface="Poppins" panose="00000500000000000000" pitchFamily="2" charset="0"/>
                <a:cs typeface="Poppins" panose="00000500000000000000" pitchFamily="2" charset="0"/>
              </a:rPr>
              <a:t> </a:t>
            </a:r>
            <a:endParaRPr lang="en-GB" b="0" i="0" dirty="0">
              <a:solidFill>
                <a:srgbClr val="000000"/>
              </a:solidFill>
              <a:effectLst/>
              <a:latin typeface="Poppins" panose="00000500000000000000" pitchFamily="2" charset="0"/>
              <a:cs typeface="Poppins" panose="00000500000000000000" pitchFamily="2" charset="0"/>
            </a:endParaRPr>
          </a:p>
          <a:p>
            <a:pPr algn="l" rtl="0" fontAlgn="base"/>
            <a:r>
              <a:rPr lang="en-GB" sz="1200" b="1" i="0" dirty="0">
                <a:solidFill>
                  <a:srgbClr val="000000"/>
                </a:solidFill>
                <a:effectLst/>
                <a:latin typeface="Poppins" panose="00000500000000000000" pitchFamily="2" charset="0"/>
                <a:cs typeface="Poppins" panose="00000500000000000000" pitchFamily="2" charset="0"/>
              </a:rPr>
              <a:t>1. Nearly all organisations depend on digital technology to function.</a:t>
            </a:r>
            <a:r>
              <a:rPr lang="en-GB" sz="1200" b="0" i="0" dirty="0">
                <a:solidFill>
                  <a:srgbClr val="000000"/>
                </a:solidFill>
                <a:effectLst/>
                <a:latin typeface="Poppins" panose="00000500000000000000" pitchFamily="2" charset="0"/>
                <a:cs typeface="Poppins" panose="00000500000000000000" pitchFamily="2" charset="0"/>
              </a:rPr>
              <a:t> </a:t>
            </a:r>
            <a:endParaRPr lang="en-GB" b="0" i="0" dirty="0">
              <a:solidFill>
                <a:srgbClr val="000000"/>
              </a:solidFill>
              <a:effectLst/>
              <a:latin typeface="Poppins" panose="00000500000000000000" pitchFamily="2" charset="0"/>
              <a:cs typeface="Poppins" panose="00000500000000000000" pitchFamily="2" charset="0"/>
            </a:endParaRPr>
          </a:p>
          <a:p>
            <a:pPr algn="l" rtl="0" fontAlgn="base"/>
            <a:r>
              <a:rPr lang="en-GB" sz="1200" b="0" i="0" dirty="0">
                <a:solidFill>
                  <a:srgbClr val="000000"/>
                </a:solidFill>
                <a:effectLst/>
                <a:latin typeface="Poppins" panose="00000500000000000000" pitchFamily="2" charset="0"/>
                <a:cs typeface="Poppins" panose="00000500000000000000" pitchFamily="2" charset="0"/>
              </a:rPr>
              <a:t>It’s worth considering how well your organisation could operate if, for example, it lost access to all the data that's held electronically, or if computers and other networked devices simply couldn't connect to the internet.  </a:t>
            </a:r>
            <a:endParaRPr lang="en-GB" b="0" i="0" dirty="0">
              <a:solidFill>
                <a:srgbClr val="000000"/>
              </a:solidFill>
              <a:effectLst/>
              <a:latin typeface="Poppins" panose="00000500000000000000" pitchFamily="2" charset="0"/>
              <a:cs typeface="Poppins" panose="00000500000000000000" pitchFamily="2" charset="0"/>
            </a:endParaRPr>
          </a:p>
          <a:p>
            <a:pPr algn="l" rtl="0" fontAlgn="base"/>
            <a:r>
              <a:rPr lang="en-GB" sz="1200" b="0" i="0" dirty="0">
                <a:solidFill>
                  <a:srgbClr val="000000"/>
                </a:solidFill>
                <a:effectLst/>
                <a:latin typeface="Poppins" panose="00000500000000000000" pitchFamily="2" charset="0"/>
                <a:cs typeface="Poppins" panose="00000500000000000000" pitchFamily="2" charset="0"/>
              </a:rPr>
              <a:t> </a:t>
            </a:r>
            <a:endParaRPr lang="en-GB" b="0" i="0" dirty="0">
              <a:solidFill>
                <a:srgbClr val="000000"/>
              </a:solidFill>
              <a:effectLst/>
              <a:latin typeface="Poppins" panose="00000500000000000000" pitchFamily="2" charset="0"/>
              <a:cs typeface="Poppins" panose="00000500000000000000" pitchFamily="2" charset="0"/>
            </a:endParaRPr>
          </a:p>
          <a:p>
            <a:pPr algn="l" rtl="0" fontAlgn="base"/>
            <a:r>
              <a:rPr lang="en-GB" sz="1200" b="0" i="0" dirty="0">
                <a:solidFill>
                  <a:srgbClr val="000000"/>
                </a:solidFill>
                <a:effectLst/>
                <a:latin typeface="Poppins" panose="00000500000000000000" pitchFamily="2" charset="0"/>
                <a:cs typeface="Poppins" panose="00000500000000000000" pitchFamily="2" charset="0"/>
              </a:rPr>
              <a:t> </a:t>
            </a:r>
            <a:endParaRPr lang="en-GB" b="0" i="0" dirty="0">
              <a:solidFill>
                <a:srgbClr val="000000"/>
              </a:solidFill>
              <a:effectLst/>
              <a:latin typeface="Poppins" panose="00000500000000000000" pitchFamily="2" charset="0"/>
              <a:cs typeface="Poppins" panose="00000500000000000000" pitchFamily="2" charset="0"/>
            </a:endParaRPr>
          </a:p>
          <a:p>
            <a:pPr algn="l" rtl="0" fontAlgn="base"/>
            <a:r>
              <a:rPr lang="en-GB" sz="1200" b="1" i="0" dirty="0">
                <a:solidFill>
                  <a:srgbClr val="000000"/>
                </a:solidFill>
                <a:effectLst/>
                <a:latin typeface="Poppins" panose="00000500000000000000" pitchFamily="2" charset="0"/>
                <a:cs typeface="Poppins" panose="00000500000000000000" pitchFamily="2" charset="0"/>
              </a:rPr>
              <a:t>2. The potential cost of remedying a cyber incident </a:t>
            </a:r>
            <a:r>
              <a:rPr lang="en-GB" sz="1200" b="0" i="0" dirty="0">
                <a:solidFill>
                  <a:srgbClr val="000000"/>
                </a:solidFill>
                <a:effectLst/>
                <a:latin typeface="Poppins" panose="00000500000000000000" pitchFamily="2" charset="0"/>
                <a:cs typeface="Poppins" panose="00000500000000000000" pitchFamily="2" charset="0"/>
              </a:rPr>
              <a:t> </a:t>
            </a:r>
            <a:endParaRPr lang="en-GB" b="0" i="0" dirty="0">
              <a:solidFill>
                <a:srgbClr val="000000"/>
              </a:solidFill>
              <a:effectLst/>
              <a:latin typeface="Poppins" panose="00000500000000000000" pitchFamily="2" charset="0"/>
              <a:cs typeface="Poppins" panose="00000500000000000000" pitchFamily="2" charset="0"/>
            </a:endParaRPr>
          </a:p>
          <a:p>
            <a:pPr algn="l" rtl="0" fontAlgn="base"/>
            <a:r>
              <a:rPr lang="en-GB" sz="1200" b="0" i="0" dirty="0">
                <a:solidFill>
                  <a:srgbClr val="000000"/>
                </a:solidFill>
                <a:effectLst/>
                <a:latin typeface="Poppins" panose="00000500000000000000" pitchFamily="2" charset="0"/>
                <a:cs typeface="Poppins" panose="00000500000000000000" pitchFamily="2" charset="0"/>
              </a:rPr>
              <a:t>There are different facets to this. There is often a cost in terms of </a:t>
            </a:r>
            <a:r>
              <a:rPr lang="en-GB" sz="1200" b="0" i="1" dirty="0">
                <a:solidFill>
                  <a:srgbClr val="000000"/>
                </a:solidFill>
                <a:effectLst/>
                <a:latin typeface="Poppins" panose="00000500000000000000" pitchFamily="2" charset="0"/>
                <a:cs typeface="Poppins" panose="00000500000000000000" pitchFamily="2" charset="0"/>
              </a:rPr>
              <a:t>lost business </a:t>
            </a:r>
            <a:r>
              <a:rPr lang="en-GB" sz="1200" b="0" i="0" dirty="0">
                <a:solidFill>
                  <a:srgbClr val="000000"/>
                </a:solidFill>
                <a:effectLst/>
                <a:latin typeface="Poppins" panose="00000500000000000000" pitchFamily="2" charset="0"/>
                <a:cs typeface="Poppins" panose="00000500000000000000" pitchFamily="2" charset="0"/>
              </a:rPr>
              <a:t>but there’s also the financial impact of having to </a:t>
            </a:r>
            <a:r>
              <a:rPr lang="en-GB" sz="1200" b="0" i="1" dirty="0">
                <a:solidFill>
                  <a:srgbClr val="000000"/>
                </a:solidFill>
                <a:effectLst/>
                <a:latin typeface="Poppins" panose="00000500000000000000" pitchFamily="2" charset="0"/>
                <a:cs typeface="Poppins" panose="00000500000000000000" pitchFamily="2" charset="0"/>
              </a:rPr>
              <a:t>repair and clean up </a:t>
            </a:r>
            <a:r>
              <a:rPr lang="en-GB" sz="1200" b="0" i="0" dirty="0">
                <a:solidFill>
                  <a:srgbClr val="000000"/>
                </a:solidFill>
                <a:effectLst/>
                <a:latin typeface="Poppins" panose="00000500000000000000" pitchFamily="2" charset="0"/>
                <a:cs typeface="Poppins" panose="00000500000000000000" pitchFamily="2" charset="0"/>
              </a:rPr>
              <a:t>after a cyber incident. This cost varies significantly but in general, the larger the organisation, the larger the bill.  And as we’ve seen in the case of TalkTalk, if there has been a data breach then there’s also the risk of a significant fine from the ICO. </a:t>
            </a:r>
            <a:endParaRPr lang="en-GB" b="0" i="0" dirty="0">
              <a:solidFill>
                <a:srgbClr val="000000"/>
              </a:solidFill>
              <a:effectLst/>
              <a:latin typeface="Poppins" panose="00000500000000000000" pitchFamily="2" charset="0"/>
              <a:cs typeface="Poppins" panose="00000500000000000000" pitchFamily="2" charset="0"/>
            </a:endParaRPr>
          </a:p>
          <a:p>
            <a:pPr algn="l" rtl="0" fontAlgn="base"/>
            <a:r>
              <a:rPr lang="en-GB" sz="1200" b="0" i="0" dirty="0">
                <a:solidFill>
                  <a:srgbClr val="000000"/>
                </a:solidFill>
                <a:effectLst/>
                <a:latin typeface="Poppins" panose="00000500000000000000" pitchFamily="2" charset="0"/>
                <a:cs typeface="Poppins" panose="00000500000000000000" pitchFamily="2" charset="0"/>
              </a:rPr>
              <a:t> </a:t>
            </a:r>
            <a:endParaRPr lang="en-GB" b="0" i="0" dirty="0">
              <a:solidFill>
                <a:srgbClr val="000000"/>
              </a:solidFill>
              <a:effectLst/>
              <a:latin typeface="Poppins" panose="00000500000000000000" pitchFamily="2" charset="0"/>
              <a:cs typeface="Poppins" panose="00000500000000000000" pitchFamily="2" charset="0"/>
            </a:endParaRPr>
          </a:p>
          <a:p>
            <a:pPr algn="l" rtl="0" fontAlgn="base"/>
            <a:r>
              <a:rPr lang="en-GB" sz="1200" b="0" i="0" dirty="0">
                <a:solidFill>
                  <a:srgbClr val="000000"/>
                </a:solidFill>
                <a:effectLst/>
                <a:latin typeface="Poppins" panose="00000500000000000000" pitchFamily="2" charset="0"/>
                <a:cs typeface="Poppins" panose="00000500000000000000" pitchFamily="2" charset="0"/>
              </a:rPr>
              <a:t> </a:t>
            </a:r>
            <a:endParaRPr lang="en-GB" b="0" i="0" dirty="0">
              <a:solidFill>
                <a:srgbClr val="000000"/>
              </a:solidFill>
              <a:effectLst/>
              <a:latin typeface="Poppins" panose="00000500000000000000" pitchFamily="2" charset="0"/>
              <a:cs typeface="Poppins" panose="00000500000000000000" pitchFamily="2" charset="0"/>
            </a:endParaRPr>
          </a:p>
          <a:p>
            <a:pPr algn="l" rtl="0" fontAlgn="base"/>
            <a:r>
              <a:rPr lang="en-GB" sz="1200" b="1" i="0" dirty="0">
                <a:solidFill>
                  <a:srgbClr val="000000"/>
                </a:solidFill>
                <a:effectLst/>
                <a:latin typeface="Poppins" panose="00000500000000000000" pitchFamily="2" charset="0"/>
                <a:cs typeface="Poppins" panose="00000500000000000000" pitchFamily="2" charset="0"/>
              </a:rPr>
              <a:t>3. The risk of reputational damage</a:t>
            </a:r>
            <a:r>
              <a:rPr lang="en-GB" sz="1200" b="0" i="0" dirty="0">
                <a:solidFill>
                  <a:srgbClr val="000000"/>
                </a:solidFill>
                <a:effectLst/>
                <a:latin typeface="Poppins" panose="00000500000000000000" pitchFamily="2" charset="0"/>
                <a:cs typeface="Poppins" panose="00000500000000000000" pitchFamily="2" charset="0"/>
              </a:rPr>
              <a:t> </a:t>
            </a:r>
            <a:endParaRPr lang="en-GB" b="0" i="0" dirty="0">
              <a:solidFill>
                <a:srgbClr val="000000"/>
              </a:solidFill>
              <a:effectLst/>
              <a:latin typeface="Poppins" panose="00000500000000000000" pitchFamily="2" charset="0"/>
              <a:cs typeface="Poppins" panose="00000500000000000000" pitchFamily="2" charset="0"/>
            </a:endParaRPr>
          </a:p>
          <a:p>
            <a:pPr algn="l" rtl="0" fontAlgn="base"/>
            <a:r>
              <a:rPr lang="en-GB" sz="1200" b="0" i="0" dirty="0">
                <a:solidFill>
                  <a:srgbClr val="000000"/>
                </a:solidFill>
                <a:effectLst/>
                <a:latin typeface="Poppins" panose="00000500000000000000" pitchFamily="2" charset="0"/>
                <a:cs typeface="Poppins" panose="00000500000000000000" pitchFamily="2" charset="0"/>
              </a:rPr>
              <a:t>It’s worth asking a few questions here such as:  </a:t>
            </a:r>
            <a:endParaRPr lang="en-GB" b="0" i="0" dirty="0">
              <a:solidFill>
                <a:srgbClr val="000000"/>
              </a:solidFill>
              <a:effectLst/>
              <a:latin typeface="Poppins" panose="00000500000000000000" pitchFamily="2" charset="0"/>
              <a:cs typeface="Poppins" panose="00000500000000000000" pitchFamily="2" charset="0"/>
            </a:endParaRPr>
          </a:p>
          <a:p>
            <a:pPr marL="628650" lvl="1" indent="-171450" algn="l" rtl="0" fontAlgn="base">
              <a:buFont typeface="Arial" panose="020B0604020202020204" pitchFamily="34" charset="0"/>
              <a:buChar char="•"/>
            </a:pPr>
            <a:r>
              <a:rPr lang="en-GB" sz="1200" b="0" i="0" dirty="0">
                <a:solidFill>
                  <a:srgbClr val="000000"/>
                </a:solidFill>
                <a:effectLst/>
                <a:latin typeface="Poppins" panose="00000500000000000000" pitchFamily="2" charset="0"/>
                <a:cs typeface="Poppins" panose="00000500000000000000" pitchFamily="2" charset="0"/>
              </a:rPr>
              <a:t>Would customers would still use you if your services had been offline for a significant period of time?</a:t>
            </a:r>
          </a:p>
          <a:p>
            <a:pPr marL="628650" lvl="1" indent="-171450" algn="l" rtl="0" fontAlgn="base">
              <a:buFont typeface="Arial" panose="020B0604020202020204" pitchFamily="34" charset="0"/>
              <a:buChar char="•"/>
            </a:pPr>
            <a:r>
              <a:rPr lang="en-GB" sz="1200" b="0" i="0" dirty="0">
                <a:solidFill>
                  <a:srgbClr val="000000"/>
                </a:solidFill>
                <a:effectLst/>
                <a:latin typeface="Poppins" panose="00000500000000000000" pitchFamily="2" charset="0"/>
                <a:cs typeface="Poppins" panose="00000500000000000000" pitchFamily="2" charset="0"/>
              </a:rPr>
              <a:t>Would they continue to choose you over your competitors if you had had a well-publicised data breach?  </a:t>
            </a:r>
          </a:p>
          <a:p>
            <a:pPr marL="628650" lvl="1" indent="-171450" algn="l" rtl="0" fontAlgn="base">
              <a:buFont typeface="Arial" panose="020B0604020202020204" pitchFamily="34" charset="0"/>
              <a:buChar char="•"/>
            </a:pPr>
            <a:r>
              <a:rPr lang="en-GB" sz="1200" b="0" i="0" dirty="0">
                <a:solidFill>
                  <a:srgbClr val="000000"/>
                </a:solidFill>
                <a:effectLst/>
                <a:latin typeface="Poppins" panose="00000500000000000000" pitchFamily="2" charset="0"/>
                <a:cs typeface="Poppins" panose="00000500000000000000" pitchFamily="2" charset="0"/>
              </a:rPr>
              <a:t>Would a major incident affect relationships with those in your supply chain?</a:t>
            </a:r>
          </a:p>
          <a:p>
            <a:pPr algn="l" rtl="0" fontAlgn="base"/>
            <a:r>
              <a:rPr lang="en-GB" sz="1200" b="0" i="0" dirty="0">
                <a:solidFill>
                  <a:srgbClr val="000000"/>
                </a:solidFill>
                <a:effectLst/>
                <a:latin typeface="Poppins" panose="00000500000000000000" pitchFamily="2" charset="0"/>
                <a:cs typeface="Poppins" panose="00000500000000000000" pitchFamily="2" charset="0"/>
              </a:rPr>
              <a:t> </a:t>
            </a:r>
            <a:endParaRPr lang="en-GB" b="0" i="0" dirty="0">
              <a:solidFill>
                <a:srgbClr val="000000"/>
              </a:solidFill>
              <a:effectLst/>
              <a:latin typeface="Poppins" panose="00000500000000000000" pitchFamily="2" charset="0"/>
              <a:cs typeface="Poppins" panose="00000500000000000000" pitchFamily="2" charset="0"/>
            </a:endParaRPr>
          </a:p>
          <a:p>
            <a:pPr algn="l" rtl="0" fontAlgn="base"/>
            <a:endParaRPr lang="en-GB" b="0" i="0" dirty="0">
              <a:solidFill>
                <a:srgbClr val="000000"/>
              </a:solidFill>
              <a:effectLst/>
              <a:latin typeface="Poppins" panose="00000500000000000000" pitchFamily="2" charset="0"/>
              <a:cs typeface="Poppins" panose="00000500000000000000" pitchFamily="2" charset="0"/>
            </a:endParaRPr>
          </a:p>
          <a:p>
            <a:pPr algn="l" rtl="0" fontAlgn="base"/>
            <a:r>
              <a:rPr lang="en-GB" sz="1200" b="0" i="0" dirty="0">
                <a:solidFill>
                  <a:srgbClr val="000000"/>
                </a:solidFill>
                <a:effectLst/>
                <a:latin typeface="Poppins" panose="00000500000000000000" pitchFamily="2" charset="0"/>
                <a:cs typeface="Poppins" panose="00000500000000000000" pitchFamily="2" charset="0"/>
              </a:rPr>
              <a:t>Taken together it’s clear that </a:t>
            </a:r>
            <a:r>
              <a:rPr lang="en-GB" sz="1200" b="1" i="0" dirty="0">
                <a:solidFill>
                  <a:srgbClr val="000000"/>
                </a:solidFill>
                <a:effectLst/>
                <a:latin typeface="Poppins" panose="00000500000000000000" pitchFamily="2" charset="0"/>
                <a:cs typeface="Poppins" panose="00000500000000000000" pitchFamily="2" charset="0"/>
              </a:rPr>
              <a:t>c</a:t>
            </a:r>
            <a:r>
              <a:rPr lang="en-GB" sz="1200" i="0" dirty="0">
                <a:solidFill>
                  <a:srgbClr val="000000"/>
                </a:solidFill>
                <a:effectLst/>
                <a:latin typeface="Poppins" panose="00000500000000000000" pitchFamily="2" charset="0"/>
                <a:cs typeface="Poppins" panose="00000500000000000000" pitchFamily="2" charset="0"/>
              </a:rPr>
              <a:t>yber security is </a:t>
            </a:r>
            <a:r>
              <a:rPr lang="en-GB" sz="1200" i="1" dirty="0">
                <a:solidFill>
                  <a:srgbClr val="000000"/>
                </a:solidFill>
                <a:effectLst/>
                <a:latin typeface="Poppins" panose="00000500000000000000" pitchFamily="2" charset="0"/>
                <a:cs typeface="Poppins" panose="00000500000000000000" pitchFamily="2" charset="0"/>
              </a:rPr>
              <a:t>essential </a:t>
            </a:r>
            <a:r>
              <a:rPr lang="en-GB" sz="1200" i="0" dirty="0">
                <a:solidFill>
                  <a:srgbClr val="000000"/>
                </a:solidFill>
                <a:effectLst/>
                <a:latin typeface="Poppins" panose="00000500000000000000" pitchFamily="2" charset="0"/>
                <a:cs typeface="Poppins" panose="00000500000000000000" pitchFamily="2" charset="0"/>
              </a:rPr>
              <a:t>and needs to be understood as an </a:t>
            </a:r>
            <a:r>
              <a:rPr lang="en-GB" sz="1200" i="1" dirty="0">
                <a:solidFill>
                  <a:srgbClr val="000000"/>
                </a:solidFill>
                <a:effectLst/>
                <a:latin typeface="Poppins" panose="00000500000000000000" pitchFamily="2" charset="0"/>
                <a:cs typeface="Poppins" panose="00000500000000000000" pitchFamily="2" charset="0"/>
              </a:rPr>
              <a:t>enabler </a:t>
            </a:r>
            <a:r>
              <a:rPr lang="en-GB" sz="1200" b="0" i="0" dirty="0">
                <a:solidFill>
                  <a:srgbClr val="000000"/>
                </a:solidFill>
                <a:effectLst/>
                <a:latin typeface="Poppins" panose="00000500000000000000" pitchFamily="2" charset="0"/>
                <a:cs typeface="Poppins" panose="00000500000000000000" pitchFamily="2" charset="0"/>
              </a:rPr>
              <a:t>as it enables</a:t>
            </a:r>
            <a:r>
              <a:rPr lang="en-GB" sz="1200" b="0" i="1" dirty="0">
                <a:solidFill>
                  <a:srgbClr val="000000"/>
                </a:solidFill>
                <a:effectLst/>
                <a:latin typeface="Poppins" panose="00000500000000000000" pitchFamily="2" charset="0"/>
                <a:cs typeface="Poppins" panose="00000500000000000000" pitchFamily="2" charset="0"/>
              </a:rPr>
              <a:t> </a:t>
            </a:r>
            <a:r>
              <a:rPr lang="en-GB" sz="1200" b="0" i="0" dirty="0">
                <a:solidFill>
                  <a:srgbClr val="000000"/>
                </a:solidFill>
                <a:effectLst/>
                <a:latin typeface="Poppins" panose="00000500000000000000" pitchFamily="2" charset="0"/>
                <a:cs typeface="Poppins" panose="00000500000000000000" pitchFamily="2" charset="0"/>
              </a:rPr>
              <a:t>organisations to function. </a:t>
            </a:r>
            <a:endParaRPr lang="en-GB" b="0" i="0" dirty="0">
              <a:solidFill>
                <a:srgbClr val="000000"/>
              </a:solidFill>
              <a:effectLst/>
              <a:latin typeface="Poppins" panose="00000500000000000000" pitchFamily="2" charset="0"/>
              <a:cs typeface="Poppins" panose="00000500000000000000" pitchFamily="2" charset="0"/>
            </a:endParaRPr>
          </a:p>
          <a:p>
            <a:pPr algn="l" rtl="0" fontAlgn="base"/>
            <a:r>
              <a:rPr lang="en-GB" sz="1200" b="0" i="0" dirty="0">
                <a:solidFill>
                  <a:srgbClr val="000000"/>
                </a:solidFill>
                <a:effectLst/>
                <a:latin typeface="Poppins" panose="00000500000000000000" pitchFamily="2" charset="0"/>
                <a:cs typeface="Poppins" panose="00000500000000000000" pitchFamily="2" charset="0"/>
              </a:rPr>
              <a:t> </a:t>
            </a:r>
            <a:endParaRPr lang="en-GB" b="0" i="0" dirty="0">
              <a:solidFill>
                <a:srgbClr val="000000"/>
              </a:solidFill>
              <a:effectLst/>
              <a:latin typeface="Poppins" panose="00000500000000000000" pitchFamily="2" charset="0"/>
              <a:cs typeface="Poppins" panose="00000500000000000000" pitchFamily="2" charset="0"/>
            </a:endParaRPr>
          </a:p>
          <a:p>
            <a:pPr algn="l" rtl="0" fontAlgn="base"/>
            <a:r>
              <a:rPr lang="en-GB" sz="1200" b="0" i="0" dirty="0">
                <a:solidFill>
                  <a:srgbClr val="000000"/>
                </a:solidFill>
                <a:effectLst/>
                <a:latin typeface="Poppins" panose="00000500000000000000" pitchFamily="2" charset="0"/>
                <a:cs typeface="Poppins" panose="00000500000000000000" pitchFamily="2" charset="0"/>
              </a:rPr>
              <a:t>In other words, cyber security: </a:t>
            </a:r>
            <a:endParaRPr lang="en-GB" b="0" i="0" dirty="0">
              <a:solidFill>
                <a:srgbClr val="000000"/>
              </a:solidFill>
              <a:effectLst/>
              <a:latin typeface="Poppins" panose="00000500000000000000" pitchFamily="2" charset="0"/>
              <a:cs typeface="Poppins" panose="00000500000000000000" pitchFamily="2" charset="0"/>
            </a:endParaRPr>
          </a:p>
          <a:p>
            <a:pPr marL="742950" lvl="1" indent="-285750" algn="l" rtl="0" fontAlgn="base">
              <a:buFont typeface="Arial" panose="020B0604020202020204" pitchFamily="34" charset="0"/>
              <a:buChar char="•"/>
            </a:pPr>
            <a:r>
              <a:rPr lang="en-GB" sz="1200" b="0" i="0" dirty="0">
                <a:solidFill>
                  <a:srgbClr val="000000"/>
                </a:solidFill>
                <a:effectLst/>
                <a:latin typeface="Poppins" panose="00000500000000000000" pitchFamily="2" charset="0"/>
                <a:cs typeface="Poppins" panose="00000500000000000000" pitchFamily="2" charset="0"/>
              </a:rPr>
              <a:t>isn’t something that can be considered ‘just an IT issue’ </a:t>
            </a:r>
          </a:p>
          <a:p>
            <a:pPr marL="742950" lvl="1" indent="-285750" algn="l" rtl="0" fontAlgn="base">
              <a:buFont typeface="Arial" panose="020B0604020202020204" pitchFamily="34" charset="0"/>
              <a:buChar char="•"/>
            </a:pPr>
            <a:r>
              <a:rPr lang="en-GB" sz="1200" b="0" i="0" dirty="0">
                <a:solidFill>
                  <a:srgbClr val="000000"/>
                </a:solidFill>
                <a:effectLst/>
                <a:latin typeface="Poppins" panose="00000500000000000000" pitchFamily="2" charset="0"/>
                <a:cs typeface="Poppins" panose="00000500000000000000" pitchFamily="2" charset="0"/>
              </a:rPr>
              <a:t>It’s not a ‘nice-to-have’, perhaps something that can be indefinitely parked</a:t>
            </a:r>
          </a:p>
          <a:p>
            <a:pPr marL="742950" lvl="1" indent="-285750" algn="l" rtl="0" fontAlgn="base">
              <a:buFont typeface="Arial" panose="020B0604020202020204" pitchFamily="34" charset="0"/>
              <a:buChar char="•"/>
            </a:pPr>
            <a:r>
              <a:rPr lang="en-GB" sz="1200" b="0" i="0" dirty="0">
                <a:solidFill>
                  <a:srgbClr val="000000"/>
                </a:solidFill>
                <a:effectLst/>
                <a:latin typeface="Poppins" panose="00000500000000000000" pitchFamily="2" charset="0"/>
                <a:cs typeface="Poppins" panose="00000500000000000000" pitchFamily="2" charset="0"/>
              </a:rPr>
              <a:t>Isn’t something that any one board member can assume is being looked at by someone else</a:t>
            </a:r>
          </a:p>
          <a:p>
            <a:endParaRPr lang="en-GB" dirty="0"/>
          </a:p>
        </p:txBody>
      </p:sp>
      <p:sp>
        <p:nvSpPr>
          <p:cNvPr id="4" name="Slide Number Placeholder 3"/>
          <p:cNvSpPr>
            <a:spLocks noGrp="1"/>
          </p:cNvSpPr>
          <p:nvPr>
            <p:ph type="sldNum" sz="quarter" idx="5"/>
          </p:nvPr>
        </p:nvSpPr>
        <p:spPr/>
        <p:txBody>
          <a:bodyPr/>
          <a:lstStyle/>
          <a:p>
            <a:fld id="{7F644FDF-E411-44D0-9482-7F7F6DB58F0D}" type="slidenum">
              <a:rPr lang="en-GB" smtClean="0"/>
              <a:t>3</a:t>
            </a:fld>
            <a:endParaRPr lang="en-GB"/>
          </a:p>
        </p:txBody>
      </p:sp>
    </p:spTree>
    <p:extLst>
      <p:ext uri="{BB962C8B-B14F-4D97-AF65-F5344CB8AC3E}">
        <p14:creationId xmlns:p14="http://schemas.microsoft.com/office/powerpoint/2010/main" val="1428767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07000"/>
              </a:lnSpc>
              <a:spcAft>
                <a:spcPts val="800"/>
              </a:spcAft>
              <a:buFont typeface="Arial" panose="020B0604020202020204" pitchFamily="34" charset="0"/>
              <a:buNone/>
            </a:pPr>
            <a:r>
              <a:rPr lang="en-GB" sz="1100" dirty="0">
                <a:effectLst/>
                <a:latin typeface="Poppins" panose="00000500000000000000" pitchFamily="2" charset="0"/>
                <a:ea typeface="Calibri" panose="020F0502020204030204" pitchFamily="34" charset="0"/>
                <a:cs typeface="Poppins" panose="00000500000000000000" pitchFamily="2" charset="0"/>
              </a:rPr>
              <a:t>The background to us creating this resource is that board members told us that whilst they had the skills and knowledge to ask second- and third- level questions on issues such as finance and risk, they didn’t always feel qualified to discuss cyber security. Perhaps they weren’t quite sure what they should be asking or what sort of answers they should be expecting to their questions and so this is what we have sought to address.</a:t>
            </a:r>
          </a:p>
          <a:p>
            <a:pPr marL="0" indent="0">
              <a:lnSpc>
                <a:spcPct val="107000"/>
              </a:lnSpc>
              <a:spcAft>
                <a:spcPts val="800"/>
              </a:spcAft>
              <a:buFont typeface="Arial" panose="020B0604020202020204" pitchFamily="34" charset="0"/>
              <a:buNone/>
            </a:pPr>
            <a:r>
              <a:rPr lang="en-GB" sz="1100" dirty="0">
                <a:effectLst/>
                <a:latin typeface="Poppins" panose="00000500000000000000" pitchFamily="2" charset="0"/>
                <a:ea typeface="Calibri" panose="020F0502020204030204" pitchFamily="34" charset="0"/>
                <a:cs typeface="Poppins" panose="00000500000000000000" pitchFamily="2" charset="0"/>
              </a:rPr>
              <a:t> </a:t>
            </a:r>
          </a:p>
          <a:p>
            <a:pPr marL="628650" lvl="1" indent="-171450">
              <a:lnSpc>
                <a:spcPct val="107000"/>
              </a:lnSpc>
              <a:spcAft>
                <a:spcPts val="800"/>
              </a:spcAft>
              <a:buFont typeface="Arial" panose="020B0604020202020204" pitchFamily="34" charset="0"/>
              <a:buChar char="•"/>
              <a:tabLst>
                <a:tab pos="457200" algn="l"/>
              </a:tabLst>
            </a:pPr>
            <a:r>
              <a:rPr lang="en-GB" sz="1100" dirty="0">
                <a:effectLst/>
                <a:latin typeface="Poppins" panose="00000500000000000000" pitchFamily="2" charset="0"/>
                <a:ea typeface="Calibri" panose="020F0502020204030204" pitchFamily="34" charset="0"/>
                <a:cs typeface="Poppins" panose="00000500000000000000" pitchFamily="2" charset="0"/>
              </a:rPr>
              <a:t>The toolkit can be seen as </a:t>
            </a:r>
            <a:r>
              <a:rPr lang="en-GB" sz="1100" b="1" dirty="0">
                <a:effectLst/>
                <a:latin typeface="Poppins" panose="00000500000000000000" pitchFamily="2" charset="0"/>
                <a:ea typeface="Calibri" panose="020F0502020204030204" pitchFamily="34" charset="0"/>
                <a:cs typeface="Poppins" panose="00000500000000000000" pitchFamily="2" charset="0"/>
              </a:rPr>
              <a:t>guidance to support board members get up to speed on a topic they might not be familiar with. </a:t>
            </a:r>
            <a:r>
              <a:rPr lang="en-GB" sz="1100" dirty="0">
                <a:effectLst/>
                <a:latin typeface="Poppins" panose="00000500000000000000" pitchFamily="2" charset="0"/>
                <a:ea typeface="Calibri" panose="020F0502020204030204" pitchFamily="34" charset="0"/>
                <a:cs typeface="Poppins" panose="00000500000000000000" pitchFamily="2" charset="0"/>
              </a:rPr>
              <a:t>It’s effectively a quality assured reference library for you to dip in and out of. It introduces key cyber security topics and explains why these are important to every organisation.</a:t>
            </a:r>
          </a:p>
          <a:p>
            <a:pPr marL="457200" lvl="1" indent="0">
              <a:lnSpc>
                <a:spcPct val="107000"/>
              </a:lnSpc>
              <a:spcAft>
                <a:spcPts val="800"/>
              </a:spcAft>
              <a:buFont typeface="Arial" panose="020B0604020202020204" pitchFamily="34" charset="0"/>
              <a:buNone/>
            </a:pPr>
            <a:r>
              <a:rPr lang="en-GB" sz="1100" dirty="0">
                <a:effectLst/>
                <a:latin typeface="Poppins" panose="00000500000000000000" pitchFamily="2" charset="0"/>
                <a:ea typeface="Calibri" panose="020F0502020204030204" pitchFamily="34" charset="0"/>
                <a:cs typeface="Poppins" panose="00000500000000000000" pitchFamily="2" charset="0"/>
              </a:rPr>
              <a:t> </a:t>
            </a:r>
          </a:p>
          <a:p>
            <a:pPr marL="628650" lvl="1" indent="-171450">
              <a:lnSpc>
                <a:spcPct val="107000"/>
              </a:lnSpc>
              <a:spcAft>
                <a:spcPts val="800"/>
              </a:spcAft>
              <a:buFont typeface="Arial" panose="020B0604020202020204" pitchFamily="34" charset="0"/>
              <a:buChar char="•"/>
            </a:pPr>
            <a:r>
              <a:rPr lang="en-GB" sz="1100" dirty="0">
                <a:effectLst/>
                <a:latin typeface="Poppins" panose="00000500000000000000" pitchFamily="2" charset="0"/>
                <a:ea typeface="Calibri" panose="020F0502020204030204" pitchFamily="34" charset="0"/>
                <a:cs typeface="Poppins" panose="00000500000000000000" pitchFamily="2" charset="0"/>
              </a:rPr>
              <a:t>The toolkit was originally conceived to meet </a:t>
            </a:r>
            <a:r>
              <a:rPr lang="en-GB" sz="1100" b="1" dirty="0">
                <a:effectLst/>
                <a:latin typeface="Poppins" panose="00000500000000000000" pitchFamily="2" charset="0"/>
                <a:ea typeface="Calibri" panose="020F0502020204030204" pitchFamily="34" charset="0"/>
                <a:cs typeface="Poppins" panose="00000500000000000000" pitchFamily="2" charset="0"/>
              </a:rPr>
              <a:t>a need identified from large corporate organisations</a:t>
            </a:r>
            <a:r>
              <a:rPr lang="en-GB" sz="1100" dirty="0">
                <a:effectLst/>
                <a:latin typeface="Poppins" panose="00000500000000000000" pitchFamily="2" charset="0"/>
                <a:ea typeface="Calibri" panose="020F0502020204030204" pitchFamily="34" charset="0"/>
                <a:cs typeface="Poppins" panose="00000500000000000000" pitchFamily="2" charset="0"/>
              </a:rPr>
              <a:t> such as FTSE 350 companies, but we soon realised that the key </a:t>
            </a:r>
            <a:r>
              <a:rPr lang="en-GB" sz="1100" b="1" dirty="0">
                <a:effectLst/>
                <a:latin typeface="Poppins" panose="00000500000000000000" pitchFamily="2" charset="0"/>
                <a:ea typeface="Calibri" panose="020F0502020204030204" pitchFamily="34" charset="0"/>
                <a:cs typeface="Poppins" panose="00000500000000000000" pitchFamily="2" charset="0"/>
              </a:rPr>
              <a:t>messages are pertinent to boards of all shapes and sizes</a:t>
            </a:r>
            <a:r>
              <a:rPr lang="en-GB" sz="1100" dirty="0">
                <a:effectLst/>
                <a:latin typeface="Poppins" panose="00000500000000000000" pitchFamily="2" charset="0"/>
                <a:ea typeface="Calibri" panose="020F0502020204030204" pitchFamily="34" charset="0"/>
                <a:cs typeface="Poppins" panose="00000500000000000000" pitchFamily="2" charset="0"/>
              </a:rPr>
              <a:t> such as charity trustees, perhaps, or school boards of governors. </a:t>
            </a:r>
          </a:p>
          <a:p>
            <a:pPr marL="457200" lvl="1" indent="0">
              <a:lnSpc>
                <a:spcPct val="107000"/>
              </a:lnSpc>
              <a:spcAft>
                <a:spcPts val="800"/>
              </a:spcAft>
              <a:buFont typeface="Arial" panose="020B0604020202020204" pitchFamily="34" charset="0"/>
              <a:buNone/>
            </a:pPr>
            <a:r>
              <a:rPr lang="en-GB" sz="1100" dirty="0">
                <a:effectLst/>
                <a:latin typeface="Poppins" panose="00000500000000000000" pitchFamily="2" charset="0"/>
                <a:ea typeface="Calibri" panose="020F0502020204030204" pitchFamily="34" charset="0"/>
                <a:cs typeface="Poppins" panose="00000500000000000000" pitchFamily="2" charset="0"/>
              </a:rPr>
              <a:t> </a:t>
            </a:r>
          </a:p>
          <a:p>
            <a:pPr marL="628650" lvl="1" indent="-171450">
              <a:lnSpc>
                <a:spcPct val="107000"/>
              </a:lnSpc>
              <a:spcAft>
                <a:spcPts val="800"/>
              </a:spcAft>
              <a:buFont typeface="Arial" panose="020B0604020202020204" pitchFamily="34" charset="0"/>
              <a:buChar char="•"/>
            </a:pPr>
            <a:r>
              <a:rPr lang="en-GB" sz="1100" dirty="0">
                <a:effectLst/>
                <a:latin typeface="Poppins" panose="00000500000000000000" pitchFamily="2" charset="0"/>
                <a:ea typeface="Calibri" panose="020F0502020204030204" pitchFamily="34" charset="0"/>
                <a:cs typeface="Poppins" panose="00000500000000000000" pitchFamily="2" charset="0"/>
              </a:rPr>
              <a:t>Board members had also told us that they are quite often overwhelmed with paperwork and would prefer to </a:t>
            </a:r>
            <a:r>
              <a:rPr lang="en-GB" sz="1100" b="1" dirty="0">
                <a:effectLst/>
                <a:latin typeface="Poppins" panose="00000500000000000000" pitchFamily="2" charset="0"/>
                <a:ea typeface="Calibri" panose="020F0502020204030204" pitchFamily="34" charset="0"/>
                <a:cs typeface="Poppins" panose="00000500000000000000" pitchFamily="2" charset="0"/>
              </a:rPr>
              <a:t>access a resource like this</a:t>
            </a:r>
            <a:r>
              <a:rPr lang="en-GB" sz="1100" dirty="0">
                <a:effectLst/>
                <a:latin typeface="Poppins" panose="00000500000000000000" pitchFamily="2" charset="0"/>
                <a:ea typeface="Calibri" panose="020F0502020204030204" pitchFamily="34" charset="0"/>
                <a:cs typeface="Poppins" panose="00000500000000000000" pitchFamily="2" charset="0"/>
              </a:rPr>
              <a:t> </a:t>
            </a:r>
            <a:r>
              <a:rPr lang="en-GB" sz="1100" b="1" dirty="0">
                <a:effectLst/>
                <a:latin typeface="Poppins" panose="00000500000000000000" pitchFamily="2" charset="0"/>
                <a:ea typeface="Calibri" panose="020F0502020204030204" pitchFamily="34" charset="0"/>
                <a:cs typeface="Poppins" panose="00000500000000000000" pitchFamily="2" charset="0"/>
              </a:rPr>
              <a:t>online</a:t>
            </a:r>
            <a:r>
              <a:rPr lang="en-GB" sz="1100" dirty="0">
                <a:effectLst/>
                <a:latin typeface="Poppins" panose="00000500000000000000" pitchFamily="2" charset="0"/>
                <a:ea typeface="Calibri" panose="020F0502020204030204" pitchFamily="34" charset="0"/>
                <a:cs typeface="Poppins" panose="00000500000000000000" pitchFamily="2" charset="0"/>
              </a:rPr>
              <a:t> so that’s what we’ve produced. This also means that we can easily edit it and add to the toolkit over time. Some people like a hard copy to work through so there is a pdf of the toolkit </a:t>
            </a:r>
            <a:r>
              <a:rPr lang="en-GB" sz="1100" u="none" dirty="0">
                <a:effectLst/>
                <a:latin typeface="Poppins" panose="00000500000000000000" pitchFamily="2" charset="0"/>
                <a:ea typeface="Calibri" panose="020F0502020204030204" pitchFamily="34" charset="0"/>
                <a:cs typeface="Poppins" panose="00000500000000000000" pitchFamily="2" charset="0"/>
              </a:rPr>
              <a:t>to download </a:t>
            </a:r>
            <a:r>
              <a:rPr lang="en-GB" sz="1100" dirty="0">
                <a:effectLst/>
                <a:latin typeface="Poppins" panose="00000500000000000000" pitchFamily="2" charset="0"/>
                <a:ea typeface="Calibri" panose="020F0502020204030204" pitchFamily="34" charset="0"/>
                <a:cs typeface="Poppins" panose="00000500000000000000" pitchFamily="2" charset="0"/>
              </a:rPr>
              <a:t>from the website if you’d prefer.</a:t>
            </a:r>
          </a:p>
          <a:p>
            <a:endParaRPr lang="en-GB" dirty="0"/>
          </a:p>
        </p:txBody>
      </p:sp>
      <p:sp>
        <p:nvSpPr>
          <p:cNvPr id="4" name="Slide Number Placeholder 3"/>
          <p:cNvSpPr>
            <a:spLocks noGrp="1"/>
          </p:cNvSpPr>
          <p:nvPr>
            <p:ph type="sldNum" sz="quarter" idx="5"/>
          </p:nvPr>
        </p:nvSpPr>
        <p:spPr/>
        <p:txBody>
          <a:bodyPr/>
          <a:lstStyle/>
          <a:p>
            <a:fld id="{7F644FDF-E411-44D0-9482-7F7F6DB58F0D}" type="slidenum">
              <a:rPr lang="en-GB" smtClean="0"/>
              <a:t>4</a:t>
            </a:fld>
            <a:endParaRPr lang="en-GB"/>
          </a:p>
        </p:txBody>
      </p:sp>
    </p:spTree>
    <p:extLst>
      <p:ext uri="{BB962C8B-B14F-4D97-AF65-F5344CB8AC3E}">
        <p14:creationId xmlns:p14="http://schemas.microsoft.com/office/powerpoint/2010/main" val="31597704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3250" y="381000"/>
            <a:ext cx="5486400" cy="3086100"/>
          </a:xfrm>
        </p:spPr>
      </p:sp>
      <p:sp>
        <p:nvSpPr>
          <p:cNvPr id="3" name="Notes Placeholder 2"/>
          <p:cNvSpPr>
            <a:spLocks noGrp="1"/>
          </p:cNvSpPr>
          <p:nvPr>
            <p:ph type="body" idx="1"/>
          </p:nvPr>
        </p:nvSpPr>
        <p:spPr>
          <a:xfrm>
            <a:off x="603250" y="3766657"/>
            <a:ext cx="5568949" cy="5259897"/>
          </a:xfrm>
        </p:spPr>
        <p:txBody>
          <a:bodyPr/>
          <a:lstStyle/>
          <a:p>
            <a:pPr>
              <a:lnSpc>
                <a:spcPct val="107000"/>
              </a:lnSpc>
              <a:spcAft>
                <a:spcPts val="800"/>
              </a:spcAft>
            </a:pPr>
            <a:r>
              <a:rPr lang="en-GB" dirty="0">
                <a:effectLst/>
                <a:latin typeface="Poppins" panose="00000500000000000000" pitchFamily="2" charset="0"/>
                <a:ea typeface="Calibri" panose="020F0502020204030204" pitchFamily="34" charset="0"/>
                <a:cs typeface="Poppins" panose="00000500000000000000" pitchFamily="2" charset="0"/>
              </a:rPr>
              <a:t>There are three main aims of the toolkit</a:t>
            </a:r>
            <a:r>
              <a:rPr lang="en-GB" dirty="0">
                <a:latin typeface="Poppins" panose="00000500000000000000" pitchFamily="2" charset="0"/>
                <a:ea typeface="Calibri" panose="020F0502020204030204" pitchFamily="34" charset="0"/>
                <a:cs typeface="Poppins" panose="00000500000000000000" pitchFamily="2" charset="0"/>
              </a:rPr>
              <a:t>:</a:t>
            </a:r>
            <a:r>
              <a:rPr lang="en-GB" dirty="0">
                <a:effectLst/>
                <a:latin typeface="Poppins" panose="00000500000000000000" pitchFamily="2" charset="0"/>
                <a:ea typeface="Calibri" panose="020F0502020204030204" pitchFamily="34" charset="0"/>
                <a:cs typeface="Poppins" panose="00000500000000000000" pitchFamily="2" charset="0"/>
              </a:rPr>
              <a:t> </a:t>
            </a:r>
          </a:p>
          <a:p>
            <a:pPr marL="0" lvl="0" indent="0">
              <a:lnSpc>
                <a:spcPct val="107000"/>
              </a:lnSpc>
              <a:spcAft>
                <a:spcPts val="800"/>
              </a:spcAft>
              <a:buFont typeface="Symbol" panose="05050102010706020507" pitchFamily="18" charset="2"/>
              <a:buNone/>
              <a:tabLst>
                <a:tab pos="457200" algn="l"/>
              </a:tabLst>
            </a:pPr>
            <a:r>
              <a:rPr lang="en-GB" b="1" dirty="0">
                <a:effectLst/>
                <a:latin typeface="Poppins" panose="00000500000000000000" pitchFamily="2" charset="0"/>
                <a:ea typeface="Calibri" panose="020F0502020204030204" pitchFamily="34" charset="0"/>
                <a:cs typeface="Poppins" panose="00000500000000000000" pitchFamily="2" charset="0"/>
              </a:rPr>
              <a:t>1. Enabling board members to get ‘just a little bit technical’.</a:t>
            </a:r>
          </a:p>
          <a:p>
            <a:pPr marL="0" lvl="0" indent="0">
              <a:lnSpc>
                <a:spcPct val="107000"/>
              </a:lnSpc>
              <a:spcAft>
                <a:spcPts val="800"/>
              </a:spcAft>
              <a:buFont typeface="Symbol" panose="05050102010706020507" pitchFamily="18" charset="2"/>
              <a:buNone/>
              <a:tabLst>
                <a:tab pos="457200" algn="l"/>
              </a:tabLst>
            </a:pPr>
            <a:r>
              <a:rPr lang="en-GB" dirty="0">
                <a:effectLst/>
                <a:latin typeface="Poppins" panose="00000500000000000000" pitchFamily="2" charset="0"/>
                <a:ea typeface="Calibri" panose="020F0502020204030204" pitchFamily="34" charset="0"/>
                <a:cs typeface="Poppins" panose="00000500000000000000" pitchFamily="2" charset="0"/>
              </a:rPr>
              <a:t>We recognise that few board members are cyber security experts so the toolkit is written in a way that enables them to learn about key issues as they go. We’re not asking anyone to become a technical specialist but to learn enough to be able to have fluent conversations with those who are. </a:t>
            </a:r>
            <a:r>
              <a:rPr lang="en-GB" b="1" dirty="0">
                <a:effectLst/>
                <a:latin typeface="Poppins" panose="00000500000000000000" pitchFamily="2" charset="0"/>
                <a:ea typeface="Calibri" panose="020F0502020204030204" pitchFamily="34" charset="0"/>
                <a:cs typeface="Poppins" panose="00000500000000000000" pitchFamily="2" charset="0"/>
              </a:rPr>
              <a:t> </a:t>
            </a:r>
          </a:p>
          <a:p>
            <a:pPr marL="0" lvl="0" indent="0">
              <a:lnSpc>
                <a:spcPct val="107000"/>
              </a:lnSpc>
              <a:spcAft>
                <a:spcPts val="800"/>
              </a:spcAft>
              <a:buFont typeface="Symbol" panose="05050102010706020507" pitchFamily="18" charset="2"/>
              <a:buNone/>
              <a:tabLst>
                <a:tab pos="457200" algn="l"/>
              </a:tabLst>
            </a:pPr>
            <a:endParaRPr lang="en-GB" b="0" dirty="0">
              <a:effectLst/>
              <a:latin typeface="Poppins" panose="00000500000000000000" pitchFamily="2" charset="0"/>
              <a:ea typeface="Calibri" panose="020F0502020204030204" pitchFamily="34" charset="0"/>
              <a:cs typeface="Poppins" panose="00000500000000000000" pitchFamily="2" charset="0"/>
            </a:endParaRPr>
          </a:p>
          <a:p>
            <a:pPr>
              <a:lnSpc>
                <a:spcPct val="107000"/>
              </a:lnSpc>
              <a:spcAft>
                <a:spcPts val="800"/>
              </a:spcAft>
            </a:pPr>
            <a:r>
              <a:rPr lang="en-GB" b="1" dirty="0">
                <a:effectLst/>
                <a:latin typeface="Poppins" panose="00000500000000000000" pitchFamily="2" charset="0"/>
                <a:ea typeface="Calibri" panose="020F0502020204030204" pitchFamily="34" charset="0"/>
                <a:cs typeface="Poppins" panose="00000500000000000000" pitchFamily="2" charset="0"/>
              </a:rPr>
              <a:t>2. Supporting board members in asking the right questions to gain assurance on cyber security.</a:t>
            </a:r>
          </a:p>
          <a:p>
            <a:pPr>
              <a:lnSpc>
                <a:spcPct val="107000"/>
              </a:lnSpc>
              <a:spcAft>
                <a:spcPts val="800"/>
              </a:spcAft>
            </a:pPr>
            <a:r>
              <a:rPr lang="en-GB" dirty="0">
                <a:effectLst/>
                <a:latin typeface="Poppins" panose="00000500000000000000" pitchFamily="2" charset="0"/>
                <a:ea typeface="Calibri" panose="020F0502020204030204" pitchFamily="34" charset="0"/>
                <a:cs typeface="Poppins" panose="00000500000000000000" pitchFamily="2" charset="0"/>
              </a:rPr>
              <a:t>We understand that board members’ role is a strategic one and so they need to be confident that the organisation has a high-level and integrated approach to cyber security and that this is being enacted.  The toolkit therefore focuses on how board members can seek assurance on and, where relevant, how they can drive change. We do this through the provision of questions they might want to ask, and suggestions of the answers they might hear. </a:t>
            </a:r>
          </a:p>
          <a:p>
            <a:pPr>
              <a:lnSpc>
                <a:spcPct val="107000"/>
              </a:lnSpc>
              <a:spcAft>
                <a:spcPts val="800"/>
              </a:spcAft>
            </a:pPr>
            <a:endParaRPr lang="en-GB" dirty="0">
              <a:effectLst/>
              <a:latin typeface="Poppins" panose="00000500000000000000" pitchFamily="2" charset="0"/>
              <a:ea typeface="Calibri" panose="020F0502020204030204" pitchFamily="34" charset="0"/>
              <a:cs typeface="Poppins" panose="00000500000000000000" pitchFamily="2" charset="0"/>
            </a:endParaRPr>
          </a:p>
          <a:p>
            <a:pPr marL="0" lvl="0" indent="0">
              <a:lnSpc>
                <a:spcPct val="107000"/>
              </a:lnSpc>
              <a:spcAft>
                <a:spcPts val="800"/>
              </a:spcAft>
              <a:buFont typeface="Symbol" panose="05050102010706020507" pitchFamily="18" charset="2"/>
              <a:buNone/>
              <a:tabLst>
                <a:tab pos="457200" algn="l"/>
              </a:tabLst>
            </a:pPr>
            <a:r>
              <a:rPr lang="en-GB" b="1" dirty="0">
                <a:effectLst/>
                <a:latin typeface="Poppins" panose="00000500000000000000" pitchFamily="2" charset="0"/>
                <a:ea typeface="Calibri" panose="020F0502020204030204" pitchFamily="34" charset="0"/>
                <a:cs typeface="Poppins" panose="00000500000000000000" pitchFamily="2" charset="0"/>
              </a:rPr>
              <a:t>3. Encouraging crucial conversations to take place between the board and its key staff</a:t>
            </a:r>
          </a:p>
          <a:p>
            <a:pPr marL="0" lvl="0" indent="0">
              <a:lnSpc>
                <a:spcPct val="107000"/>
              </a:lnSpc>
              <a:spcAft>
                <a:spcPts val="800"/>
              </a:spcAft>
              <a:buFont typeface="Symbol" panose="05050102010706020507" pitchFamily="18" charset="2"/>
              <a:buNone/>
              <a:tabLst>
                <a:tab pos="457200" algn="l"/>
              </a:tabLst>
            </a:pPr>
            <a:r>
              <a:rPr lang="en-GB" dirty="0">
                <a:effectLst/>
                <a:latin typeface="Poppins" panose="00000500000000000000" pitchFamily="2" charset="0"/>
                <a:ea typeface="Calibri" panose="020F0502020204030204" pitchFamily="34" charset="0"/>
                <a:cs typeface="Poppins" panose="00000500000000000000" pitchFamily="2" charset="0"/>
              </a:rPr>
              <a:t>We know that the best way to improve cyber security in </a:t>
            </a:r>
            <a:r>
              <a:rPr lang="en-GB" i="1" dirty="0">
                <a:effectLst/>
                <a:latin typeface="Poppins" panose="00000500000000000000" pitchFamily="2" charset="0"/>
                <a:ea typeface="Calibri" panose="020F0502020204030204" pitchFamily="34" charset="0"/>
                <a:cs typeface="Poppins" panose="00000500000000000000" pitchFamily="2" charset="0"/>
              </a:rPr>
              <a:t>any</a:t>
            </a:r>
            <a:r>
              <a:rPr lang="en-GB" dirty="0">
                <a:effectLst/>
                <a:latin typeface="Poppins" panose="00000500000000000000" pitchFamily="2" charset="0"/>
                <a:ea typeface="Calibri" panose="020F0502020204030204" pitchFamily="34" charset="0"/>
                <a:cs typeface="Poppins" panose="00000500000000000000" pitchFamily="2" charset="0"/>
              </a:rPr>
              <a:t> organisation is to talk about it, and the toolkit gives board members a framework for these conversations.</a:t>
            </a:r>
          </a:p>
          <a:p>
            <a:pPr marL="0" lvl="0" indent="0">
              <a:lnSpc>
                <a:spcPct val="107000"/>
              </a:lnSpc>
              <a:spcAft>
                <a:spcPts val="800"/>
              </a:spcAft>
              <a:buFont typeface="Symbol" panose="05050102010706020507" pitchFamily="18" charset="2"/>
              <a:buNone/>
              <a:tabLst>
                <a:tab pos="457200" algn="l"/>
              </a:tabLst>
            </a:pPr>
            <a:r>
              <a:rPr lang="en-GB" dirty="0">
                <a:effectLst/>
                <a:latin typeface="Poppins" panose="00000500000000000000" pitchFamily="2" charset="0"/>
                <a:ea typeface="Calibri" panose="020F0502020204030204" pitchFamily="34" charset="0"/>
                <a:cs typeface="Poppins" panose="00000500000000000000" pitchFamily="2" charset="0"/>
              </a:rPr>
              <a:t> </a:t>
            </a:r>
          </a:p>
          <a:p>
            <a:endParaRPr lang="en-GB" dirty="0"/>
          </a:p>
        </p:txBody>
      </p:sp>
      <p:sp>
        <p:nvSpPr>
          <p:cNvPr id="4" name="Slide Number Placeholder 3"/>
          <p:cNvSpPr>
            <a:spLocks noGrp="1"/>
          </p:cNvSpPr>
          <p:nvPr>
            <p:ph type="sldNum" sz="quarter" idx="5"/>
          </p:nvPr>
        </p:nvSpPr>
        <p:spPr/>
        <p:txBody>
          <a:bodyPr/>
          <a:lstStyle/>
          <a:p>
            <a:fld id="{7F644FDF-E411-44D0-9482-7F7F6DB58F0D}" type="slidenum">
              <a:rPr lang="en-GB" smtClean="0"/>
              <a:t>5</a:t>
            </a:fld>
            <a:endParaRPr lang="en-GB"/>
          </a:p>
        </p:txBody>
      </p:sp>
    </p:spTree>
    <p:extLst>
      <p:ext uri="{BB962C8B-B14F-4D97-AF65-F5344CB8AC3E}">
        <p14:creationId xmlns:p14="http://schemas.microsoft.com/office/powerpoint/2010/main" val="11110573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354013"/>
            <a:ext cx="5486400" cy="3086100"/>
          </a:xfrm>
        </p:spPr>
      </p:sp>
      <p:sp>
        <p:nvSpPr>
          <p:cNvPr id="3" name="Notes Placeholder 2"/>
          <p:cNvSpPr>
            <a:spLocks noGrp="1"/>
          </p:cNvSpPr>
          <p:nvPr>
            <p:ph type="body" idx="1"/>
          </p:nvPr>
        </p:nvSpPr>
        <p:spPr>
          <a:xfrm>
            <a:off x="618688" y="3598877"/>
            <a:ext cx="5486400" cy="5419288"/>
          </a:xfrm>
        </p:spPr>
        <p:txBody>
          <a:bodyPr/>
          <a:lstStyle/>
          <a:p>
            <a:pPr>
              <a:lnSpc>
                <a:spcPct val="107000"/>
              </a:lnSpc>
              <a:spcAft>
                <a:spcPts val="800"/>
              </a:spcAft>
            </a:pPr>
            <a:r>
              <a:rPr lang="en-GB" dirty="0">
                <a:effectLst/>
                <a:latin typeface="Poppins" panose="00000500000000000000" pitchFamily="2" charset="0"/>
                <a:ea typeface="Calibri" panose="020F0502020204030204" pitchFamily="34" charset="0"/>
                <a:cs typeface="Poppins" panose="00000500000000000000" pitchFamily="2" charset="0"/>
              </a:rPr>
              <a:t>It’s also important to clarify what the toolkit </a:t>
            </a:r>
            <a:r>
              <a:rPr lang="en-GB" i="1" dirty="0">
                <a:effectLst/>
                <a:latin typeface="Poppins" panose="00000500000000000000" pitchFamily="2" charset="0"/>
                <a:ea typeface="Calibri" panose="020F0502020204030204" pitchFamily="34" charset="0"/>
                <a:cs typeface="Poppins" panose="00000500000000000000" pitchFamily="2" charset="0"/>
              </a:rPr>
              <a:t>isn’t</a:t>
            </a:r>
            <a:r>
              <a:rPr lang="en-GB" dirty="0">
                <a:effectLst/>
                <a:latin typeface="Poppins" panose="00000500000000000000" pitchFamily="2" charset="0"/>
                <a:ea typeface="Calibri" panose="020F0502020204030204" pitchFamily="34" charset="0"/>
                <a:cs typeface="Poppins" panose="00000500000000000000" pitchFamily="2" charset="0"/>
              </a:rPr>
              <a:t> and </a:t>
            </a:r>
            <a:r>
              <a:rPr lang="en-GB" i="0" dirty="0">
                <a:effectLst/>
                <a:latin typeface="Poppins" panose="00000500000000000000" pitchFamily="2" charset="0"/>
                <a:ea typeface="Calibri" panose="020F0502020204030204" pitchFamily="34" charset="0"/>
                <a:cs typeface="Poppins" panose="00000500000000000000" pitchFamily="2" charset="0"/>
              </a:rPr>
              <a:t>why</a:t>
            </a:r>
            <a:r>
              <a:rPr lang="en-GB" dirty="0">
                <a:effectLst/>
                <a:latin typeface="Poppins" panose="00000500000000000000" pitchFamily="2" charset="0"/>
                <a:ea typeface="Calibri" panose="020F0502020204030204" pitchFamily="34" charset="0"/>
                <a:cs typeface="Poppins" panose="00000500000000000000" pitchFamily="2" charset="0"/>
              </a:rPr>
              <a:t> that’s the case. </a:t>
            </a:r>
          </a:p>
          <a:p>
            <a:pPr>
              <a:lnSpc>
                <a:spcPct val="107000"/>
              </a:lnSpc>
              <a:spcAft>
                <a:spcPts val="800"/>
              </a:spcAft>
            </a:pPr>
            <a:endParaRPr lang="en-GB" dirty="0">
              <a:effectLst/>
              <a:latin typeface="Poppins" panose="00000500000000000000" pitchFamily="2" charset="0"/>
              <a:ea typeface="Calibri" panose="020F0502020204030204" pitchFamily="34" charset="0"/>
              <a:cs typeface="Poppins" panose="00000500000000000000" pitchFamily="2" charset="0"/>
            </a:endParaRPr>
          </a:p>
          <a:p>
            <a:pPr marL="800100" lvl="1" indent="-342900">
              <a:lnSpc>
                <a:spcPct val="107000"/>
              </a:lnSpc>
              <a:spcAft>
                <a:spcPts val="800"/>
              </a:spcAft>
              <a:buFont typeface="Arial" panose="020B0604020202020204" pitchFamily="34" charset="0"/>
              <a:buChar char="•"/>
              <a:tabLst>
                <a:tab pos="457200" algn="l"/>
              </a:tabLst>
            </a:pPr>
            <a:r>
              <a:rPr lang="en-GB" dirty="0">
                <a:effectLst/>
                <a:latin typeface="Poppins" panose="00000500000000000000" pitchFamily="2" charset="0"/>
                <a:ea typeface="Calibri" panose="020F0502020204030204" pitchFamily="34" charset="0"/>
                <a:cs typeface="Poppins" panose="00000500000000000000" pitchFamily="2" charset="0"/>
              </a:rPr>
              <a:t>First, the toolkit isn’t a ‘quick fix’ or a </a:t>
            </a:r>
            <a:r>
              <a:rPr lang="en-GB" b="1" dirty="0">
                <a:effectLst/>
                <a:latin typeface="Poppins" panose="00000500000000000000" pitchFamily="2" charset="0"/>
                <a:ea typeface="Calibri" panose="020F0502020204030204" pitchFamily="34" charset="0"/>
                <a:cs typeface="Poppins" panose="00000500000000000000" pitchFamily="2" charset="0"/>
              </a:rPr>
              <a:t>‘how to do cyber security</a:t>
            </a:r>
            <a:r>
              <a:rPr lang="en-GB" dirty="0">
                <a:effectLst/>
                <a:latin typeface="Poppins" panose="00000500000000000000" pitchFamily="2" charset="0"/>
                <a:ea typeface="Calibri" panose="020F0502020204030204" pitchFamily="34" charset="0"/>
                <a:cs typeface="Poppins" panose="00000500000000000000" pitchFamily="2" charset="0"/>
              </a:rPr>
              <a:t>’ guide. </a:t>
            </a:r>
          </a:p>
          <a:p>
            <a:pPr marL="800100" lvl="1" indent="-342900">
              <a:lnSpc>
                <a:spcPct val="107000"/>
              </a:lnSpc>
              <a:spcAft>
                <a:spcPts val="800"/>
              </a:spcAft>
              <a:buFont typeface="Arial" panose="020B0604020202020204" pitchFamily="34" charset="0"/>
              <a:buChar char="•"/>
              <a:tabLst>
                <a:tab pos="457200" algn="l"/>
              </a:tabLst>
            </a:pPr>
            <a:r>
              <a:rPr lang="en-GB" dirty="0">
                <a:effectLst/>
                <a:latin typeface="Poppins" panose="00000500000000000000" pitchFamily="2" charset="0"/>
                <a:ea typeface="Calibri" panose="020F0502020204030204" pitchFamily="34" charset="0"/>
                <a:cs typeface="Poppins" panose="00000500000000000000" pitchFamily="2" charset="0"/>
              </a:rPr>
              <a:t>We haven’t provided you with a </a:t>
            </a:r>
            <a:r>
              <a:rPr lang="en-GB" b="1" dirty="0">
                <a:effectLst/>
                <a:latin typeface="Poppins" panose="00000500000000000000" pitchFamily="2" charset="0"/>
                <a:ea typeface="Calibri" panose="020F0502020204030204" pitchFamily="34" charset="0"/>
                <a:cs typeface="Poppins" panose="00000500000000000000" pitchFamily="2" charset="0"/>
              </a:rPr>
              <a:t>checklist</a:t>
            </a:r>
            <a:r>
              <a:rPr lang="en-GB" dirty="0">
                <a:effectLst/>
                <a:latin typeface="Poppins" panose="00000500000000000000" pitchFamily="2" charset="0"/>
                <a:ea typeface="Calibri" panose="020F0502020204030204" pitchFamily="34" charset="0"/>
                <a:cs typeface="Poppins" panose="00000500000000000000" pitchFamily="2" charset="0"/>
              </a:rPr>
              <a:t> of actions to complete.</a:t>
            </a:r>
          </a:p>
          <a:p>
            <a:pPr marL="800100" lvl="1" indent="-342900">
              <a:lnSpc>
                <a:spcPct val="107000"/>
              </a:lnSpc>
              <a:spcAft>
                <a:spcPts val="800"/>
              </a:spcAft>
              <a:buFont typeface="Arial" panose="020B0604020202020204" pitchFamily="34" charset="0"/>
              <a:buChar char="•"/>
              <a:tabLst>
                <a:tab pos="457200" algn="l"/>
              </a:tabLst>
            </a:pPr>
            <a:r>
              <a:rPr lang="en-GB" dirty="0">
                <a:effectLst/>
                <a:latin typeface="Poppins" panose="00000500000000000000" pitchFamily="2" charset="0"/>
                <a:ea typeface="Calibri" panose="020F0502020204030204" pitchFamily="34" charset="0"/>
                <a:cs typeface="Poppins" panose="00000500000000000000" pitchFamily="2" charset="0"/>
              </a:rPr>
              <a:t>Nor is the toolkit a </a:t>
            </a:r>
            <a:r>
              <a:rPr lang="en-GB" b="1" dirty="0">
                <a:effectLst/>
                <a:latin typeface="Poppins" panose="00000500000000000000" pitchFamily="2" charset="0"/>
                <a:ea typeface="Calibri" panose="020F0502020204030204" pitchFamily="34" charset="0"/>
                <a:cs typeface="Poppins" panose="00000500000000000000" pitchFamily="2" charset="0"/>
              </a:rPr>
              <a:t>manual</a:t>
            </a:r>
            <a:r>
              <a:rPr lang="en-GB" dirty="0">
                <a:effectLst/>
                <a:latin typeface="Poppins" panose="00000500000000000000" pitchFamily="2" charset="0"/>
                <a:ea typeface="Calibri" panose="020F0502020204030204" pitchFamily="34" charset="0"/>
                <a:cs typeface="Poppins" panose="00000500000000000000" pitchFamily="2" charset="0"/>
              </a:rPr>
              <a:t> that an organisation can work through and then consider the topic dealt with. </a:t>
            </a:r>
          </a:p>
          <a:p>
            <a:pPr marL="0" lvl="0" indent="0">
              <a:lnSpc>
                <a:spcPct val="107000"/>
              </a:lnSpc>
              <a:spcAft>
                <a:spcPts val="800"/>
              </a:spcAft>
              <a:buFont typeface="Arial" panose="020B0604020202020204" pitchFamily="34" charset="0"/>
              <a:buNone/>
              <a:tabLst>
                <a:tab pos="457200" algn="l"/>
              </a:tabLst>
            </a:pPr>
            <a:r>
              <a:rPr lang="en-GB" dirty="0">
                <a:effectLst/>
                <a:latin typeface="Poppins" panose="00000500000000000000" pitchFamily="2" charset="0"/>
                <a:ea typeface="Calibri" panose="020F0502020204030204" pitchFamily="34" charset="0"/>
                <a:cs typeface="Poppins" panose="00000500000000000000" pitchFamily="2" charset="0"/>
              </a:rPr>
              <a:t> </a:t>
            </a:r>
          </a:p>
          <a:p>
            <a:pPr>
              <a:lnSpc>
                <a:spcPct val="107000"/>
              </a:lnSpc>
              <a:spcAft>
                <a:spcPts val="800"/>
              </a:spcAft>
            </a:pPr>
            <a:r>
              <a:rPr lang="en-GB" dirty="0">
                <a:effectLst/>
                <a:latin typeface="Poppins" panose="00000500000000000000" pitchFamily="2" charset="0"/>
                <a:ea typeface="Calibri" panose="020F0502020204030204" pitchFamily="34" charset="0"/>
                <a:cs typeface="Poppins" panose="00000500000000000000" pitchFamily="2" charset="0"/>
              </a:rPr>
              <a:t>There are several reasons why this is the case but largely it’s because what ‘good’ cyber security looks like will be different for every organisation. It will depend on the nature of their business, the sector they are operating in, the organisation’s size, and how dependent they are on networked services and data. Crucially, it will </a:t>
            </a:r>
            <a:r>
              <a:rPr lang="en-GB" i="1" dirty="0">
                <a:effectLst/>
                <a:latin typeface="Poppins" panose="00000500000000000000" pitchFamily="2" charset="0"/>
                <a:ea typeface="Calibri" panose="020F0502020204030204" pitchFamily="34" charset="0"/>
                <a:cs typeface="Poppins" panose="00000500000000000000" pitchFamily="2" charset="0"/>
              </a:rPr>
              <a:t>also</a:t>
            </a:r>
            <a:r>
              <a:rPr lang="en-GB" dirty="0">
                <a:effectLst/>
                <a:latin typeface="Poppins" panose="00000500000000000000" pitchFamily="2" charset="0"/>
                <a:ea typeface="Calibri" panose="020F0502020204030204" pitchFamily="34" charset="0"/>
                <a:cs typeface="Poppins" panose="00000500000000000000" pitchFamily="2" charset="0"/>
              </a:rPr>
              <a:t> depend on that organisation’s risk appetite, something that has to be discussed and decided upon by the board. </a:t>
            </a:r>
          </a:p>
          <a:p>
            <a:pPr>
              <a:lnSpc>
                <a:spcPct val="107000"/>
              </a:lnSpc>
              <a:spcAft>
                <a:spcPts val="800"/>
              </a:spcAft>
            </a:pPr>
            <a:endParaRPr lang="en-GB" dirty="0">
              <a:effectLst/>
              <a:latin typeface="Poppins" panose="00000500000000000000" pitchFamily="2" charset="0"/>
              <a:ea typeface="Calibri" panose="020F0502020204030204" pitchFamily="34" charset="0"/>
              <a:cs typeface="Poppins" panose="00000500000000000000" pitchFamily="2" charset="0"/>
            </a:endParaRPr>
          </a:p>
          <a:p>
            <a:pPr>
              <a:lnSpc>
                <a:spcPct val="107000"/>
              </a:lnSpc>
              <a:spcAft>
                <a:spcPts val="800"/>
              </a:spcAft>
            </a:pPr>
            <a:r>
              <a:rPr lang="en-GB" dirty="0">
                <a:effectLst/>
                <a:latin typeface="Poppins" panose="00000500000000000000" pitchFamily="2" charset="0"/>
                <a:ea typeface="Calibri" panose="020F0502020204030204" pitchFamily="34" charset="0"/>
                <a:cs typeface="Poppins" panose="00000500000000000000" pitchFamily="2" charset="0"/>
              </a:rPr>
              <a:t>Also important is that  cyber security, like with any aspect of risk management, is an iterative and continual process.  Any organisation needs to regularly review how the threat they face is changing and assess the effectiveness of the current measures they already have in place.  </a:t>
            </a:r>
          </a:p>
          <a:p>
            <a:pPr>
              <a:lnSpc>
                <a:spcPct val="107000"/>
              </a:lnSpc>
              <a:spcAft>
                <a:spcPts val="800"/>
              </a:spcAft>
            </a:pPr>
            <a:endParaRPr lang="en-GB" dirty="0">
              <a:effectLst/>
              <a:latin typeface="Poppins" panose="00000500000000000000" pitchFamily="2" charset="0"/>
              <a:ea typeface="Calibri" panose="020F0502020204030204" pitchFamily="34" charset="0"/>
              <a:cs typeface="Poppins" panose="00000500000000000000" pitchFamily="2" charset="0"/>
            </a:endParaRPr>
          </a:p>
          <a:p>
            <a:pPr>
              <a:lnSpc>
                <a:spcPct val="107000"/>
              </a:lnSpc>
              <a:spcAft>
                <a:spcPts val="800"/>
              </a:spcAft>
            </a:pPr>
            <a:r>
              <a:rPr lang="en-GB" dirty="0">
                <a:effectLst/>
                <a:latin typeface="Poppins" panose="00000500000000000000" pitchFamily="2" charset="0"/>
                <a:ea typeface="Calibri" panose="020F0502020204030204" pitchFamily="34" charset="0"/>
                <a:cs typeface="Poppins" panose="00000500000000000000" pitchFamily="2" charset="0"/>
              </a:rPr>
              <a:t>The key message is therefore that when it comes to cyber security, there is no ‘one size fits all’. Boards need to manage the risks of cyber security in a way that works for them and for their business. This approach also extends to making a decision about which sections of the toolkit to prioritise and which may be less pressing.</a:t>
            </a:r>
          </a:p>
          <a:p>
            <a:endParaRPr lang="en-GB" dirty="0"/>
          </a:p>
        </p:txBody>
      </p:sp>
      <p:sp>
        <p:nvSpPr>
          <p:cNvPr id="4" name="Slide Number Placeholder 3"/>
          <p:cNvSpPr>
            <a:spLocks noGrp="1"/>
          </p:cNvSpPr>
          <p:nvPr>
            <p:ph type="sldNum" sz="quarter" idx="5"/>
          </p:nvPr>
        </p:nvSpPr>
        <p:spPr/>
        <p:txBody>
          <a:bodyPr/>
          <a:lstStyle/>
          <a:p>
            <a:fld id="{7F644FDF-E411-44D0-9482-7F7F6DB58F0D}" type="slidenum">
              <a:rPr lang="en-GB" smtClean="0"/>
              <a:t>6</a:t>
            </a:fld>
            <a:endParaRPr lang="en-GB"/>
          </a:p>
        </p:txBody>
      </p:sp>
    </p:spTree>
    <p:extLst>
      <p:ext uri="{BB962C8B-B14F-4D97-AF65-F5344CB8AC3E}">
        <p14:creationId xmlns:p14="http://schemas.microsoft.com/office/powerpoint/2010/main" val="2448444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r>
              <a:rPr lang="en-GB" dirty="0">
                <a:solidFill>
                  <a:srgbClr val="000000"/>
                </a:solidFill>
                <a:effectLst/>
                <a:latin typeface="Poppins" panose="00000500000000000000" pitchFamily="2" charset="0"/>
                <a:ea typeface="Calibri" panose="020F0502020204030204" pitchFamily="34" charset="0"/>
                <a:cs typeface="Poppins" panose="00000500000000000000" pitchFamily="2" charset="0"/>
              </a:rPr>
              <a:t>We now look at how the toolkit is structured.</a:t>
            </a:r>
          </a:p>
          <a:p>
            <a:pPr>
              <a:lnSpc>
                <a:spcPct val="107000"/>
              </a:lnSpc>
              <a:spcAft>
                <a:spcPts val="800"/>
              </a:spcAft>
            </a:pPr>
            <a:endParaRPr lang="en-GB" dirty="0">
              <a:effectLst/>
              <a:latin typeface="Poppins" panose="00000500000000000000" pitchFamily="2" charset="0"/>
              <a:ea typeface="Calibri" panose="020F0502020204030204" pitchFamily="34" charset="0"/>
              <a:cs typeface="Poppins" panose="00000500000000000000" pitchFamily="2" charset="0"/>
            </a:endParaRPr>
          </a:p>
          <a:p>
            <a:pPr marL="342900" lvl="0" indent="-342900">
              <a:lnSpc>
                <a:spcPct val="107000"/>
              </a:lnSpc>
              <a:spcAft>
                <a:spcPts val="800"/>
              </a:spcAft>
              <a:buFont typeface="+mj-lt"/>
              <a:buAutoNum type="arabicPeriod"/>
            </a:pPr>
            <a:r>
              <a:rPr lang="en-GB" b="1" dirty="0">
                <a:solidFill>
                  <a:srgbClr val="000000"/>
                </a:solidFill>
                <a:effectLst/>
                <a:latin typeface="Poppins" panose="00000500000000000000" pitchFamily="2" charset="0"/>
                <a:ea typeface="Calibri" panose="020F0502020204030204" pitchFamily="34" charset="0"/>
                <a:cs typeface="Poppins" panose="00000500000000000000" pitchFamily="2" charset="0"/>
              </a:rPr>
              <a:t>Introduction to cyber security.</a:t>
            </a:r>
            <a:endParaRPr lang="en-GB" dirty="0">
              <a:effectLst/>
              <a:latin typeface="Poppins" panose="00000500000000000000" pitchFamily="2" charset="0"/>
              <a:ea typeface="Calibri" panose="020F0502020204030204" pitchFamily="34" charset="0"/>
              <a:cs typeface="Poppins" panose="00000500000000000000" pitchFamily="2" charset="0"/>
            </a:endParaRPr>
          </a:p>
          <a:p>
            <a:pPr>
              <a:lnSpc>
                <a:spcPct val="107000"/>
              </a:lnSpc>
              <a:spcAft>
                <a:spcPts val="800"/>
              </a:spcAft>
            </a:pPr>
            <a:r>
              <a:rPr lang="en-GB" dirty="0">
                <a:solidFill>
                  <a:srgbClr val="000000"/>
                </a:solidFill>
                <a:effectLst/>
                <a:latin typeface="Poppins" panose="00000500000000000000" pitchFamily="2" charset="0"/>
                <a:ea typeface="Calibri" panose="020F0502020204030204" pitchFamily="34" charset="0"/>
                <a:cs typeface="Poppins" panose="00000500000000000000" pitchFamily="2" charset="0"/>
              </a:rPr>
              <a:t>This gives some background information on threats, vulnerabilities and how attacks work, for example. It’s useful background to get up to speed with the general themes of cyber security and some readers might find out they know more than they thought they did. </a:t>
            </a:r>
          </a:p>
          <a:p>
            <a:pPr>
              <a:lnSpc>
                <a:spcPct val="107000"/>
              </a:lnSpc>
              <a:spcAft>
                <a:spcPts val="800"/>
              </a:spcAft>
            </a:pPr>
            <a:endParaRPr lang="en-GB" dirty="0">
              <a:effectLst/>
              <a:latin typeface="Poppins" panose="00000500000000000000" pitchFamily="2" charset="0"/>
              <a:ea typeface="Calibri" panose="020F0502020204030204" pitchFamily="34" charset="0"/>
              <a:cs typeface="Poppins" panose="00000500000000000000" pitchFamily="2" charset="0"/>
            </a:endParaRPr>
          </a:p>
          <a:p>
            <a:pPr marL="342900" indent="-342900">
              <a:lnSpc>
                <a:spcPct val="107000"/>
              </a:lnSpc>
              <a:spcAft>
                <a:spcPts val="800"/>
              </a:spcAft>
              <a:buFont typeface="+mj-lt"/>
              <a:buAutoNum type="arabicPeriod" startAt="2"/>
            </a:pPr>
            <a:r>
              <a:rPr lang="en-GB" b="1" dirty="0">
                <a:solidFill>
                  <a:srgbClr val="000000"/>
                </a:solidFill>
                <a:effectLst/>
                <a:latin typeface="Poppins" panose="00000500000000000000" pitchFamily="2" charset="0"/>
                <a:ea typeface="Calibri" panose="020F0502020204030204" pitchFamily="34" charset="0"/>
                <a:cs typeface="Poppins" panose="00000500000000000000" pitchFamily="2" charset="0"/>
              </a:rPr>
              <a:t>Nine core modules</a:t>
            </a:r>
            <a:endParaRPr lang="en-GB" dirty="0">
              <a:effectLst/>
              <a:latin typeface="Poppins" panose="00000500000000000000" pitchFamily="2" charset="0"/>
              <a:ea typeface="Calibri" panose="020F0502020204030204" pitchFamily="34" charset="0"/>
              <a:cs typeface="Poppins" panose="00000500000000000000" pitchFamily="2" charset="0"/>
            </a:endParaRPr>
          </a:p>
          <a:p>
            <a:pPr>
              <a:lnSpc>
                <a:spcPct val="107000"/>
              </a:lnSpc>
              <a:spcAft>
                <a:spcPts val="800"/>
              </a:spcAft>
            </a:pPr>
            <a:r>
              <a:rPr lang="en-GB" dirty="0">
                <a:solidFill>
                  <a:srgbClr val="000000"/>
                </a:solidFill>
                <a:effectLst/>
                <a:latin typeface="Poppins" panose="00000500000000000000" pitchFamily="2" charset="0"/>
                <a:ea typeface="Calibri" panose="020F0502020204030204" pitchFamily="34" charset="0"/>
                <a:cs typeface="Poppins" panose="00000500000000000000" pitchFamily="2" charset="0"/>
              </a:rPr>
              <a:t>Then there are nine core modules on specific cyber security topics such as risk management and planning for incidents. We’ll see the list of these in a moment.</a:t>
            </a:r>
            <a:endParaRPr lang="en-GB" dirty="0">
              <a:effectLst/>
              <a:latin typeface="Poppins" panose="00000500000000000000" pitchFamily="2" charset="0"/>
              <a:ea typeface="Calibri" panose="020F0502020204030204" pitchFamily="34" charset="0"/>
              <a:cs typeface="Poppins" panose="00000500000000000000" pitchFamily="2" charset="0"/>
            </a:endParaRPr>
          </a:p>
          <a:p>
            <a:pPr>
              <a:lnSpc>
                <a:spcPct val="107000"/>
              </a:lnSpc>
              <a:spcAft>
                <a:spcPts val="800"/>
              </a:spcAft>
            </a:pPr>
            <a:r>
              <a:rPr lang="en-GB" dirty="0">
                <a:solidFill>
                  <a:srgbClr val="000000"/>
                </a:solidFill>
                <a:effectLst/>
                <a:latin typeface="Poppins" panose="00000500000000000000" pitchFamily="2" charset="0"/>
                <a:ea typeface="Calibri" panose="020F0502020204030204" pitchFamily="34" charset="0"/>
                <a:cs typeface="Poppins" panose="00000500000000000000" pitchFamily="2" charset="0"/>
              </a:rPr>
              <a:t>For each of module we provide:</a:t>
            </a:r>
            <a:endParaRPr lang="en-GB" dirty="0">
              <a:effectLst/>
              <a:latin typeface="Poppins" panose="00000500000000000000" pitchFamily="2" charset="0"/>
              <a:ea typeface="Calibri" panose="020F0502020204030204" pitchFamily="34" charset="0"/>
              <a:cs typeface="Poppins" panose="00000500000000000000" pitchFamily="2" charset="0"/>
            </a:endParaRPr>
          </a:p>
          <a:p>
            <a:pPr marL="628650" lvl="1" indent="-171450" algn="l">
              <a:buFont typeface="Arial" panose="020B0604020202020204" pitchFamily="34" charset="0"/>
              <a:buChar char="•"/>
            </a:pPr>
            <a:r>
              <a:rPr lang="en-GB" dirty="0">
                <a:solidFill>
                  <a:srgbClr val="172B4D"/>
                </a:solidFill>
                <a:latin typeface="Poppins" panose="00000500000000000000" pitchFamily="2" charset="0"/>
                <a:cs typeface="Poppins" panose="00000500000000000000" pitchFamily="2" charset="0"/>
              </a:rPr>
              <a:t>a </a:t>
            </a:r>
            <a:r>
              <a:rPr lang="en-GB" b="0" i="0" dirty="0">
                <a:solidFill>
                  <a:srgbClr val="172B4D"/>
                </a:solidFill>
                <a:effectLst/>
                <a:latin typeface="Poppins" panose="00000500000000000000" pitchFamily="2" charset="0"/>
                <a:cs typeface="Poppins" panose="00000500000000000000" pitchFamily="2" charset="0"/>
              </a:rPr>
              <a:t>summary of the module that explains what it is, and why it’s important</a:t>
            </a:r>
          </a:p>
          <a:p>
            <a:pPr marL="628650" lvl="1" indent="-171450" algn="l">
              <a:buFont typeface="Arial" panose="020B0604020202020204" pitchFamily="34" charset="0"/>
              <a:buChar char="•"/>
            </a:pPr>
            <a:r>
              <a:rPr lang="en-GB" b="0" i="0" dirty="0">
                <a:solidFill>
                  <a:srgbClr val="172B4D"/>
                </a:solidFill>
                <a:effectLst/>
                <a:latin typeface="Poppins" panose="00000500000000000000" pitchFamily="2" charset="0"/>
                <a:cs typeface="Poppins" panose="00000500000000000000" pitchFamily="2" charset="0"/>
              </a:rPr>
              <a:t>essential activities for the organisation' covering the good practices boards should expect to see in the organisation</a:t>
            </a:r>
          </a:p>
          <a:p>
            <a:pPr marL="628650" lvl="1" indent="-171450">
              <a:buFont typeface="Arial" panose="020B0604020202020204" pitchFamily="34" charset="0"/>
              <a:buChar char="•"/>
            </a:pPr>
            <a:r>
              <a:rPr lang="en-GB" b="0" i="0" dirty="0">
                <a:solidFill>
                  <a:srgbClr val="172B4D"/>
                </a:solidFill>
                <a:effectLst/>
                <a:latin typeface="Poppins" panose="00000500000000000000" pitchFamily="2" charset="0"/>
                <a:cs typeface="Poppins" panose="00000500000000000000" pitchFamily="2" charset="0"/>
              </a:rPr>
              <a:t>‘indicators of success’ - a series of questions with possible answers that boards can use to help evaluate your organisations performance</a:t>
            </a:r>
            <a:br>
              <a:rPr lang="en-GB" dirty="0">
                <a:latin typeface="Poppins" panose="00000500000000000000" pitchFamily="2" charset="0"/>
                <a:cs typeface="Poppins" panose="00000500000000000000" pitchFamily="2" charset="0"/>
              </a:rPr>
            </a:br>
            <a:r>
              <a:rPr lang="en-GB" dirty="0">
                <a:latin typeface="Poppins" panose="00000500000000000000" pitchFamily="2" charset="0"/>
                <a:cs typeface="Poppins" panose="00000500000000000000" pitchFamily="2" charset="0"/>
              </a:rPr>
              <a:t>  </a:t>
            </a:r>
            <a:endParaRPr lang="en-GB" dirty="0">
              <a:effectLst/>
              <a:latin typeface="Poppins" panose="00000500000000000000" pitchFamily="2" charset="0"/>
              <a:ea typeface="Calibri" panose="020F0502020204030204" pitchFamily="34" charset="0"/>
              <a:cs typeface="Poppins" panose="00000500000000000000" pitchFamily="2" charset="0"/>
            </a:endParaRPr>
          </a:p>
          <a:p>
            <a:pPr marL="342900" indent="-342900">
              <a:lnSpc>
                <a:spcPct val="107000"/>
              </a:lnSpc>
              <a:spcAft>
                <a:spcPts val="800"/>
              </a:spcAft>
              <a:buFont typeface="+mj-lt"/>
              <a:buAutoNum type="arabicPeriod" startAt="3"/>
            </a:pPr>
            <a:r>
              <a:rPr lang="en-GB" b="1" dirty="0">
                <a:solidFill>
                  <a:srgbClr val="000000"/>
                </a:solidFill>
                <a:effectLst/>
                <a:latin typeface="Poppins" panose="00000500000000000000" pitchFamily="2" charset="0"/>
                <a:ea typeface="Calibri" panose="020F0502020204030204" pitchFamily="34" charset="0"/>
                <a:cs typeface="Poppins" panose="00000500000000000000" pitchFamily="2" charset="0"/>
              </a:rPr>
              <a:t>Cyber Security Regulations</a:t>
            </a:r>
            <a:endParaRPr lang="en-GB" dirty="0">
              <a:effectLst/>
              <a:latin typeface="Poppins" panose="00000500000000000000" pitchFamily="2" charset="0"/>
              <a:ea typeface="Calibri" panose="020F0502020204030204" pitchFamily="34" charset="0"/>
              <a:cs typeface="Poppins" panose="00000500000000000000" pitchFamily="2" charset="0"/>
            </a:endParaRPr>
          </a:p>
          <a:p>
            <a:pPr>
              <a:lnSpc>
                <a:spcPct val="107000"/>
              </a:lnSpc>
              <a:spcAft>
                <a:spcPts val="800"/>
              </a:spcAft>
            </a:pPr>
            <a:r>
              <a:rPr lang="en-GB" dirty="0">
                <a:solidFill>
                  <a:srgbClr val="000000"/>
                </a:solidFill>
                <a:effectLst/>
                <a:latin typeface="Poppins" panose="00000500000000000000" pitchFamily="2" charset="0"/>
                <a:ea typeface="Calibri" panose="020F0502020204030204" pitchFamily="34" charset="0"/>
                <a:cs typeface="Poppins" panose="00000500000000000000" pitchFamily="2" charset="0"/>
              </a:rPr>
              <a:t>Finally</a:t>
            </a:r>
            <a:r>
              <a:rPr lang="en-GB" dirty="0">
                <a:solidFill>
                  <a:srgbClr val="000000"/>
                </a:solidFill>
                <a:latin typeface="Poppins" panose="00000500000000000000" pitchFamily="2" charset="0"/>
                <a:ea typeface="Calibri" panose="020F0502020204030204" pitchFamily="34" charset="0"/>
                <a:cs typeface="Poppins" panose="00000500000000000000" pitchFamily="2" charset="0"/>
              </a:rPr>
              <a:t> we</a:t>
            </a:r>
            <a:r>
              <a:rPr lang="en-GB" dirty="0">
                <a:solidFill>
                  <a:srgbClr val="000000"/>
                </a:solidFill>
                <a:effectLst/>
                <a:latin typeface="Poppins" panose="00000500000000000000" pitchFamily="2" charset="0"/>
                <a:ea typeface="Calibri" panose="020F0502020204030204" pitchFamily="34" charset="0"/>
                <a:cs typeface="Poppins" panose="00000500000000000000" pitchFamily="2" charset="0"/>
              </a:rPr>
              <a:t> </a:t>
            </a:r>
            <a:r>
              <a:rPr lang="en-GB" b="0" i="0" dirty="0">
                <a:solidFill>
                  <a:srgbClr val="172B4D"/>
                </a:solidFill>
                <a:effectLst/>
                <a:latin typeface="Poppins" panose="00000500000000000000" pitchFamily="2" charset="0"/>
                <a:cs typeface="Poppins" panose="00000500000000000000" pitchFamily="2" charset="0"/>
              </a:rPr>
              <a:t>summarise the relevant cyber security regulations that boards need to be aware of</a:t>
            </a:r>
            <a:r>
              <a:rPr lang="en-GB" sz="1800" dirty="0">
                <a:solidFill>
                  <a:srgbClr val="000000"/>
                </a:solidFill>
                <a:effectLst/>
                <a:latin typeface="Poppins" panose="00000500000000000000" pitchFamily="2" charset="0"/>
                <a:ea typeface="Calibri" panose="020F0502020204030204" pitchFamily="34" charset="0"/>
                <a:cs typeface="Poppins" panose="00000500000000000000" pitchFamily="2" charset="0"/>
              </a:rPr>
              <a:t>.</a:t>
            </a:r>
            <a:endParaRPr lang="en-GB" sz="1800" dirty="0">
              <a:effectLst/>
              <a:latin typeface="Poppins" panose="00000500000000000000" pitchFamily="2" charset="0"/>
              <a:ea typeface="Calibri" panose="020F0502020204030204" pitchFamily="34" charset="0"/>
              <a:cs typeface="Poppins" panose="00000500000000000000" pitchFamily="2" charset="0"/>
            </a:endParaRPr>
          </a:p>
          <a:p>
            <a:endParaRPr lang="en-GB" dirty="0"/>
          </a:p>
        </p:txBody>
      </p:sp>
      <p:sp>
        <p:nvSpPr>
          <p:cNvPr id="4" name="Slide Number Placeholder 3"/>
          <p:cNvSpPr>
            <a:spLocks noGrp="1"/>
          </p:cNvSpPr>
          <p:nvPr>
            <p:ph type="sldNum" sz="quarter" idx="5"/>
          </p:nvPr>
        </p:nvSpPr>
        <p:spPr/>
        <p:txBody>
          <a:bodyPr/>
          <a:lstStyle/>
          <a:p>
            <a:fld id="{7F644FDF-E411-44D0-9482-7F7F6DB58F0D}" type="slidenum">
              <a:rPr lang="en-GB" smtClean="0"/>
              <a:t>7</a:t>
            </a:fld>
            <a:endParaRPr lang="en-GB"/>
          </a:p>
        </p:txBody>
      </p:sp>
    </p:spTree>
    <p:extLst>
      <p:ext uri="{BB962C8B-B14F-4D97-AF65-F5344CB8AC3E}">
        <p14:creationId xmlns:p14="http://schemas.microsoft.com/office/powerpoint/2010/main" val="38719852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r>
              <a:rPr lang="en-GB" dirty="0">
                <a:effectLst/>
                <a:latin typeface="Poppins" panose="00000500000000000000" pitchFamily="2" charset="0"/>
                <a:ea typeface="Calibri" panose="020F0502020204030204" pitchFamily="34" charset="0"/>
                <a:cs typeface="Poppins" panose="00000500000000000000" pitchFamily="2" charset="0"/>
              </a:rPr>
              <a:t>As mentioned, there are nine modules that make up the core of the toolkit: nine key cyber security topics.</a:t>
            </a:r>
          </a:p>
          <a:p>
            <a:pPr lvl="0" algn="l">
              <a:buFont typeface="+mj-lt"/>
              <a:buAutoNum type="arabicPeriod"/>
            </a:pPr>
            <a:r>
              <a:rPr lang="en-GB" b="0" i="0" dirty="0">
                <a:solidFill>
                  <a:srgbClr val="172B4D"/>
                </a:solidFill>
                <a:effectLst/>
                <a:latin typeface="Poppins" panose="00000500000000000000" pitchFamily="2" charset="0"/>
                <a:cs typeface="Poppins" panose="00000500000000000000" pitchFamily="2" charset="0"/>
              </a:rPr>
              <a:t>Organisations should </a:t>
            </a:r>
            <a:r>
              <a:rPr lang="en-GB" b="1" i="0" dirty="0">
                <a:solidFill>
                  <a:srgbClr val="172B4D"/>
                </a:solidFill>
                <a:effectLst/>
                <a:latin typeface="Poppins" panose="00000500000000000000" pitchFamily="2" charset="0"/>
                <a:cs typeface="Poppins" panose="00000500000000000000" pitchFamily="2" charset="0"/>
              </a:rPr>
              <a:t>create the right environment</a:t>
            </a:r>
            <a:r>
              <a:rPr lang="en-GB" b="0" i="0" dirty="0">
                <a:solidFill>
                  <a:srgbClr val="172B4D"/>
                </a:solidFill>
                <a:effectLst/>
                <a:latin typeface="Poppins" panose="00000500000000000000" pitchFamily="2" charset="0"/>
                <a:cs typeface="Poppins" panose="00000500000000000000" pitchFamily="2" charset="0"/>
              </a:rPr>
              <a:t> so that cyber security can flourish by:</a:t>
            </a:r>
            <a:br>
              <a:rPr lang="en-GB" b="0" i="0" dirty="0">
                <a:solidFill>
                  <a:srgbClr val="172B4D"/>
                </a:solidFill>
                <a:effectLst/>
                <a:latin typeface="Poppins" panose="00000500000000000000" pitchFamily="2" charset="0"/>
                <a:cs typeface="Poppins" panose="00000500000000000000" pitchFamily="2" charset="0"/>
              </a:rPr>
            </a:br>
            <a:r>
              <a:rPr lang="en-GB" b="0" i="0" dirty="0">
                <a:solidFill>
                  <a:srgbClr val="172B4D"/>
                </a:solidFill>
                <a:effectLst/>
                <a:latin typeface="Poppins" panose="00000500000000000000" pitchFamily="2" charset="0"/>
                <a:cs typeface="Poppins" panose="00000500000000000000" pitchFamily="2" charset="0"/>
              </a:rPr>
              <a:t>• </a:t>
            </a:r>
            <a:r>
              <a:rPr lang="en-GB" b="0" i="0" u="none" strike="noStrike" dirty="0">
                <a:solidFill>
                  <a:srgbClr val="0052CC"/>
                </a:solidFill>
                <a:effectLst/>
                <a:latin typeface="Poppins" panose="00000500000000000000" pitchFamily="2" charset="0"/>
                <a:cs typeface="Poppins" panose="00000500000000000000" pitchFamily="2" charset="0"/>
                <a:hlinkClick r:id="rId3" tooltip="#"/>
              </a:rPr>
              <a:t>Embedding cyber security in your organisation</a:t>
            </a:r>
            <a:br>
              <a:rPr lang="en-GB" b="0" i="0" dirty="0">
                <a:solidFill>
                  <a:srgbClr val="172B4D"/>
                </a:solidFill>
                <a:effectLst/>
                <a:latin typeface="Poppins" panose="00000500000000000000" pitchFamily="2" charset="0"/>
                <a:cs typeface="Poppins" panose="00000500000000000000" pitchFamily="2" charset="0"/>
              </a:rPr>
            </a:br>
            <a:r>
              <a:rPr lang="en-GB" b="0" i="0" dirty="0">
                <a:solidFill>
                  <a:srgbClr val="172B4D"/>
                </a:solidFill>
                <a:effectLst/>
                <a:latin typeface="Poppins" panose="00000500000000000000" pitchFamily="2" charset="0"/>
                <a:cs typeface="Poppins" panose="00000500000000000000" pitchFamily="2" charset="0"/>
              </a:rPr>
              <a:t>• </a:t>
            </a:r>
            <a:r>
              <a:rPr lang="en-GB" b="0" i="0" u="none" strike="noStrike" dirty="0">
                <a:solidFill>
                  <a:srgbClr val="0052CC"/>
                </a:solidFill>
                <a:effectLst/>
                <a:latin typeface="Poppins" panose="00000500000000000000" pitchFamily="2" charset="0"/>
                <a:cs typeface="Poppins" panose="00000500000000000000" pitchFamily="2" charset="0"/>
                <a:hlinkClick r:id="rId3" tooltip="#"/>
              </a:rPr>
              <a:t>Developing a positive cyber security culture</a:t>
            </a:r>
            <a:br>
              <a:rPr lang="en-GB" b="0" i="0" dirty="0">
                <a:solidFill>
                  <a:srgbClr val="172B4D"/>
                </a:solidFill>
                <a:effectLst/>
                <a:latin typeface="Poppins" panose="00000500000000000000" pitchFamily="2" charset="0"/>
                <a:cs typeface="Poppins" panose="00000500000000000000" pitchFamily="2" charset="0"/>
              </a:rPr>
            </a:br>
            <a:r>
              <a:rPr lang="en-GB" b="0" i="0" dirty="0">
                <a:solidFill>
                  <a:srgbClr val="172B4D"/>
                </a:solidFill>
                <a:effectLst/>
                <a:latin typeface="Poppins" panose="00000500000000000000" pitchFamily="2" charset="0"/>
                <a:cs typeface="Poppins" panose="00000500000000000000" pitchFamily="2" charset="0"/>
              </a:rPr>
              <a:t>• </a:t>
            </a:r>
            <a:r>
              <a:rPr lang="en-GB" b="0" i="0" u="none" strike="noStrike" dirty="0">
                <a:solidFill>
                  <a:srgbClr val="0052CC"/>
                </a:solidFill>
                <a:effectLst/>
                <a:latin typeface="Poppins" panose="00000500000000000000" pitchFamily="2" charset="0"/>
                <a:cs typeface="Poppins" panose="00000500000000000000" pitchFamily="2" charset="0"/>
                <a:hlinkClick r:id="rId4" tooltip="/wiki/spaces/BT2/pages/3913318563"/>
              </a:rPr>
              <a:t>Growing cyber security expertise</a:t>
            </a:r>
            <a:endParaRPr lang="en-GB" b="0" i="0" dirty="0">
              <a:solidFill>
                <a:srgbClr val="172B4D"/>
              </a:solidFill>
              <a:effectLst/>
              <a:latin typeface="Poppins" panose="00000500000000000000" pitchFamily="2" charset="0"/>
              <a:cs typeface="Poppins" panose="00000500000000000000" pitchFamily="2" charset="0"/>
            </a:endParaRPr>
          </a:p>
          <a:p>
            <a:pPr algn="l">
              <a:buFont typeface="+mj-lt"/>
              <a:buAutoNum type="arabicPeriod"/>
            </a:pPr>
            <a:r>
              <a:rPr lang="en-GB" b="0" i="0" dirty="0">
                <a:solidFill>
                  <a:srgbClr val="172B4D"/>
                </a:solidFill>
                <a:effectLst/>
                <a:latin typeface="Poppins" panose="00000500000000000000" pitchFamily="2" charset="0"/>
                <a:cs typeface="Poppins" panose="00000500000000000000" pitchFamily="2" charset="0"/>
              </a:rPr>
              <a:t>They then need to </a:t>
            </a:r>
            <a:r>
              <a:rPr lang="en-GB" b="1" i="0" dirty="0">
                <a:solidFill>
                  <a:srgbClr val="172B4D"/>
                </a:solidFill>
                <a:effectLst/>
                <a:latin typeface="Poppins" panose="00000500000000000000" pitchFamily="2" charset="0"/>
                <a:cs typeface="Poppins" panose="00000500000000000000" pitchFamily="2" charset="0"/>
              </a:rPr>
              <a:t>get the right information</a:t>
            </a:r>
            <a:r>
              <a:rPr lang="en-GB" b="0" i="0" dirty="0">
                <a:solidFill>
                  <a:srgbClr val="172B4D"/>
                </a:solidFill>
                <a:effectLst/>
                <a:latin typeface="Poppins" panose="00000500000000000000" pitchFamily="2" charset="0"/>
                <a:cs typeface="Poppins" panose="00000500000000000000" pitchFamily="2" charset="0"/>
              </a:rPr>
              <a:t> to support decision making, by:</a:t>
            </a:r>
            <a:br>
              <a:rPr lang="en-GB" b="0" i="0" dirty="0">
                <a:solidFill>
                  <a:srgbClr val="172B4D"/>
                </a:solidFill>
                <a:effectLst/>
                <a:latin typeface="Poppins" panose="00000500000000000000" pitchFamily="2" charset="0"/>
                <a:cs typeface="Poppins" panose="00000500000000000000" pitchFamily="2" charset="0"/>
              </a:rPr>
            </a:br>
            <a:r>
              <a:rPr lang="en-GB" b="0" i="0" dirty="0">
                <a:solidFill>
                  <a:srgbClr val="172B4D"/>
                </a:solidFill>
                <a:effectLst/>
                <a:latin typeface="Poppins" panose="00000500000000000000" pitchFamily="2" charset="0"/>
                <a:cs typeface="Poppins" panose="00000500000000000000" pitchFamily="2" charset="0"/>
              </a:rPr>
              <a:t>• </a:t>
            </a:r>
            <a:r>
              <a:rPr lang="en-GB" b="0" i="0" u="none" strike="noStrike" dirty="0">
                <a:solidFill>
                  <a:srgbClr val="0052CC"/>
                </a:solidFill>
                <a:effectLst/>
                <a:latin typeface="Poppins" panose="00000500000000000000" pitchFamily="2" charset="0"/>
                <a:cs typeface="Poppins" panose="00000500000000000000" pitchFamily="2" charset="0"/>
                <a:hlinkClick r:id="rId5" tooltip="/wiki/spaces/BT2/pages/3918987291"/>
              </a:rPr>
              <a:t>Identifying the critical assets in your organisation</a:t>
            </a:r>
            <a:br>
              <a:rPr lang="en-GB" b="0" i="0" dirty="0">
                <a:solidFill>
                  <a:srgbClr val="172B4D"/>
                </a:solidFill>
                <a:effectLst/>
                <a:latin typeface="Poppins" panose="00000500000000000000" pitchFamily="2" charset="0"/>
                <a:cs typeface="Poppins" panose="00000500000000000000" pitchFamily="2" charset="0"/>
              </a:rPr>
            </a:br>
            <a:r>
              <a:rPr lang="en-GB" b="0" i="0" dirty="0">
                <a:solidFill>
                  <a:srgbClr val="172B4D"/>
                </a:solidFill>
                <a:effectLst/>
                <a:latin typeface="Poppins" panose="00000500000000000000" pitchFamily="2" charset="0"/>
                <a:cs typeface="Poppins" panose="00000500000000000000" pitchFamily="2" charset="0"/>
              </a:rPr>
              <a:t>• </a:t>
            </a:r>
            <a:r>
              <a:rPr lang="en-GB" b="0" i="0" u="none" strike="noStrike" dirty="0">
                <a:solidFill>
                  <a:srgbClr val="0052CC"/>
                </a:solidFill>
                <a:effectLst/>
                <a:latin typeface="Poppins" panose="00000500000000000000" pitchFamily="2" charset="0"/>
                <a:cs typeface="Poppins" panose="00000500000000000000" pitchFamily="2" charset="0"/>
                <a:hlinkClick r:id="rId6" tooltip="/wiki/spaces/BT2/pages/3925770390"/>
              </a:rPr>
              <a:t>Understanding the cyber security threat</a:t>
            </a:r>
            <a:br>
              <a:rPr lang="en-GB" b="0" i="0" dirty="0">
                <a:solidFill>
                  <a:srgbClr val="172B4D"/>
                </a:solidFill>
                <a:effectLst/>
                <a:latin typeface="Poppins" panose="00000500000000000000" pitchFamily="2" charset="0"/>
                <a:cs typeface="Poppins" panose="00000500000000000000" pitchFamily="2" charset="0"/>
              </a:rPr>
            </a:br>
            <a:r>
              <a:rPr lang="en-GB" b="0" i="0" dirty="0">
                <a:solidFill>
                  <a:srgbClr val="172B4D"/>
                </a:solidFill>
                <a:effectLst/>
                <a:latin typeface="Poppins" panose="00000500000000000000" pitchFamily="2" charset="0"/>
                <a:cs typeface="Poppins" panose="00000500000000000000" pitchFamily="2" charset="0"/>
              </a:rPr>
              <a:t>• </a:t>
            </a:r>
            <a:r>
              <a:rPr lang="en-GB" b="0" i="0" u="none" strike="noStrike" dirty="0">
                <a:solidFill>
                  <a:srgbClr val="0052CC"/>
                </a:solidFill>
                <a:effectLst/>
                <a:latin typeface="Poppins" panose="00000500000000000000" pitchFamily="2" charset="0"/>
                <a:cs typeface="Poppins" panose="00000500000000000000" pitchFamily="2" charset="0"/>
                <a:hlinkClick r:id="rId7" tooltip="/wiki/spaces/BT2/pages/3942678604"/>
              </a:rPr>
              <a:t>Use this information to evaluate and prioritise risks</a:t>
            </a:r>
            <a:endParaRPr lang="en-GB" b="0" i="0" dirty="0">
              <a:solidFill>
                <a:srgbClr val="172B4D"/>
              </a:solidFill>
              <a:effectLst/>
              <a:latin typeface="Poppins" panose="00000500000000000000" pitchFamily="2" charset="0"/>
              <a:cs typeface="Poppins" panose="00000500000000000000" pitchFamily="2" charset="0"/>
            </a:endParaRPr>
          </a:p>
          <a:p>
            <a:pPr algn="l">
              <a:buFont typeface="+mj-lt"/>
              <a:buAutoNum type="arabicPeriod"/>
            </a:pPr>
            <a:r>
              <a:rPr lang="en-GB" b="0" i="0" dirty="0">
                <a:solidFill>
                  <a:srgbClr val="172B4D"/>
                </a:solidFill>
                <a:effectLst/>
                <a:latin typeface="Poppins" panose="00000500000000000000" pitchFamily="2" charset="0"/>
                <a:cs typeface="Poppins" panose="00000500000000000000" pitchFamily="2" charset="0"/>
              </a:rPr>
              <a:t>This allows them to </a:t>
            </a:r>
            <a:r>
              <a:rPr lang="en-GB" b="1" i="0" dirty="0">
                <a:solidFill>
                  <a:srgbClr val="172B4D"/>
                </a:solidFill>
                <a:effectLst/>
                <a:latin typeface="Poppins" panose="00000500000000000000" pitchFamily="2" charset="0"/>
                <a:cs typeface="Poppins" panose="00000500000000000000" pitchFamily="2" charset="0"/>
              </a:rPr>
              <a:t>take steps to manage those risks</a:t>
            </a:r>
            <a:r>
              <a:rPr lang="en-GB" b="0" i="0" dirty="0">
                <a:solidFill>
                  <a:srgbClr val="172B4D"/>
                </a:solidFill>
                <a:effectLst/>
                <a:latin typeface="Poppins" panose="00000500000000000000" pitchFamily="2" charset="0"/>
                <a:cs typeface="Poppins" panose="00000500000000000000" pitchFamily="2" charset="0"/>
              </a:rPr>
              <a:t>:</a:t>
            </a:r>
            <a:br>
              <a:rPr lang="en-GB" b="0" i="0" dirty="0">
                <a:solidFill>
                  <a:srgbClr val="172B4D"/>
                </a:solidFill>
                <a:effectLst/>
                <a:latin typeface="Poppins" panose="00000500000000000000" pitchFamily="2" charset="0"/>
                <a:cs typeface="Poppins" panose="00000500000000000000" pitchFamily="2" charset="0"/>
              </a:rPr>
            </a:br>
            <a:r>
              <a:rPr lang="en-GB" b="0" i="0" dirty="0">
                <a:solidFill>
                  <a:srgbClr val="172B4D"/>
                </a:solidFill>
                <a:effectLst/>
                <a:latin typeface="Poppins" panose="00000500000000000000" pitchFamily="2" charset="0"/>
                <a:cs typeface="Poppins" panose="00000500000000000000" pitchFamily="2" charset="0"/>
              </a:rPr>
              <a:t>• </a:t>
            </a:r>
            <a:r>
              <a:rPr lang="en-GB" b="0" i="0" u="none" strike="noStrike" dirty="0">
                <a:solidFill>
                  <a:srgbClr val="0052CC"/>
                </a:solidFill>
                <a:effectLst/>
                <a:latin typeface="Poppins" panose="00000500000000000000" pitchFamily="2" charset="0"/>
                <a:cs typeface="Poppins" panose="00000500000000000000" pitchFamily="2" charset="0"/>
                <a:hlinkClick r:id="rId3" tooltip="#"/>
              </a:rPr>
              <a:t>Implementing effective cyber security measures</a:t>
            </a:r>
            <a:br>
              <a:rPr lang="en-GB" b="0" i="0" dirty="0">
                <a:solidFill>
                  <a:srgbClr val="172B4D"/>
                </a:solidFill>
                <a:effectLst/>
                <a:latin typeface="Poppins" panose="00000500000000000000" pitchFamily="2" charset="0"/>
                <a:cs typeface="Poppins" panose="00000500000000000000" pitchFamily="2" charset="0"/>
              </a:rPr>
            </a:br>
            <a:r>
              <a:rPr lang="en-GB" b="0" i="0" dirty="0">
                <a:solidFill>
                  <a:srgbClr val="172B4D"/>
                </a:solidFill>
                <a:effectLst/>
                <a:latin typeface="Poppins" panose="00000500000000000000" pitchFamily="2" charset="0"/>
                <a:cs typeface="Poppins" panose="00000500000000000000" pitchFamily="2" charset="0"/>
              </a:rPr>
              <a:t>• </a:t>
            </a:r>
            <a:r>
              <a:rPr lang="en-GB" b="0" i="0" u="none" strike="noStrike" dirty="0">
                <a:solidFill>
                  <a:srgbClr val="0052CC"/>
                </a:solidFill>
                <a:effectLst/>
                <a:latin typeface="Poppins" panose="00000500000000000000" pitchFamily="2" charset="0"/>
                <a:cs typeface="Poppins" panose="00000500000000000000" pitchFamily="2" charset="0"/>
                <a:hlinkClick r:id="rId3" tooltip="#"/>
              </a:rPr>
              <a:t>Collaborating with your supply chain and partners</a:t>
            </a:r>
            <a:br>
              <a:rPr lang="en-GB" b="0" i="0" dirty="0">
                <a:solidFill>
                  <a:srgbClr val="172B4D"/>
                </a:solidFill>
                <a:effectLst/>
                <a:latin typeface="Poppins" panose="00000500000000000000" pitchFamily="2" charset="0"/>
                <a:cs typeface="Poppins" panose="00000500000000000000" pitchFamily="2" charset="0"/>
              </a:rPr>
            </a:br>
            <a:r>
              <a:rPr lang="en-GB" b="0" i="0" dirty="0">
                <a:solidFill>
                  <a:srgbClr val="172B4D"/>
                </a:solidFill>
                <a:effectLst/>
                <a:latin typeface="Poppins" panose="00000500000000000000" pitchFamily="2" charset="0"/>
                <a:cs typeface="Poppins" panose="00000500000000000000" pitchFamily="2" charset="0"/>
              </a:rPr>
              <a:t>• </a:t>
            </a:r>
            <a:r>
              <a:rPr lang="en-GB" b="0" i="0" u="none" strike="noStrike" dirty="0">
                <a:solidFill>
                  <a:srgbClr val="0052CC"/>
                </a:solidFill>
                <a:effectLst/>
                <a:latin typeface="Poppins" panose="00000500000000000000" pitchFamily="2" charset="0"/>
                <a:cs typeface="Poppins" panose="00000500000000000000" pitchFamily="2" charset="0"/>
                <a:hlinkClick r:id="rId8" tooltip="/wiki/spaces/BT2/pages/3971383409"/>
              </a:rPr>
              <a:t>Planning your response to cyber incidents</a:t>
            </a:r>
            <a:endParaRPr lang="en-GB" b="0" i="0" dirty="0">
              <a:solidFill>
                <a:srgbClr val="172B4D"/>
              </a:solidFill>
              <a:effectLst/>
              <a:latin typeface="Poppins" panose="00000500000000000000" pitchFamily="2" charset="0"/>
              <a:cs typeface="Poppins" panose="00000500000000000000" pitchFamily="2" charset="0"/>
            </a:endParaRPr>
          </a:p>
          <a:p>
            <a:pPr>
              <a:lnSpc>
                <a:spcPct val="107000"/>
              </a:lnSpc>
              <a:spcAft>
                <a:spcPts val="800"/>
              </a:spcAft>
            </a:pPr>
            <a:endParaRPr lang="en-GB" dirty="0">
              <a:effectLst/>
              <a:latin typeface="Poppins" panose="00000500000000000000" pitchFamily="2" charset="0"/>
              <a:ea typeface="Calibri" panose="020F0502020204030204" pitchFamily="34" charset="0"/>
              <a:cs typeface="Poppins" panose="00000500000000000000" pitchFamily="2" charset="0"/>
            </a:endParaRPr>
          </a:p>
          <a:p>
            <a:pPr>
              <a:lnSpc>
                <a:spcPct val="107000"/>
              </a:lnSpc>
              <a:spcAft>
                <a:spcPts val="800"/>
              </a:spcAft>
            </a:pPr>
            <a:r>
              <a:rPr lang="en-GB" dirty="0">
                <a:effectLst/>
                <a:latin typeface="Poppins" panose="00000500000000000000" pitchFamily="2" charset="0"/>
                <a:ea typeface="Calibri" panose="020F0502020204030204" pitchFamily="34" charset="0"/>
                <a:cs typeface="Poppins" panose="00000500000000000000" pitchFamily="2" charset="0"/>
              </a:rPr>
              <a:t>As the toolkit is </a:t>
            </a:r>
            <a:r>
              <a:rPr lang="en-GB" i="0" dirty="0">
                <a:effectLst/>
                <a:latin typeface="Poppins" panose="00000500000000000000" pitchFamily="2" charset="0"/>
                <a:ea typeface="Calibri" panose="020F0502020204030204" pitchFamily="34" charset="0"/>
                <a:cs typeface="Poppins" panose="00000500000000000000" pitchFamily="2" charset="0"/>
              </a:rPr>
              <a:t>modular </a:t>
            </a:r>
            <a:r>
              <a:rPr lang="en-GB" dirty="0">
                <a:effectLst/>
                <a:latin typeface="Poppins" panose="00000500000000000000" pitchFamily="2" charset="0"/>
                <a:ea typeface="Calibri" panose="020F0502020204030204" pitchFamily="34" charset="0"/>
                <a:cs typeface="Poppins" panose="00000500000000000000" pitchFamily="2" charset="0"/>
              </a:rPr>
              <a:t>you really don’t need to work through it in order. </a:t>
            </a:r>
          </a:p>
          <a:p>
            <a:pPr>
              <a:lnSpc>
                <a:spcPct val="107000"/>
              </a:lnSpc>
              <a:spcAft>
                <a:spcPts val="800"/>
              </a:spcAft>
            </a:pPr>
            <a:r>
              <a:rPr lang="en-GB" dirty="0">
                <a:effectLst/>
                <a:latin typeface="Poppins" panose="00000500000000000000" pitchFamily="2" charset="0"/>
                <a:ea typeface="Calibri" panose="020F0502020204030204" pitchFamily="34" charset="0"/>
                <a:cs typeface="Poppins" panose="00000500000000000000" pitchFamily="2" charset="0"/>
              </a:rPr>
              <a:t>In fact, we invite you </a:t>
            </a:r>
            <a:r>
              <a:rPr lang="en-GB" i="0" dirty="0">
                <a:effectLst/>
                <a:latin typeface="Poppins" panose="00000500000000000000" pitchFamily="2" charset="0"/>
                <a:ea typeface="Calibri" panose="020F0502020204030204" pitchFamily="34" charset="0"/>
                <a:cs typeface="Poppins" panose="00000500000000000000" pitchFamily="2" charset="0"/>
              </a:rPr>
              <a:t>not</a:t>
            </a:r>
            <a:r>
              <a:rPr lang="en-GB" dirty="0">
                <a:effectLst/>
                <a:latin typeface="Poppins" panose="00000500000000000000" pitchFamily="2" charset="0"/>
                <a:ea typeface="Calibri" panose="020F0502020204030204" pitchFamily="34" charset="0"/>
                <a:cs typeface="Poppins" panose="00000500000000000000" pitchFamily="2" charset="0"/>
              </a:rPr>
              <a:t> to, but instead to prioritise the areas that are most pressing for your organisation</a:t>
            </a:r>
            <a:r>
              <a:rPr lang="en-GB" sz="1800" dirty="0">
                <a:effectLst/>
                <a:latin typeface="Poppins" panose="00000500000000000000" pitchFamily="2" charset="0"/>
                <a:ea typeface="Calibri" panose="020F0502020204030204" pitchFamily="34" charset="0"/>
                <a:cs typeface="Poppins" panose="00000500000000000000" pitchFamily="2" charset="0"/>
              </a:rPr>
              <a:t>.</a:t>
            </a:r>
          </a:p>
          <a:p>
            <a:endParaRPr lang="en-GB" dirty="0"/>
          </a:p>
        </p:txBody>
      </p:sp>
      <p:sp>
        <p:nvSpPr>
          <p:cNvPr id="4" name="Slide Number Placeholder 3"/>
          <p:cNvSpPr>
            <a:spLocks noGrp="1"/>
          </p:cNvSpPr>
          <p:nvPr>
            <p:ph type="sldNum" sz="quarter" idx="5"/>
          </p:nvPr>
        </p:nvSpPr>
        <p:spPr/>
        <p:txBody>
          <a:bodyPr/>
          <a:lstStyle/>
          <a:p>
            <a:fld id="{7F644FDF-E411-44D0-9482-7F7F6DB58F0D}" type="slidenum">
              <a:rPr lang="en-GB" smtClean="0"/>
              <a:t>8</a:t>
            </a:fld>
            <a:endParaRPr lang="en-GB"/>
          </a:p>
        </p:txBody>
      </p:sp>
    </p:spTree>
    <p:extLst>
      <p:ext uri="{BB962C8B-B14F-4D97-AF65-F5344CB8AC3E}">
        <p14:creationId xmlns:p14="http://schemas.microsoft.com/office/powerpoint/2010/main" val="2582572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52400"/>
            <a:ext cx="5486400" cy="3086100"/>
          </a:xfrm>
        </p:spPr>
      </p:sp>
      <p:sp>
        <p:nvSpPr>
          <p:cNvPr id="3" name="Notes Placeholder 2"/>
          <p:cNvSpPr>
            <a:spLocks noGrp="1"/>
          </p:cNvSpPr>
          <p:nvPr>
            <p:ph type="body" idx="1"/>
          </p:nvPr>
        </p:nvSpPr>
        <p:spPr>
          <a:xfrm>
            <a:off x="755008" y="3313651"/>
            <a:ext cx="5417191" cy="4899171"/>
          </a:xfrm>
        </p:spPr>
        <p:txBody>
          <a:bodyPr/>
          <a:lstStyle/>
          <a:p>
            <a:pPr>
              <a:lnSpc>
                <a:spcPct val="107000"/>
              </a:lnSpc>
              <a:spcAft>
                <a:spcPts val="800"/>
              </a:spcAft>
            </a:pPr>
            <a:r>
              <a:rPr lang="en-GB" dirty="0">
                <a:effectLst/>
                <a:latin typeface="Poppins" panose="00000500000000000000" pitchFamily="2" charset="0"/>
                <a:ea typeface="Calibri" panose="020F0502020204030204" pitchFamily="34" charset="0"/>
                <a:cs typeface="Poppins" panose="00000500000000000000" pitchFamily="2" charset="0"/>
              </a:rPr>
              <a:t>Feedback shows that for most users, what has made the toolkit particularly useful is the </a:t>
            </a:r>
            <a:r>
              <a:rPr lang="en-GB" b="1" i="1" dirty="0">
                <a:effectLst/>
                <a:latin typeface="Poppins" panose="00000500000000000000" pitchFamily="2" charset="0"/>
                <a:ea typeface="Calibri" panose="020F0502020204030204" pitchFamily="34" charset="0"/>
                <a:cs typeface="Poppins" panose="00000500000000000000" pitchFamily="2" charset="0"/>
              </a:rPr>
              <a:t>questions</a:t>
            </a:r>
            <a:r>
              <a:rPr lang="en-GB" b="1" dirty="0">
                <a:effectLst/>
                <a:latin typeface="Poppins" panose="00000500000000000000" pitchFamily="2" charset="0"/>
                <a:ea typeface="Calibri" panose="020F0502020204030204" pitchFamily="34" charset="0"/>
                <a:cs typeface="Poppins" panose="00000500000000000000" pitchFamily="2" charset="0"/>
              </a:rPr>
              <a:t> given at the end of every module in the ‘indicators of success’ section. </a:t>
            </a:r>
            <a:endParaRPr lang="en-GB" dirty="0">
              <a:effectLst/>
              <a:latin typeface="Poppins" panose="00000500000000000000" pitchFamily="2" charset="0"/>
              <a:ea typeface="Calibri" panose="020F0502020204030204" pitchFamily="34" charset="0"/>
              <a:cs typeface="Poppins" panose="00000500000000000000" pitchFamily="2" charset="0"/>
            </a:endParaRPr>
          </a:p>
          <a:p>
            <a:pPr>
              <a:lnSpc>
                <a:spcPct val="107000"/>
              </a:lnSpc>
              <a:spcAft>
                <a:spcPts val="800"/>
              </a:spcAft>
            </a:pPr>
            <a:r>
              <a:rPr lang="en-GB" dirty="0">
                <a:effectLst/>
                <a:latin typeface="Poppins" panose="00000500000000000000" pitchFamily="2" charset="0"/>
                <a:ea typeface="Calibri" panose="020F0502020204030204" pitchFamily="34" charset="0"/>
                <a:cs typeface="Poppins" panose="00000500000000000000" pitchFamily="2" charset="0"/>
              </a:rPr>
              <a:t>The questions (and suggested answers) have proved so popular that there is now a separate document of these available for board members to download.</a:t>
            </a:r>
          </a:p>
          <a:p>
            <a:pPr>
              <a:lnSpc>
                <a:spcPct val="107000"/>
              </a:lnSpc>
              <a:spcAft>
                <a:spcPts val="800"/>
              </a:spcAft>
            </a:pPr>
            <a:r>
              <a:rPr lang="en-GB" dirty="0">
                <a:effectLst/>
                <a:latin typeface="Poppins" panose="00000500000000000000" pitchFamily="2" charset="0"/>
                <a:ea typeface="Calibri" panose="020F0502020204030204" pitchFamily="34" charset="0"/>
                <a:cs typeface="Poppins" panose="00000500000000000000" pitchFamily="2" charset="0"/>
              </a:rPr>
              <a:t>The questions pull together the information given in each module and</a:t>
            </a:r>
            <a:r>
              <a:rPr lang="en-GB" b="1" dirty="0">
                <a:effectLst/>
                <a:latin typeface="Poppins" panose="00000500000000000000" pitchFamily="2" charset="0"/>
                <a:ea typeface="Calibri" panose="020F0502020204030204" pitchFamily="34" charset="0"/>
                <a:cs typeface="Poppins" panose="00000500000000000000" pitchFamily="2" charset="0"/>
              </a:rPr>
              <a:t> show how to </a:t>
            </a:r>
            <a:r>
              <a:rPr lang="en-GB" b="1" i="1" dirty="0">
                <a:effectLst/>
                <a:latin typeface="Poppins" panose="00000500000000000000" pitchFamily="2" charset="0"/>
                <a:ea typeface="Calibri" panose="020F0502020204030204" pitchFamily="34" charset="0"/>
                <a:cs typeface="Poppins" panose="00000500000000000000" pitchFamily="2" charset="0"/>
              </a:rPr>
              <a:t>apply</a:t>
            </a:r>
            <a:r>
              <a:rPr lang="en-GB" b="1" dirty="0">
                <a:effectLst/>
                <a:latin typeface="Poppins" panose="00000500000000000000" pitchFamily="2" charset="0"/>
                <a:ea typeface="Calibri" panose="020F0502020204030204" pitchFamily="34" charset="0"/>
                <a:cs typeface="Poppins" panose="00000500000000000000" pitchFamily="2" charset="0"/>
              </a:rPr>
              <a:t> this to your organisation</a:t>
            </a:r>
            <a:r>
              <a:rPr lang="en-GB" dirty="0">
                <a:effectLst/>
                <a:latin typeface="Poppins" panose="00000500000000000000" pitchFamily="2" charset="0"/>
                <a:ea typeface="Calibri" panose="020F0502020204030204" pitchFamily="34" charset="0"/>
                <a:cs typeface="Poppins" panose="00000500000000000000" pitchFamily="2" charset="0"/>
              </a:rPr>
              <a:t>. In other words, the questions make the toolkit actionable. You’ll see some examples of the questions on the next slide. </a:t>
            </a:r>
            <a:r>
              <a:rPr lang="en-GB" sz="1800" dirty="0">
                <a:effectLst/>
                <a:latin typeface="Poppins" panose="00000500000000000000" pitchFamily="2" charset="0"/>
                <a:ea typeface="Calibri" panose="020F0502020204030204" pitchFamily="34" charset="0"/>
                <a:cs typeface="Poppins" panose="00000500000000000000" pitchFamily="2" charset="0"/>
              </a:rPr>
              <a:t> </a:t>
            </a:r>
          </a:p>
          <a:p>
            <a:pPr>
              <a:lnSpc>
                <a:spcPct val="107000"/>
              </a:lnSpc>
              <a:spcAft>
                <a:spcPts val="800"/>
              </a:spcAft>
            </a:pPr>
            <a:r>
              <a:rPr lang="en-GB" dirty="0">
                <a:effectLst/>
                <a:latin typeface="Poppins" panose="00000500000000000000" pitchFamily="2" charset="0"/>
                <a:ea typeface="Calibri" panose="020F0502020204030204" pitchFamily="34" charset="0"/>
                <a:cs typeface="Poppins" panose="00000500000000000000" pitchFamily="2" charset="0"/>
              </a:rPr>
              <a:t>There is an important point about the questions, </a:t>
            </a:r>
            <a:r>
              <a:rPr lang="en-GB" b="1" dirty="0">
                <a:effectLst/>
                <a:latin typeface="Poppins" panose="00000500000000000000" pitchFamily="2" charset="0"/>
                <a:ea typeface="Calibri" panose="020F0502020204030204" pitchFamily="34" charset="0"/>
                <a:cs typeface="Poppins" panose="00000500000000000000" pitchFamily="2" charset="0"/>
              </a:rPr>
              <a:t>they don’t always have easy answers!</a:t>
            </a:r>
            <a:endParaRPr lang="en-GB" dirty="0">
              <a:effectLst/>
              <a:latin typeface="Poppins" panose="00000500000000000000" pitchFamily="2" charset="0"/>
              <a:ea typeface="Calibri" panose="020F0502020204030204" pitchFamily="34" charset="0"/>
              <a:cs typeface="Poppins" panose="00000500000000000000" pitchFamily="2" charset="0"/>
            </a:endParaRPr>
          </a:p>
          <a:p>
            <a:pPr>
              <a:lnSpc>
                <a:spcPct val="107000"/>
              </a:lnSpc>
              <a:spcAft>
                <a:spcPts val="800"/>
              </a:spcAft>
            </a:pPr>
            <a:r>
              <a:rPr lang="en-GB" dirty="0">
                <a:effectLst/>
                <a:latin typeface="Poppins" panose="00000500000000000000" pitchFamily="2" charset="0"/>
                <a:ea typeface="Calibri" panose="020F0502020204030204" pitchFamily="34" charset="0"/>
                <a:cs typeface="Poppins" panose="00000500000000000000" pitchFamily="2" charset="0"/>
              </a:rPr>
              <a:t>We’ve talked about how effective cyber security is about applying principles to your own organisation and making decisions in light of your own priorities. This means that we can’t give ‘right’ answers to each of the questions. What we </a:t>
            </a:r>
            <a:r>
              <a:rPr lang="en-GB" i="0" dirty="0">
                <a:effectLst/>
                <a:latin typeface="Poppins" panose="00000500000000000000" pitchFamily="2" charset="0"/>
                <a:ea typeface="Calibri" panose="020F0502020204030204" pitchFamily="34" charset="0"/>
                <a:cs typeface="Poppins" panose="00000500000000000000" pitchFamily="2" charset="0"/>
              </a:rPr>
              <a:t>can</a:t>
            </a:r>
            <a:r>
              <a:rPr lang="en-GB" dirty="0">
                <a:effectLst/>
                <a:latin typeface="Poppins" panose="00000500000000000000" pitchFamily="2" charset="0"/>
                <a:ea typeface="Calibri" panose="020F0502020204030204" pitchFamily="34" charset="0"/>
                <a:cs typeface="Poppins" panose="00000500000000000000" pitchFamily="2" charset="0"/>
              </a:rPr>
              <a:t> do is suggest a range of answers that you might expect to hear.</a:t>
            </a:r>
          </a:p>
          <a:p>
            <a:pPr>
              <a:lnSpc>
                <a:spcPct val="107000"/>
              </a:lnSpc>
              <a:spcAft>
                <a:spcPts val="800"/>
              </a:spcAft>
            </a:pPr>
            <a:r>
              <a:rPr lang="en-GB" dirty="0">
                <a:effectLst/>
                <a:latin typeface="Poppins" panose="00000500000000000000" pitchFamily="2" charset="0"/>
                <a:ea typeface="Calibri" panose="020F0502020204030204" pitchFamily="34" charset="0"/>
                <a:cs typeface="Poppins" panose="00000500000000000000" pitchFamily="2" charset="0"/>
              </a:rPr>
              <a:t>In fact, sometimes the ‘answers’ given are actually more like </a:t>
            </a:r>
            <a:r>
              <a:rPr lang="en-GB" i="1" dirty="0">
                <a:effectLst/>
                <a:latin typeface="Poppins" panose="00000500000000000000" pitchFamily="2" charset="0"/>
                <a:ea typeface="Calibri" panose="020F0502020204030204" pitchFamily="34" charset="0"/>
                <a:cs typeface="Poppins" panose="00000500000000000000" pitchFamily="2" charset="0"/>
              </a:rPr>
              <a:t>follow-on questions</a:t>
            </a:r>
            <a:r>
              <a:rPr lang="en-GB" dirty="0">
                <a:effectLst/>
                <a:latin typeface="Poppins" panose="00000500000000000000" pitchFamily="2" charset="0"/>
                <a:ea typeface="Calibri" panose="020F0502020204030204" pitchFamily="34" charset="0"/>
                <a:cs typeface="Poppins" panose="00000500000000000000" pitchFamily="2" charset="0"/>
              </a:rPr>
              <a:t>. This is because we know that the conversations the questions lead to are often as important as the answers. </a:t>
            </a:r>
          </a:p>
          <a:p>
            <a:pPr>
              <a:lnSpc>
                <a:spcPct val="107000"/>
              </a:lnSpc>
              <a:spcAft>
                <a:spcPts val="800"/>
              </a:spcAft>
            </a:pPr>
            <a:r>
              <a:rPr lang="en-GB" dirty="0">
                <a:effectLst/>
                <a:latin typeface="Calibri" panose="020F0502020204030204" pitchFamily="34" charset="0"/>
                <a:ea typeface="Calibri" panose="020F0502020204030204" pitchFamily="34" charset="0"/>
                <a:cs typeface="Times New Roman" panose="02020603050405020304" pitchFamily="18" charset="0"/>
              </a:rPr>
              <a:t> </a:t>
            </a:r>
          </a:p>
          <a:p>
            <a:endParaRPr lang="en-GB" dirty="0"/>
          </a:p>
        </p:txBody>
      </p:sp>
      <p:sp>
        <p:nvSpPr>
          <p:cNvPr id="4" name="Slide Number Placeholder 3"/>
          <p:cNvSpPr>
            <a:spLocks noGrp="1"/>
          </p:cNvSpPr>
          <p:nvPr>
            <p:ph type="sldNum" sz="quarter" idx="5"/>
          </p:nvPr>
        </p:nvSpPr>
        <p:spPr/>
        <p:txBody>
          <a:bodyPr/>
          <a:lstStyle/>
          <a:p>
            <a:fld id="{7F644FDF-E411-44D0-9482-7F7F6DB58F0D}" type="slidenum">
              <a:rPr lang="en-GB" smtClean="0"/>
              <a:t>9</a:t>
            </a:fld>
            <a:endParaRPr lang="en-GB"/>
          </a:p>
        </p:txBody>
      </p:sp>
    </p:spTree>
    <p:extLst>
      <p:ext uri="{BB962C8B-B14F-4D97-AF65-F5344CB8AC3E}">
        <p14:creationId xmlns:p14="http://schemas.microsoft.com/office/powerpoint/2010/main" val="24539909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252413"/>
            <a:ext cx="5486400" cy="3086100"/>
          </a:xfrm>
        </p:spPr>
      </p:sp>
      <p:sp>
        <p:nvSpPr>
          <p:cNvPr id="3" name="Notes Placeholder 2"/>
          <p:cNvSpPr>
            <a:spLocks noGrp="1"/>
          </p:cNvSpPr>
          <p:nvPr>
            <p:ph type="body" idx="1"/>
          </p:nvPr>
        </p:nvSpPr>
        <p:spPr>
          <a:xfrm>
            <a:off x="578841" y="3414319"/>
            <a:ext cx="5593360" cy="5729681"/>
          </a:xfrm>
        </p:spPr>
        <p:txBody>
          <a:bodyPr/>
          <a:lstStyle/>
          <a:p>
            <a:pPr>
              <a:lnSpc>
                <a:spcPct val="107000"/>
              </a:lnSpc>
              <a:spcAft>
                <a:spcPts val="800"/>
              </a:spcAft>
            </a:pPr>
            <a:r>
              <a:rPr lang="en-GB" dirty="0">
                <a:effectLst/>
                <a:latin typeface="Poppins" panose="00000500000000000000" pitchFamily="2" charset="0"/>
                <a:ea typeface="Calibri" panose="020F0502020204030204" pitchFamily="34" charset="0"/>
                <a:cs typeface="Poppins" panose="00000500000000000000" pitchFamily="2" charset="0"/>
              </a:rPr>
              <a:t>These are an example of the questions that are included in the board toolkit.</a:t>
            </a:r>
          </a:p>
          <a:p>
            <a:pPr>
              <a:lnSpc>
                <a:spcPct val="107000"/>
              </a:lnSpc>
              <a:spcAft>
                <a:spcPts val="800"/>
              </a:spcAft>
            </a:pPr>
            <a:endParaRPr lang="en-GB" dirty="0">
              <a:latin typeface="Poppins" panose="00000500000000000000" pitchFamily="2" charset="0"/>
              <a:cs typeface="Poppins" panose="00000500000000000000" pitchFamily="2" charset="0"/>
            </a:endParaRPr>
          </a:p>
          <a:p>
            <a:pPr>
              <a:lnSpc>
                <a:spcPct val="107000"/>
              </a:lnSpc>
              <a:spcAft>
                <a:spcPts val="800"/>
              </a:spcAft>
            </a:pPr>
            <a:r>
              <a:rPr lang="en-GB" dirty="0">
                <a:latin typeface="Poppins" panose="00000500000000000000" pitchFamily="2" charset="0"/>
                <a:ea typeface="Calibri" panose="020F0502020204030204" pitchFamily="34" charset="0"/>
                <a:cs typeface="Poppins" panose="00000500000000000000" pitchFamily="2" charset="0"/>
              </a:rPr>
              <a:t>These relate to the ninth and final module,</a:t>
            </a:r>
            <a:r>
              <a:rPr lang="en-GB" dirty="0">
                <a:effectLst/>
                <a:latin typeface="Poppins" panose="00000500000000000000" pitchFamily="2" charset="0"/>
                <a:ea typeface="Calibri" panose="020F0502020204030204" pitchFamily="34" charset="0"/>
                <a:cs typeface="Poppins" panose="00000500000000000000" pitchFamily="2" charset="0"/>
              </a:rPr>
              <a:t> ‘</a:t>
            </a:r>
            <a:r>
              <a:rPr lang="en-GB" i="1" dirty="0">
                <a:effectLst/>
                <a:latin typeface="Poppins" panose="00000500000000000000" pitchFamily="2" charset="0"/>
                <a:ea typeface="Calibri" panose="020F0502020204030204" pitchFamily="34" charset="0"/>
                <a:cs typeface="Poppins" panose="00000500000000000000" pitchFamily="2" charset="0"/>
              </a:rPr>
              <a:t>planning your response to cyber incidents’.</a:t>
            </a:r>
          </a:p>
          <a:p>
            <a:pPr>
              <a:lnSpc>
                <a:spcPct val="107000"/>
              </a:lnSpc>
              <a:spcAft>
                <a:spcPts val="800"/>
              </a:spcAft>
            </a:pPr>
            <a:endParaRPr lang="en-GB" i="1" dirty="0">
              <a:effectLst/>
              <a:latin typeface="Poppins" panose="00000500000000000000" pitchFamily="2" charset="0"/>
              <a:ea typeface="Calibri" panose="020F0502020204030204" pitchFamily="34" charset="0"/>
              <a:cs typeface="Poppins" panose="00000500000000000000" pitchFamily="2" charset="0"/>
            </a:endParaRPr>
          </a:p>
          <a:p>
            <a:pPr>
              <a:lnSpc>
                <a:spcPct val="107000"/>
              </a:lnSpc>
              <a:spcAft>
                <a:spcPts val="800"/>
              </a:spcAft>
            </a:pPr>
            <a:r>
              <a:rPr lang="en-GB" b="0" i="0" dirty="0">
                <a:solidFill>
                  <a:srgbClr val="172B4D"/>
                </a:solidFill>
                <a:effectLst/>
                <a:latin typeface="Poppins" panose="00000500000000000000" pitchFamily="2" charset="0"/>
                <a:cs typeface="Poppins" panose="00000500000000000000" pitchFamily="2" charset="0"/>
              </a:rPr>
              <a:t>Cyber security incidents can have a huge impact on an organisation in terms of cost, productivity, reputation and loss of customers. Being prepared to detect and quickly respond to incidents is paramount to prevent the attacker from inflicting further damage, reducing the financial and operational impact.</a:t>
            </a:r>
          </a:p>
          <a:p>
            <a:pPr>
              <a:lnSpc>
                <a:spcPct val="107000"/>
              </a:lnSpc>
              <a:spcAft>
                <a:spcPts val="800"/>
              </a:spcAft>
            </a:pPr>
            <a:endParaRPr lang="en-GB" b="0" i="0" dirty="0">
              <a:solidFill>
                <a:srgbClr val="172B4D"/>
              </a:solidFill>
              <a:effectLst/>
              <a:latin typeface="Poppins" panose="00000500000000000000" pitchFamily="2" charset="0"/>
              <a:cs typeface="Poppins" panose="00000500000000000000" pitchFamily="2" charset="0"/>
            </a:endParaRPr>
          </a:p>
          <a:p>
            <a:pPr>
              <a:lnSpc>
                <a:spcPct val="107000"/>
              </a:lnSpc>
              <a:spcAft>
                <a:spcPts val="800"/>
              </a:spcAft>
            </a:pPr>
            <a:r>
              <a:rPr lang="en-GB" sz="1200" dirty="0">
                <a:effectLst/>
                <a:latin typeface="Poppins" panose="00000500000000000000" pitchFamily="2" charset="0"/>
                <a:ea typeface="Calibri" panose="020F0502020204030204" pitchFamily="34" charset="0"/>
                <a:cs typeface="Poppins" panose="00000500000000000000" pitchFamily="2" charset="0"/>
              </a:rPr>
              <a:t>When thinking about planning your response to cyber incidents: </a:t>
            </a:r>
          </a:p>
          <a:p>
            <a:pPr>
              <a:lnSpc>
                <a:spcPct val="107000"/>
              </a:lnSpc>
              <a:spcAft>
                <a:spcPts val="800"/>
              </a:spcAft>
            </a:pPr>
            <a:endParaRPr lang="en-GB" sz="1200" dirty="0">
              <a:effectLst/>
              <a:latin typeface="Poppins" panose="00000500000000000000" pitchFamily="2" charset="0"/>
              <a:ea typeface="Calibri" panose="020F0502020204030204" pitchFamily="34" charset="0"/>
              <a:cs typeface="Poppins" panose="00000500000000000000" pitchFamily="2" charset="0"/>
            </a:endParaRPr>
          </a:p>
          <a:p>
            <a:pPr marL="628650" marR="0" lvl="1" indent="-171450" algn="l" defTabSz="914400" rtl="0" eaLnBrk="1" fontAlgn="auto" latinLnBrk="0" hangingPunct="1">
              <a:lnSpc>
                <a:spcPct val="107000"/>
              </a:lnSpc>
              <a:spcBef>
                <a:spcPts val="0"/>
              </a:spcBef>
              <a:spcAft>
                <a:spcPts val="800"/>
              </a:spcAft>
              <a:buClrTx/>
              <a:buSzTx/>
              <a:buFont typeface="Arial" panose="020B0604020202020204" pitchFamily="34" charset="0"/>
              <a:buChar char="•"/>
              <a:tabLst/>
              <a:defRPr/>
            </a:pPr>
            <a:r>
              <a:rPr lang="en-GB" sz="1200" dirty="0">
                <a:effectLst/>
                <a:latin typeface="Poppins" panose="00000500000000000000" pitchFamily="2" charset="0"/>
                <a:ea typeface="Calibri" panose="020F0502020204030204" pitchFamily="34" charset="0"/>
                <a:cs typeface="Poppins" panose="00000500000000000000" pitchFamily="2" charset="0"/>
              </a:rPr>
              <a:t>One of the issues we suggest board members will want to seek assurance on is that there is </a:t>
            </a:r>
            <a:r>
              <a:rPr lang="en-GB" sz="1200" b="1" i="0" dirty="0">
                <a:effectLst/>
                <a:latin typeface="Poppins" panose="00000500000000000000" pitchFamily="2" charset="0"/>
                <a:ea typeface="Calibri" panose="020F0502020204030204" pitchFamily="34" charset="0"/>
                <a:cs typeface="Poppins" panose="00000500000000000000" pitchFamily="2" charset="0"/>
              </a:rPr>
              <a:t>incident response plan in place </a:t>
            </a:r>
            <a:r>
              <a:rPr lang="en-GB" sz="1200" dirty="0">
                <a:effectLst/>
                <a:latin typeface="Poppins" panose="00000500000000000000" pitchFamily="2" charset="0"/>
                <a:ea typeface="Calibri" panose="020F0502020204030204" pitchFamily="34" charset="0"/>
                <a:cs typeface="Poppins" panose="00000500000000000000" pitchFamily="2" charset="0"/>
              </a:rPr>
              <a:t>and that it has been exercised. </a:t>
            </a:r>
            <a:r>
              <a:rPr lang="en-GB" b="0" i="0" dirty="0">
                <a:solidFill>
                  <a:srgbClr val="172B4D"/>
                </a:solidFill>
                <a:effectLst/>
                <a:latin typeface="Poppins" panose="00000500000000000000" pitchFamily="2" charset="0"/>
                <a:cs typeface="Poppins" panose="00000500000000000000" pitchFamily="2" charset="0"/>
              </a:rPr>
              <a:t>The board should expect to see reporting on the exercise conducted and lessons learned</a:t>
            </a:r>
            <a:r>
              <a:rPr lang="en-GB" sz="1200" dirty="0">
                <a:effectLst/>
                <a:latin typeface="Poppins" panose="00000500000000000000" pitchFamily="2" charset="0"/>
                <a:ea typeface="Calibri" panose="020F0502020204030204" pitchFamily="34" charset="0"/>
                <a:cs typeface="Poppins" panose="00000500000000000000" pitchFamily="2" charset="0"/>
              </a:rPr>
              <a:t>.</a:t>
            </a:r>
          </a:p>
          <a:p>
            <a:pPr lvl="1">
              <a:lnSpc>
                <a:spcPct val="107000"/>
              </a:lnSpc>
              <a:spcAft>
                <a:spcPts val="800"/>
              </a:spcAft>
            </a:pPr>
            <a:endParaRPr lang="en-GB" sz="1200" b="1" dirty="0">
              <a:effectLst/>
              <a:latin typeface="Poppins" panose="00000500000000000000" pitchFamily="2" charset="0"/>
              <a:ea typeface="Calibri" panose="020F0502020204030204" pitchFamily="34" charset="0"/>
              <a:cs typeface="Poppins" panose="00000500000000000000" pitchFamily="2" charset="0"/>
            </a:endParaRPr>
          </a:p>
          <a:p>
            <a:pPr marL="628650" lvl="1" indent="-171450">
              <a:lnSpc>
                <a:spcPct val="107000"/>
              </a:lnSpc>
              <a:spcAft>
                <a:spcPts val="800"/>
              </a:spcAft>
              <a:buFont typeface="Arial" panose="020B0604020202020204" pitchFamily="34" charset="0"/>
              <a:buChar char="•"/>
            </a:pPr>
            <a:r>
              <a:rPr lang="en-GB" sz="1200" b="0" dirty="0">
                <a:effectLst/>
                <a:latin typeface="Poppins" panose="00000500000000000000" pitchFamily="2" charset="0"/>
                <a:ea typeface="Calibri" panose="020F0502020204030204" pitchFamily="34" charset="0"/>
                <a:cs typeface="Poppins" panose="00000500000000000000" pitchFamily="2" charset="0"/>
              </a:rPr>
              <a:t>Board members </a:t>
            </a:r>
            <a:r>
              <a:rPr lang="en-GB" sz="1200" dirty="0">
                <a:effectLst/>
                <a:latin typeface="Poppins" panose="00000500000000000000" pitchFamily="2" charset="0"/>
                <a:ea typeface="Calibri" panose="020F0502020204030204" pitchFamily="34" charset="0"/>
                <a:cs typeface="Poppins" panose="00000500000000000000" pitchFamily="2" charset="0"/>
              </a:rPr>
              <a:t>must also consider their own responsibility, whether </a:t>
            </a:r>
            <a:r>
              <a:rPr lang="en-GB" sz="1200" b="1" dirty="0">
                <a:effectLst/>
                <a:latin typeface="Poppins" panose="00000500000000000000" pitchFamily="2" charset="0"/>
                <a:ea typeface="Calibri" panose="020F0502020204030204" pitchFamily="34" charset="0"/>
                <a:cs typeface="Poppins" panose="00000500000000000000" pitchFamily="2" charset="0"/>
              </a:rPr>
              <a:t>they understand their </a:t>
            </a:r>
            <a:r>
              <a:rPr lang="en-GB" sz="1200" b="1" i="0" dirty="0">
                <a:effectLst/>
                <a:latin typeface="Poppins" panose="00000500000000000000" pitchFamily="2" charset="0"/>
                <a:ea typeface="Calibri" panose="020F0502020204030204" pitchFamily="34" charset="0"/>
                <a:cs typeface="Poppins" panose="00000500000000000000" pitchFamily="2" charset="0"/>
              </a:rPr>
              <a:t>personal</a:t>
            </a:r>
            <a:r>
              <a:rPr lang="en-GB" sz="1200" b="1" dirty="0">
                <a:effectLst/>
                <a:latin typeface="Poppins" panose="00000500000000000000" pitchFamily="2" charset="0"/>
                <a:ea typeface="Calibri" panose="020F0502020204030204" pitchFamily="34" charset="0"/>
                <a:cs typeface="Poppins" panose="00000500000000000000" pitchFamily="2" charset="0"/>
              </a:rPr>
              <a:t> role in an incident </a:t>
            </a:r>
            <a:r>
              <a:rPr lang="en-GB" sz="1200" dirty="0">
                <a:effectLst/>
                <a:latin typeface="Poppins" panose="00000500000000000000" pitchFamily="2" charset="0"/>
                <a:ea typeface="Calibri" panose="020F0502020204030204" pitchFamily="34" charset="0"/>
                <a:cs typeface="Poppins" panose="00000500000000000000" pitchFamily="2" charset="0"/>
              </a:rPr>
              <a:t>and whether they’ve had training to support them </a:t>
            </a:r>
            <a:r>
              <a:rPr lang="en-GB" b="0" i="0" dirty="0">
                <a:solidFill>
                  <a:srgbClr val="172B4D"/>
                </a:solidFill>
                <a:effectLst/>
                <a:latin typeface="Poppins" panose="00000500000000000000" pitchFamily="2" charset="0"/>
                <a:cs typeface="Poppins" panose="00000500000000000000" pitchFamily="2" charset="0"/>
              </a:rPr>
              <a:t>to make decisions potentially out of hours, and under time pressures.</a:t>
            </a:r>
          </a:p>
          <a:p>
            <a:pPr marL="457200" lvl="1" indent="0">
              <a:lnSpc>
                <a:spcPct val="107000"/>
              </a:lnSpc>
              <a:spcAft>
                <a:spcPts val="800"/>
              </a:spcAft>
              <a:buFont typeface="Arial" panose="020B0604020202020204" pitchFamily="34" charset="0"/>
              <a:buNone/>
            </a:pPr>
            <a:endParaRPr lang="en-GB" b="0" i="0" dirty="0">
              <a:solidFill>
                <a:srgbClr val="172B4D"/>
              </a:solidFill>
              <a:effectLst/>
              <a:latin typeface="Poppins" panose="00000500000000000000" pitchFamily="2" charset="0"/>
              <a:cs typeface="Poppins" panose="00000500000000000000" pitchFamily="2" charset="0"/>
            </a:endParaRPr>
          </a:p>
          <a:p>
            <a:pPr marL="628650" lvl="1" indent="-171450" algn="l">
              <a:buFont typeface="Arial" panose="020B0604020202020204" pitchFamily="34" charset="0"/>
              <a:buChar char="•"/>
            </a:pPr>
            <a:r>
              <a:rPr lang="en-GB" b="0" i="0" dirty="0">
                <a:solidFill>
                  <a:srgbClr val="172B4D"/>
                </a:solidFill>
                <a:effectLst/>
                <a:latin typeface="Poppins" panose="00000500000000000000" pitchFamily="2" charset="0"/>
                <a:cs typeface="Poppins" panose="00000500000000000000" pitchFamily="2" charset="0"/>
              </a:rPr>
              <a:t>A ransomware attack could compromise the availability of assets in a similar way to a fire, flood, or theft, and recovery in all these cases will depend on some combination of contingency plans, alternative sites, and backup systems.</a:t>
            </a:r>
          </a:p>
          <a:p>
            <a:pPr marL="628650" lvl="1" indent="-171450" algn="l">
              <a:buFont typeface="Arial" panose="020B0604020202020204" pitchFamily="34" charset="0"/>
              <a:buChar char="•"/>
            </a:pPr>
            <a:r>
              <a:rPr lang="en-GB" b="0" i="0" dirty="0">
                <a:solidFill>
                  <a:srgbClr val="172B4D"/>
                </a:solidFill>
                <a:effectLst/>
                <a:latin typeface="Poppins" panose="00000500000000000000" pitchFamily="2" charset="0"/>
                <a:cs typeface="Poppins" panose="00000500000000000000" pitchFamily="2" charset="0"/>
              </a:rPr>
              <a:t>An incident response plan covers the immediate response to a cyber-attack:</a:t>
            </a:r>
          </a:p>
          <a:p>
            <a:pPr lvl="1" algn="l">
              <a:buFont typeface="Arial" panose="020B0604020202020204" pitchFamily="34" charset="0"/>
              <a:buNone/>
            </a:pPr>
            <a:r>
              <a:rPr lang="en-GB" b="0" i="0" dirty="0">
                <a:solidFill>
                  <a:srgbClr val="172B4D"/>
                </a:solidFill>
                <a:effectLst/>
                <a:latin typeface="Poppins" panose="00000500000000000000" pitchFamily="2" charset="0"/>
                <a:cs typeface="Poppins" panose="00000500000000000000" pitchFamily="2" charset="0"/>
              </a:rPr>
              <a:t>	a BCP addresses how your organisation will continue to operate</a:t>
            </a:r>
          </a:p>
          <a:p>
            <a:pPr lvl="3" algn="l">
              <a:buFont typeface="Arial" panose="020B0604020202020204" pitchFamily="34" charset="0"/>
              <a:buNone/>
            </a:pPr>
            <a:r>
              <a:rPr lang="en-GB" b="0" i="0" dirty="0">
                <a:solidFill>
                  <a:srgbClr val="172B4D"/>
                </a:solidFill>
                <a:effectLst/>
                <a:latin typeface="Poppins" panose="00000500000000000000" pitchFamily="2" charset="0"/>
                <a:cs typeface="Poppins" panose="00000500000000000000" pitchFamily="2" charset="0"/>
              </a:rPr>
              <a:t>a DR plan details how your organisation will get systems up-and-running</a:t>
            </a:r>
          </a:p>
          <a:p>
            <a:pPr marL="628650" lvl="1" indent="-171450" algn="l">
              <a:buFont typeface="Arial" panose="020B0604020202020204" pitchFamily="34" charset="0"/>
              <a:buChar char="•"/>
            </a:pPr>
            <a:r>
              <a:rPr lang="en-GB" sz="1200" dirty="0">
                <a:effectLst/>
                <a:latin typeface="Poppins" panose="00000500000000000000" pitchFamily="2" charset="0"/>
                <a:ea typeface="Calibri" panose="020F0502020204030204" pitchFamily="34" charset="0"/>
                <a:cs typeface="Poppins" panose="00000500000000000000" pitchFamily="2" charset="0"/>
              </a:rPr>
              <a:t>It’s important to know where to go to in the event of an incident. That may be </a:t>
            </a:r>
            <a:r>
              <a:rPr lang="en-GB" b="0" i="0" u="sng" dirty="0">
                <a:effectLst/>
                <a:latin typeface="Poppins" panose="00000500000000000000" pitchFamily="2" charset="0"/>
                <a:cs typeface="Poppins" panose="00000500000000000000" pitchFamily="2" charset="0"/>
                <a:hlinkClick r:id="rId3" tooltip="https://www.ncsc.gov.uk/information/cyber-incidents"/>
              </a:rPr>
              <a:t>NCSC Certified Incident Response companies</a:t>
            </a:r>
            <a:r>
              <a:rPr lang="en-GB" b="0" i="0" u="sng" dirty="0">
                <a:solidFill>
                  <a:srgbClr val="172B4D"/>
                </a:solidFill>
                <a:effectLst/>
                <a:latin typeface="Poppins" panose="00000500000000000000" pitchFamily="2" charset="0"/>
                <a:cs typeface="Poppins" panose="00000500000000000000" pitchFamily="2" charset="0"/>
              </a:rPr>
              <a:t>, the </a:t>
            </a:r>
            <a:r>
              <a:rPr lang="en-GB" b="0" i="0" u="none" strike="noStrike" dirty="0">
                <a:effectLst/>
                <a:latin typeface="Poppins" panose="00000500000000000000" pitchFamily="2" charset="0"/>
                <a:cs typeface="Poppins" panose="00000500000000000000" pitchFamily="2" charset="0"/>
                <a:hlinkClick r:id="rId3" tooltip="https://www.ncsc.gov.uk/information/cyber-incidents"/>
              </a:rPr>
              <a:t>NCSC Incident Management team</a:t>
            </a:r>
            <a:r>
              <a:rPr lang="en-GB" b="0" i="0" dirty="0">
                <a:solidFill>
                  <a:srgbClr val="172B4D"/>
                </a:solidFill>
                <a:effectLst/>
                <a:latin typeface="Poppins" panose="00000500000000000000" pitchFamily="2" charset="0"/>
                <a:cs typeface="Poppins" panose="00000500000000000000" pitchFamily="2" charset="0"/>
              </a:rPr>
              <a:t>, or if you believe you have been the victim of online fraud, via </a:t>
            </a:r>
            <a:r>
              <a:rPr lang="en-GB" b="0" i="0" u="none" strike="noStrike" dirty="0" err="1">
                <a:effectLst/>
                <a:latin typeface="Poppins" panose="00000500000000000000" pitchFamily="2" charset="0"/>
                <a:cs typeface="Poppins" panose="00000500000000000000" pitchFamily="2" charset="0"/>
                <a:hlinkClick r:id="rId4" tooltip="https://www.actionfraud.police.uk/"/>
              </a:rPr>
              <a:t>ActionFraud</a:t>
            </a:r>
            <a:r>
              <a:rPr lang="en-GB" b="0" i="0" dirty="0">
                <a:solidFill>
                  <a:srgbClr val="172B4D"/>
                </a:solidFill>
                <a:effectLst/>
                <a:latin typeface="Poppins" panose="00000500000000000000" pitchFamily="2" charset="0"/>
                <a:cs typeface="Poppins" panose="00000500000000000000" pitchFamily="2" charset="0"/>
              </a:rPr>
              <a:t>.</a:t>
            </a:r>
            <a:endParaRPr lang="en-GB" dirty="0">
              <a:latin typeface="Poppins" panose="00000500000000000000" pitchFamily="2" charset="0"/>
              <a:cs typeface="Poppins" panose="00000500000000000000" pitchFamily="2" charset="0"/>
            </a:endParaRPr>
          </a:p>
        </p:txBody>
      </p:sp>
      <p:sp>
        <p:nvSpPr>
          <p:cNvPr id="4" name="Slide Number Placeholder 3"/>
          <p:cNvSpPr>
            <a:spLocks noGrp="1"/>
          </p:cNvSpPr>
          <p:nvPr>
            <p:ph type="sldNum" sz="quarter" idx="5"/>
          </p:nvPr>
        </p:nvSpPr>
        <p:spPr/>
        <p:txBody>
          <a:bodyPr/>
          <a:lstStyle/>
          <a:p>
            <a:fld id="{7F644FDF-E411-44D0-9482-7F7F6DB58F0D}" type="slidenum">
              <a:rPr lang="en-GB" smtClean="0"/>
              <a:t>10</a:t>
            </a:fld>
            <a:endParaRPr lang="en-GB"/>
          </a:p>
        </p:txBody>
      </p:sp>
    </p:spTree>
    <p:extLst>
      <p:ext uri="{BB962C8B-B14F-4D97-AF65-F5344CB8AC3E}">
        <p14:creationId xmlns:p14="http://schemas.microsoft.com/office/powerpoint/2010/main" val="16819839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252413"/>
            <a:ext cx="5486400" cy="3086100"/>
          </a:xfrm>
        </p:spPr>
      </p:sp>
      <p:sp>
        <p:nvSpPr>
          <p:cNvPr id="3" name="Notes Placeholder 2"/>
          <p:cNvSpPr>
            <a:spLocks noGrp="1"/>
          </p:cNvSpPr>
          <p:nvPr>
            <p:ph type="body" idx="1"/>
          </p:nvPr>
        </p:nvSpPr>
        <p:spPr>
          <a:xfrm>
            <a:off x="578841" y="3414319"/>
            <a:ext cx="5593360" cy="5729681"/>
          </a:xfrm>
        </p:spPr>
        <p:txBody>
          <a:bodyPr/>
          <a:lstStyle/>
          <a:p>
            <a:pPr>
              <a:lnSpc>
                <a:spcPct val="107000"/>
              </a:lnSpc>
              <a:spcAft>
                <a:spcPts val="800"/>
              </a:spcAft>
            </a:pPr>
            <a:r>
              <a:rPr lang="en-GB" dirty="0">
                <a:effectLst/>
                <a:latin typeface="Poppins" panose="00000500000000000000" pitchFamily="2" charset="0"/>
                <a:ea typeface="Times New Roman" panose="02020603050405020304" pitchFamily="18" charset="0"/>
                <a:cs typeface="Poppins" panose="00000500000000000000" pitchFamily="2" charset="0"/>
              </a:rPr>
              <a:t>You’ll have got the sense that there’s a lot of information in the toolkit and a lot of questions the board members might want to ask in due course, so what’s the best way to get started?  </a:t>
            </a:r>
            <a:endParaRPr lang="en-GB" dirty="0">
              <a:effectLst/>
              <a:latin typeface="Poppins" panose="00000500000000000000" pitchFamily="2" charset="0"/>
              <a:ea typeface="Calibri" panose="020F0502020204030204" pitchFamily="34" charset="0"/>
              <a:cs typeface="Poppins" panose="00000500000000000000" pitchFamily="2" charset="0"/>
            </a:endParaRPr>
          </a:p>
          <a:p>
            <a:pPr>
              <a:lnSpc>
                <a:spcPct val="107000"/>
              </a:lnSpc>
              <a:spcAft>
                <a:spcPts val="800"/>
              </a:spcAft>
            </a:pPr>
            <a:r>
              <a:rPr lang="en-GB" dirty="0">
                <a:effectLst/>
                <a:latin typeface="Poppins" panose="00000500000000000000" pitchFamily="2" charset="0"/>
                <a:ea typeface="Times New Roman" panose="02020603050405020304" pitchFamily="18" charset="0"/>
                <a:cs typeface="Poppins" panose="00000500000000000000" pitchFamily="2" charset="0"/>
              </a:rPr>
              <a:t>Here are a few examples of how the toolkit has been used so far.</a:t>
            </a:r>
            <a:r>
              <a:rPr lang="en-GB" kern="1200" dirty="0">
                <a:solidFill>
                  <a:srgbClr val="FFFFFF"/>
                </a:solidFill>
                <a:effectLst/>
                <a:latin typeface="Poppins" panose="00000500000000000000" pitchFamily="2" charset="0"/>
                <a:ea typeface="Times New Roman" panose="02020603050405020304" pitchFamily="18" charset="0"/>
                <a:cs typeface="Poppins" panose="00000500000000000000" pitchFamily="2" charset="0"/>
              </a:rPr>
              <a:t> </a:t>
            </a:r>
            <a:endParaRPr lang="en-GB" dirty="0">
              <a:effectLst/>
              <a:latin typeface="Poppins" panose="00000500000000000000" pitchFamily="2" charset="0"/>
              <a:ea typeface="Calibri" panose="020F0502020204030204" pitchFamily="34" charset="0"/>
              <a:cs typeface="Poppins" panose="00000500000000000000" pitchFamily="2" charset="0"/>
            </a:endParaRPr>
          </a:p>
          <a:p>
            <a:r>
              <a:rPr lang="en-GB" b="1" dirty="0">
                <a:solidFill>
                  <a:srgbClr val="000000"/>
                </a:solidFill>
                <a:effectLst/>
                <a:latin typeface="Poppins" panose="00000500000000000000" pitchFamily="2" charset="0"/>
                <a:ea typeface="Calibri" panose="020F0502020204030204" pitchFamily="34" charset="0"/>
                <a:cs typeface="Poppins" panose="00000500000000000000" pitchFamily="2" charset="0"/>
              </a:rPr>
              <a:t>1. As the</a:t>
            </a:r>
            <a:r>
              <a:rPr lang="en-GB" b="1" dirty="0">
                <a:effectLst/>
                <a:latin typeface="Poppins" panose="00000500000000000000" pitchFamily="2" charset="0"/>
                <a:ea typeface="Calibri" panose="020F0502020204030204" pitchFamily="34" charset="0"/>
                <a:cs typeface="Poppins" panose="00000500000000000000" pitchFamily="2" charset="0"/>
              </a:rPr>
              <a:t> basis for a ‘deep dive’ looking at two modules at a board away day </a:t>
            </a:r>
            <a:r>
              <a:rPr lang="en-GB" dirty="0">
                <a:effectLst/>
                <a:latin typeface="Poppins" panose="00000500000000000000" pitchFamily="2" charset="0"/>
                <a:ea typeface="Calibri" panose="020F0502020204030204" pitchFamily="34" charset="0"/>
                <a:cs typeface="Poppins" panose="00000500000000000000" pitchFamily="2" charset="0"/>
              </a:rPr>
              <a:t>with the </a:t>
            </a:r>
            <a:r>
              <a:rPr lang="en-GB" dirty="0">
                <a:latin typeface="Poppins" panose="00000500000000000000" pitchFamily="2" charset="0"/>
                <a:cs typeface="Poppins" panose="00000500000000000000" pitchFamily="2" charset="0"/>
              </a:rPr>
              <a:t>Deep Dive - We’ve seen Boards take two of the modules that they see as most pressing and use them as a basis for a Board 'away day' usually with a technical report by an expert that can be considered, then all the issues raised in that module discussed in the away day. ‘Briefing pack 3’ will help facilitate these discussions</a:t>
            </a:r>
          </a:p>
          <a:p>
            <a:endParaRPr lang="en-GB" dirty="0">
              <a:latin typeface="Poppins" panose="00000500000000000000" pitchFamily="2" charset="0"/>
              <a:cs typeface="Poppins" panose="00000500000000000000" pitchFamily="2" charset="0"/>
            </a:endParaRPr>
          </a:p>
          <a:p>
            <a:r>
              <a:rPr lang="en-GB" b="1" dirty="0">
                <a:latin typeface="Poppins" panose="00000500000000000000" pitchFamily="2" charset="0"/>
                <a:cs typeface="Poppins" panose="00000500000000000000" pitchFamily="2" charset="0"/>
              </a:rPr>
              <a:t>2. Starting point</a:t>
            </a:r>
            <a:r>
              <a:rPr lang="en-GB" dirty="0">
                <a:latin typeface="Poppins" panose="00000500000000000000" pitchFamily="2" charset="0"/>
                <a:cs typeface="Poppins" panose="00000500000000000000" pitchFamily="2" charset="0"/>
              </a:rPr>
              <a:t>: the key message from the toolkit is that board members </a:t>
            </a:r>
            <a:r>
              <a:rPr lang="en-GB" b="0" i="0" dirty="0">
                <a:solidFill>
                  <a:srgbClr val="172B4D"/>
                </a:solidFill>
                <a:effectLst/>
                <a:latin typeface="Poppins" panose="00000500000000000000" pitchFamily="2" charset="0"/>
                <a:cs typeface="Poppins" panose="00000500000000000000" pitchFamily="2" charset="0"/>
              </a:rPr>
              <a:t>are able discuss cyber security with key staff, and understand </a:t>
            </a:r>
            <a:r>
              <a:rPr lang="en-GB" dirty="0">
                <a:latin typeface="Poppins" panose="00000500000000000000" pitchFamily="2" charset="0"/>
                <a:cs typeface="Poppins" panose="00000500000000000000" pitchFamily="2" charset="0"/>
              </a:rPr>
              <a:t>the right questions to ask. The board toolkit supports the board by providing the questions to gain a good understanding of the cyber risk profile of the organisation.</a:t>
            </a:r>
          </a:p>
          <a:p>
            <a:endParaRPr lang="en-GB" dirty="0">
              <a:latin typeface="Poppins" panose="00000500000000000000" pitchFamily="2" charset="0"/>
              <a:cs typeface="Poppins" panose="00000500000000000000" pitchFamily="2" charset="0"/>
            </a:endParaRPr>
          </a:p>
          <a:p>
            <a:r>
              <a:rPr lang="en-GB" dirty="0">
                <a:latin typeface="Poppins" panose="00000500000000000000" pitchFamily="2" charset="0"/>
                <a:cs typeface="Poppins" panose="00000500000000000000" pitchFamily="2" charset="0"/>
              </a:rPr>
              <a:t>3. Some </a:t>
            </a:r>
            <a:r>
              <a:rPr lang="en-GB" b="1" dirty="0">
                <a:latin typeface="Poppins" panose="00000500000000000000" pitchFamily="2" charset="0"/>
                <a:cs typeface="Poppins" panose="00000500000000000000" pitchFamily="2" charset="0"/>
              </a:rPr>
              <a:t>organisations choose to collaborate</a:t>
            </a:r>
            <a:r>
              <a:rPr lang="en-GB" dirty="0">
                <a:latin typeface="Poppins" panose="00000500000000000000" pitchFamily="2" charset="0"/>
                <a:cs typeface="Poppins" panose="00000500000000000000" pitchFamily="2" charset="0"/>
              </a:rPr>
              <a:t> on cyber security despite being competitors.  We know that some trade bodies, have got members together to discuss ways different companies are meeting cyber security challenges so they are able to learn from each other. Good cyber security practice across a sector benefits everyone within in.</a:t>
            </a:r>
          </a:p>
          <a:p>
            <a:endParaRPr lang="en-GB" dirty="0">
              <a:latin typeface="Poppins" panose="00000500000000000000" pitchFamily="2" charset="0"/>
              <a:cs typeface="Poppins" panose="00000500000000000000" pitchFamily="2" charset="0"/>
            </a:endParaRPr>
          </a:p>
          <a:p>
            <a:r>
              <a:rPr lang="en-GB" dirty="0">
                <a:latin typeface="Poppins" panose="00000500000000000000" pitchFamily="2" charset="0"/>
                <a:cs typeface="Poppins" panose="00000500000000000000" pitchFamily="2" charset="0"/>
              </a:rPr>
              <a:t>4. Finally, we’ve had a number of internal auditors looking at the toolkit and selecting the questions they feel are most relevant. </a:t>
            </a:r>
          </a:p>
          <a:p>
            <a:endParaRPr lang="en-GB" dirty="0">
              <a:latin typeface="Poppins" panose="00000500000000000000" pitchFamily="2" charset="0"/>
              <a:cs typeface="Poppins" panose="00000500000000000000" pitchFamily="2" charset="0"/>
            </a:endParaRPr>
          </a:p>
          <a:p>
            <a:r>
              <a:rPr lang="en-GB" dirty="0">
                <a:latin typeface="Poppins" panose="00000500000000000000" pitchFamily="2" charset="0"/>
                <a:cs typeface="Poppins" panose="00000500000000000000" pitchFamily="2" charset="0"/>
              </a:rPr>
              <a:t>5. Please also see the bite sized videos of the board toolkit modules which will provide an insight into the role boards play in fostering the resilience of their organisation.</a:t>
            </a:r>
          </a:p>
          <a:p>
            <a:endParaRPr lang="en-GB" dirty="0"/>
          </a:p>
        </p:txBody>
      </p:sp>
      <p:sp>
        <p:nvSpPr>
          <p:cNvPr id="4" name="Slide Number Placeholder 3"/>
          <p:cNvSpPr>
            <a:spLocks noGrp="1"/>
          </p:cNvSpPr>
          <p:nvPr>
            <p:ph type="sldNum" sz="quarter" idx="5"/>
          </p:nvPr>
        </p:nvSpPr>
        <p:spPr/>
        <p:txBody>
          <a:bodyPr/>
          <a:lstStyle/>
          <a:p>
            <a:fld id="{7F644FDF-E411-44D0-9482-7F7F6DB58F0D}" type="slidenum">
              <a:rPr lang="en-GB" smtClean="0"/>
              <a:t>11</a:t>
            </a:fld>
            <a:endParaRPr lang="en-GB"/>
          </a:p>
        </p:txBody>
      </p:sp>
    </p:spTree>
    <p:extLst>
      <p:ext uri="{BB962C8B-B14F-4D97-AF65-F5344CB8AC3E}">
        <p14:creationId xmlns:p14="http://schemas.microsoft.com/office/powerpoint/2010/main" val="41347630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effectLst/>
                <a:latin typeface="Poppins" panose="00000500000000000000" pitchFamily="2" charset="0"/>
                <a:ea typeface="Times New Roman" panose="02020603050405020304" pitchFamily="18" charset="0"/>
                <a:cs typeface="Poppins" panose="00000500000000000000" pitchFamily="2" charset="0"/>
              </a:rPr>
              <a:t>This brings us to the end of this introduction to the Cyber Security Toolkit for Boards. Do take some time to explore the toolkit online and see the supporting resources we’ve got for it.</a:t>
            </a:r>
            <a:endParaRPr lang="en-GB" sz="1800" dirty="0">
              <a:effectLst/>
              <a:latin typeface="Poppins" panose="00000500000000000000" pitchFamily="2" charset="0"/>
              <a:ea typeface="Calibri" panose="020F0502020204030204" pitchFamily="34" charset="0"/>
              <a:cs typeface="Poppins" panose="00000500000000000000" pitchFamily="2" charset="0"/>
            </a:endParaRPr>
          </a:p>
          <a:p>
            <a:endParaRPr lang="en-GB" dirty="0"/>
          </a:p>
        </p:txBody>
      </p:sp>
      <p:sp>
        <p:nvSpPr>
          <p:cNvPr id="4" name="Slide Number Placeholder 3"/>
          <p:cNvSpPr>
            <a:spLocks noGrp="1"/>
          </p:cNvSpPr>
          <p:nvPr>
            <p:ph type="sldNum" sz="quarter" idx="5"/>
          </p:nvPr>
        </p:nvSpPr>
        <p:spPr/>
        <p:txBody>
          <a:bodyPr/>
          <a:lstStyle/>
          <a:p>
            <a:fld id="{7F644FDF-E411-44D0-9482-7F7F6DB58F0D}" type="slidenum">
              <a:rPr lang="en-GB" smtClean="0"/>
              <a:t>12</a:t>
            </a:fld>
            <a:endParaRPr lang="en-GB"/>
          </a:p>
        </p:txBody>
      </p:sp>
    </p:spTree>
    <p:extLst>
      <p:ext uri="{BB962C8B-B14F-4D97-AF65-F5344CB8AC3E}">
        <p14:creationId xmlns:p14="http://schemas.microsoft.com/office/powerpoint/2010/main" val="13309633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17" name="Picture 16" descr="A picture containing night sky&#10;&#10;Description automatically generated">
            <a:extLst>
              <a:ext uri="{FF2B5EF4-FFF2-40B4-BE49-F238E27FC236}">
                <a16:creationId xmlns:a16="http://schemas.microsoft.com/office/drawing/2014/main" id="{7BDD3417-07CD-498A-8572-E8BD8827D0D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7171" y="-309265"/>
            <a:ext cx="3797669" cy="1948283"/>
          </a:xfrm>
          <a:prstGeom prst="rect">
            <a:avLst/>
          </a:prstGeom>
        </p:spPr>
      </p:pic>
      <p:sp>
        <p:nvSpPr>
          <p:cNvPr id="22" name="Rectangle 21">
            <a:extLst>
              <a:ext uri="{FF2B5EF4-FFF2-40B4-BE49-F238E27FC236}">
                <a16:creationId xmlns:a16="http://schemas.microsoft.com/office/drawing/2014/main" id="{1524CBDD-1675-4E92-BC97-1BBB30FFF447}"/>
              </a:ext>
            </a:extLst>
          </p:cNvPr>
          <p:cNvSpPr/>
          <p:nvPr userDrawn="1"/>
        </p:nvSpPr>
        <p:spPr>
          <a:xfrm flipV="1">
            <a:off x="474663" y="1861170"/>
            <a:ext cx="11160124" cy="45719"/>
          </a:xfrm>
          <a:prstGeom prst="rect">
            <a:avLst/>
          </a:prstGeom>
          <a:solidFill>
            <a:srgbClr val="021D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 Placeholder 24">
            <a:extLst>
              <a:ext uri="{FF2B5EF4-FFF2-40B4-BE49-F238E27FC236}">
                <a16:creationId xmlns:a16="http://schemas.microsoft.com/office/drawing/2014/main" id="{9AACA347-A921-4450-B894-46339396D029}"/>
              </a:ext>
            </a:extLst>
          </p:cNvPr>
          <p:cNvSpPr>
            <a:spLocks noGrp="1"/>
          </p:cNvSpPr>
          <p:nvPr>
            <p:ph type="body" sz="quarter" idx="13"/>
          </p:nvPr>
        </p:nvSpPr>
        <p:spPr>
          <a:xfrm>
            <a:off x="474663" y="1389363"/>
            <a:ext cx="10367962" cy="517525"/>
          </a:xfrm>
        </p:spPr>
        <p:txBody>
          <a:bodyPr/>
          <a:lstStyle>
            <a:lvl1pPr marL="0" indent="0">
              <a:buNone/>
              <a:defRPr>
                <a:solidFill>
                  <a:srgbClr val="021D49"/>
                </a:solidFill>
                <a:latin typeface="Poppins SemiBold" panose="00000700000000000000" pitchFamily="2" charset="0"/>
                <a:cs typeface="Poppins SemiBold" panose="00000700000000000000" pitchFamily="2" charset="0"/>
              </a:defRPr>
            </a:lvl1pPr>
          </a:lstStyle>
          <a:p>
            <a:pPr lvl="0"/>
            <a:endParaRPr lang="en-GB"/>
          </a:p>
        </p:txBody>
      </p:sp>
      <p:pic>
        <p:nvPicPr>
          <p:cNvPr id="27" name="Graphic 26">
            <a:extLst>
              <a:ext uri="{FF2B5EF4-FFF2-40B4-BE49-F238E27FC236}">
                <a16:creationId xmlns:a16="http://schemas.microsoft.com/office/drawing/2014/main" id="{C5D56503-BD68-4381-A5C7-53F9E5606F3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177587" y="400903"/>
            <a:ext cx="457200" cy="457200"/>
          </a:xfrm>
          <a:prstGeom prst="rect">
            <a:avLst/>
          </a:prstGeom>
        </p:spPr>
      </p:pic>
      <p:cxnSp>
        <p:nvCxnSpPr>
          <p:cNvPr id="32" name="Straight Connector 31">
            <a:extLst>
              <a:ext uri="{FF2B5EF4-FFF2-40B4-BE49-F238E27FC236}">
                <a16:creationId xmlns:a16="http://schemas.microsoft.com/office/drawing/2014/main" id="{FD91CA65-B770-48F4-B66E-3C0752FF4CEF}"/>
              </a:ext>
            </a:extLst>
          </p:cNvPr>
          <p:cNvCxnSpPr/>
          <p:nvPr userDrawn="1"/>
        </p:nvCxnSpPr>
        <p:spPr>
          <a:xfrm>
            <a:off x="474663" y="6456305"/>
            <a:ext cx="11160124" cy="0"/>
          </a:xfrm>
          <a:prstGeom prst="line">
            <a:avLst/>
          </a:prstGeom>
          <a:ln>
            <a:solidFill>
              <a:srgbClr val="021D49"/>
            </a:solidFill>
          </a:ln>
        </p:spPr>
        <p:style>
          <a:lnRef idx="1">
            <a:schemeClr val="accent1"/>
          </a:lnRef>
          <a:fillRef idx="0">
            <a:schemeClr val="accent1"/>
          </a:fillRef>
          <a:effectRef idx="0">
            <a:schemeClr val="accent1"/>
          </a:effectRef>
          <a:fontRef idx="minor">
            <a:schemeClr val="tx1"/>
          </a:fontRef>
        </p:style>
      </p:cxnSp>
      <p:sp>
        <p:nvSpPr>
          <p:cNvPr id="48" name="Text Placeholder 47">
            <a:extLst>
              <a:ext uri="{FF2B5EF4-FFF2-40B4-BE49-F238E27FC236}">
                <a16:creationId xmlns:a16="http://schemas.microsoft.com/office/drawing/2014/main" id="{0740BED8-5823-4F7D-8521-1A67817EB271}"/>
              </a:ext>
            </a:extLst>
          </p:cNvPr>
          <p:cNvSpPr>
            <a:spLocks noGrp="1"/>
          </p:cNvSpPr>
          <p:nvPr>
            <p:ph type="body" sz="quarter" idx="15"/>
          </p:nvPr>
        </p:nvSpPr>
        <p:spPr>
          <a:xfrm>
            <a:off x="474663" y="2151063"/>
            <a:ext cx="5387975" cy="4137025"/>
          </a:xfrm>
        </p:spPr>
        <p:txBody>
          <a:bodyPr>
            <a:normAutofit/>
          </a:bodyPr>
          <a:lstStyle>
            <a:lvl1pPr>
              <a:defRPr sz="1600">
                <a:solidFill>
                  <a:srgbClr val="021D49"/>
                </a:solidFill>
                <a:latin typeface="Poppins Light" panose="00000400000000000000" pitchFamily="2" charset="0"/>
                <a:cs typeface="Poppins Light" panose="00000400000000000000" pitchFamily="2" charset="0"/>
              </a:defRPr>
            </a:lvl1pPr>
            <a:lvl2pPr>
              <a:defRPr sz="1400">
                <a:solidFill>
                  <a:srgbClr val="021D49"/>
                </a:solidFill>
                <a:latin typeface="Poppins Light" panose="00000400000000000000" pitchFamily="2" charset="0"/>
                <a:cs typeface="Poppins Light" panose="00000400000000000000" pitchFamily="2" charset="0"/>
              </a:defRPr>
            </a:lvl2pPr>
            <a:lvl3pPr>
              <a:defRPr sz="1200">
                <a:solidFill>
                  <a:srgbClr val="021D49"/>
                </a:solidFill>
                <a:latin typeface="Poppins Light" panose="00000400000000000000" pitchFamily="2" charset="0"/>
                <a:cs typeface="Poppins Light" panose="00000400000000000000" pitchFamily="2" charset="0"/>
              </a:defRPr>
            </a:lvl3pPr>
            <a:lvl4pPr>
              <a:defRPr sz="1100">
                <a:solidFill>
                  <a:srgbClr val="021D49"/>
                </a:solidFill>
                <a:latin typeface="Poppins Light" panose="00000400000000000000" pitchFamily="2" charset="0"/>
                <a:cs typeface="Poppins Light" panose="00000400000000000000" pitchFamily="2" charset="0"/>
              </a:defRPr>
            </a:lvl4pPr>
            <a:lvl5pPr>
              <a:defRPr sz="1100">
                <a:solidFill>
                  <a:srgbClr val="021D49"/>
                </a:solidFill>
                <a:latin typeface="Poppins Light" panose="00000400000000000000" pitchFamily="2" charset="0"/>
                <a:cs typeface="Poppins Light" panose="000004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44162918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17" name="Picture 16" descr="A picture containing night sky&#10;&#10;Description automatically generated">
            <a:extLst>
              <a:ext uri="{FF2B5EF4-FFF2-40B4-BE49-F238E27FC236}">
                <a16:creationId xmlns:a16="http://schemas.microsoft.com/office/drawing/2014/main" id="{7BDD3417-07CD-498A-8572-E8BD8827D0D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7171" y="-309265"/>
            <a:ext cx="3797669" cy="1948283"/>
          </a:xfrm>
          <a:prstGeom prst="rect">
            <a:avLst/>
          </a:prstGeom>
        </p:spPr>
      </p:pic>
      <p:sp>
        <p:nvSpPr>
          <p:cNvPr id="22" name="Rectangle 21">
            <a:extLst>
              <a:ext uri="{FF2B5EF4-FFF2-40B4-BE49-F238E27FC236}">
                <a16:creationId xmlns:a16="http://schemas.microsoft.com/office/drawing/2014/main" id="{1524CBDD-1675-4E92-BC97-1BBB30FFF447}"/>
              </a:ext>
            </a:extLst>
          </p:cNvPr>
          <p:cNvSpPr/>
          <p:nvPr userDrawn="1"/>
        </p:nvSpPr>
        <p:spPr>
          <a:xfrm flipV="1">
            <a:off x="474663" y="1861170"/>
            <a:ext cx="11160124" cy="45719"/>
          </a:xfrm>
          <a:prstGeom prst="rect">
            <a:avLst/>
          </a:prstGeom>
          <a:solidFill>
            <a:srgbClr val="021D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 Placeholder 24">
            <a:extLst>
              <a:ext uri="{FF2B5EF4-FFF2-40B4-BE49-F238E27FC236}">
                <a16:creationId xmlns:a16="http://schemas.microsoft.com/office/drawing/2014/main" id="{9AACA347-A921-4450-B894-46339396D029}"/>
              </a:ext>
            </a:extLst>
          </p:cNvPr>
          <p:cNvSpPr>
            <a:spLocks noGrp="1"/>
          </p:cNvSpPr>
          <p:nvPr>
            <p:ph type="body" sz="quarter" idx="13"/>
          </p:nvPr>
        </p:nvSpPr>
        <p:spPr>
          <a:xfrm>
            <a:off x="474663" y="1389363"/>
            <a:ext cx="10367962" cy="517525"/>
          </a:xfrm>
        </p:spPr>
        <p:txBody>
          <a:bodyPr/>
          <a:lstStyle>
            <a:lvl1pPr marL="0" indent="0">
              <a:buNone/>
              <a:defRPr>
                <a:solidFill>
                  <a:srgbClr val="021D49"/>
                </a:solidFill>
                <a:latin typeface="Poppins SemiBold" panose="00000700000000000000" pitchFamily="2" charset="0"/>
                <a:cs typeface="Poppins SemiBold" panose="00000700000000000000" pitchFamily="2" charset="0"/>
              </a:defRPr>
            </a:lvl1pPr>
          </a:lstStyle>
          <a:p>
            <a:pPr lvl="0"/>
            <a:endParaRPr lang="en-GB"/>
          </a:p>
        </p:txBody>
      </p:sp>
      <p:pic>
        <p:nvPicPr>
          <p:cNvPr id="27" name="Graphic 26">
            <a:extLst>
              <a:ext uri="{FF2B5EF4-FFF2-40B4-BE49-F238E27FC236}">
                <a16:creationId xmlns:a16="http://schemas.microsoft.com/office/drawing/2014/main" id="{C5D56503-BD68-4381-A5C7-53F9E5606F3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177587" y="400903"/>
            <a:ext cx="457200" cy="457200"/>
          </a:xfrm>
          <a:prstGeom prst="rect">
            <a:avLst/>
          </a:prstGeom>
        </p:spPr>
      </p:pic>
      <p:cxnSp>
        <p:nvCxnSpPr>
          <p:cNvPr id="32" name="Straight Connector 31">
            <a:extLst>
              <a:ext uri="{FF2B5EF4-FFF2-40B4-BE49-F238E27FC236}">
                <a16:creationId xmlns:a16="http://schemas.microsoft.com/office/drawing/2014/main" id="{FD91CA65-B770-48F4-B66E-3C0752FF4CEF}"/>
              </a:ext>
            </a:extLst>
          </p:cNvPr>
          <p:cNvCxnSpPr/>
          <p:nvPr userDrawn="1"/>
        </p:nvCxnSpPr>
        <p:spPr>
          <a:xfrm>
            <a:off x="474663" y="6456305"/>
            <a:ext cx="11160124" cy="0"/>
          </a:xfrm>
          <a:prstGeom prst="line">
            <a:avLst/>
          </a:prstGeom>
          <a:ln>
            <a:solidFill>
              <a:srgbClr val="021D49"/>
            </a:solidFill>
          </a:ln>
        </p:spPr>
        <p:style>
          <a:lnRef idx="1">
            <a:schemeClr val="accent1"/>
          </a:lnRef>
          <a:fillRef idx="0">
            <a:schemeClr val="accent1"/>
          </a:fillRef>
          <a:effectRef idx="0">
            <a:schemeClr val="accent1"/>
          </a:effectRef>
          <a:fontRef idx="minor">
            <a:schemeClr val="tx1"/>
          </a:fontRef>
        </p:style>
      </p:cxnSp>
      <p:sp>
        <p:nvSpPr>
          <p:cNvPr id="9" name="Text Placeholder 47">
            <a:extLst>
              <a:ext uri="{FF2B5EF4-FFF2-40B4-BE49-F238E27FC236}">
                <a16:creationId xmlns:a16="http://schemas.microsoft.com/office/drawing/2014/main" id="{76833870-02FD-4032-9C6B-CBAB696BFE3A}"/>
              </a:ext>
            </a:extLst>
          </p:cNvPr>
          <p:cNvSpPr>
            <a:spLocks noGrp="1"/>
          </p:cNvSpPr>
          <p:nvPr>
            <p:ph type="body" sz="quarter" idx="15"/>
          </p:nvPr>
        </p:nvSpPr>
        <p:spPr>
          <a:xfrm>
            <a:off x="474663" y="2151063"/>
            <a:ext cx="5387975" cy="4137025"/>
          </a:xfrm>
        </p:spPr>
        <p:txBody>
          <a:bodyPr>
            <a:normAutofit/>
          </a:bodyPr>
          <a:lstStyle>
            <a:lvl1pPr>
              <a:defRPr sz="1600">
                <a:solidFill>
                  <a:srgbClr val="021D49"/>
                </a:solidFill>
                <a:latin typeface="Poppins Light" panose="00000400000000000000" pitchFamily="2" charset="0"/>
                <a:cs typeface="Poppins Light" panose="00000400000000000000" pitchFamily="2" charset="0"/>
              </a:defRPr>
            </a:lvl1pPr>
            <a:lvl2pPr>
              <a:defRPr sz="1400">
                <a:solidFill>
                  <a:srgbClr val="021D49"/>
                </a:solidFill>
                <a:latin typeface="Poppins Light" panose="00000400000000000000" pitchFamily="2" charset="0"/>
                <a:cs typeface="Poppins Light" panose="00000400000000000000" pitchFamily="2" charset="0"/>
              </a:defRPr>
            </a:lvl2pPr>
            <a:lvl3pPr>
              <a:defRPr sz="1200">
                <a:solidFill>
                  <a:srgbClr val="021D49"/>
                </a:solidFill>
                <a:latin typeface="Poppins Light" panose="00000400000000000000" pitchFamily="2" charset="0"/>
                <a:cs typeface="Poppins Light" panose="00000400000000000000" pitchFamily="2" charset="0"/>
              </a:defRPr>
            </a:lvl3pPr>
            <a:lvl4pPr>
              <a:defRPr sz="1100">
                <a:solidFill>
                  <a:srgbClr val="021D49"/>
                </a:solidFill>
                <a:latin typeface="Poppins Light" panose="00000400000000000000" pitchFamily="2" charset="0"/>
                <a:cs typeface="Poppins Light" panose="00000400000000000000" pitchFamily="2" charset="0"/>
              </a:defRPr>
            </a:lvl4pPr>
            <a:lvl5pPr>
              <a:defRPr sz="1100">
                <a:solidFill>
                  <a:srgbClr val="021D49"/>
                </a:solidFill>
                <a:latin typeface="Poppins Light" panose="00000400000000000000" pitchFamily="2" charset="0"/>
                <a:cs typeface="Poppins Light" panose="000004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60595455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Layout">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23DECA6-93F0-4AA5-B976-6B871C393A0F}"/>
              </a:ext>
            </a:extLst>
          </p:cNvPr>
          <p:cNvSpPr/>
          <p:nvPr userDrawn="1"/>
        </p:nvSpPr>
        <p:spPr>
          <a:xfrm>
            <a:off x="0" y="0"/>
            <a:ext cx="12192000" cy="6858000"/>
          </a:xfrm>
          <a:prstGeom prst="rect">
            <a:avLst/>
          </a:prstGeom>
          <a:solidFill>
            <a:srgbClr val="021D4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0" name="Picture 19" descr="A picture containing text&#10;&#10;Description automatically generated">
            <a:extLst>
              <a:ext uri="{FF2B5EF4-FFF2-40B4-BE49-F238E27FC236}">
                <a16:creationId xmlns:a16="http://schemas.microsoft.com/office/drawing/2014/main" id="{9AC49D4A-3E6B-4CA7-9EDB-A8B52BCD603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3724" y="-307497"/>
            <a:ext cx="3794222" cy="1946515"/>
          </a:xfrm>
          <a:prstGeom prst="rect">
            <a:avLst/>
          </a:prstGeom>
        </p:spPr>
      </p:pic>
      <p:pic>
        <p:nvPicPr>
          <p:cNvPr id="21" name="Graphic 20">
            <a:extLst>
              <a:ext uri="{FF2B5EF4-FFF2-40B4-BE49-F238E27FC236}">
                <a16:creationId xmlns:a16="http://schemas.microsoft.com/office/drawing/2014/main" id="{C10327B9-D4F8-40E8-8589-BC1EB045DE49}"/>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177587" y="400903"/>
            <a:ext cx="457200" cy="457200"/>
          </a:xfrm>
          <a:prstGeom prst="rect">
            <a:avLst/>
          </a:prstGeom>
        </p:spPr>
      </p:pic>
      <p:sp>
        <p:nvSpPr>
          <p:cNvPr id="23" name="Rectangle 22">
            <a:extLst>
              <a:ext uri="{FF2B5EF4-FFF2-40B4-BE49-F238E27FC236}">
                <a16:creationId xmlns:a16="http://schemas.microsoft.com/office/drawing/2014/main" id="{3FB9DD12-DFFC-48C3-8D0D-494106D8DE23}"/>
              </a:ext>
            </a:extLst>
          </p:cNvPr>
          <p:cNvSpPr/>
          <p:nvPr userDrawn="1"/>
        </p:nvSpPr>
        <p:spPr>
          <a:xfrm flipV="1">
            <a:off x="474663" y="1861170"/>
            <a:ext cx="11160124"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4" name="Straight Connector 23">
            <a:extLst>
              <a:ext uri="{FF2B5EF4-FFF2-40B4-BE49-F238E27FC236}">
                <a16:creationId xmlns:a16="http://schemas.microsoft.com/office/drawing/2014/main" id="{9334B953-DE6E-43E6-99AD-CF6C4DDB8877}"/>
              </a:ext>
            </a:extLst>
          </p:cNvPr>
          <p:cNvCxnSpPr/>
          <p:nvPr userDrawn="1"/>
        </p:nvCxnSpPr>
        <p:spPr>
          <a:xfrm>
            <a:off x="474663" y="6456305"/>
            <a:ext cx="1116012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Text Placeholder 24">
            <a:extLst>
              <a:ext uri="{FF2B5EF4-FFF2-40B4-BE49-F238E27FC236}">
                <a16:creationId xmlns:a16="http://schemas.microsoft.com/office/drawing/2014/main" id="{8AAE0DCC-B8D6-4ECA-B96A-B95B76F09A25}"/>
              </a:ext>
            </a:extLst>
          </p:cNvPr>
          <p:cNvSpPr>
            <a:spLocks noGrp="1"/>
          </p:cNvSpPr>
          <p:nvPr>
            <p:ph type="body" sz="quarter" idx="13"/>
          </p:nvPr>
        </p:nvSpPr>
        <p:spPr>
          <a:xfrm>
            <a:off x="474663" y="1389363"/>
            <a:ext cx="10367962" cy="517525"/>
          </a:xfrm>
        </p:spPr>
        <p:txBody>
          <a:bodyPr/>
          <a:lstStyle>
            <a:lvl1pPr marL="0" indent="0">
              <a:buNone/>
              <a:defRPr>
                <a:solidFill>
                  <a:schemeClr val="bg1"/>
                </a:solidFill>
                <a:latin typeface="Poppins SemiBold" panose="00000700000000000000" pitchFamily="2" charset="0"/>
                <a:cs typeface="Poppins SemiBold" panose="00000700000000000000" pitchFamily="2" charset="0"/>
              </a:defRPr>
            </a:lvl1pPr>
          </a:lstStyle>
          <a:p>
            <a:pPr lvl="0"/>
            <a:endParaRPr lang="en-GB"/>
          </a:p>
        </p:txBody>
      </p:sp>
      <p:sp>
        <p:nvSpPr>
          <p:cNvPr id="27" name="Text Placeholder 47">
            <a:extLst>
              <a:ext uri="{FF2B5EF4-FFF2-40B4-BE49-F238E27FC236}">
                <a16:creationId xmlns:a16="http://schemas.microsoft.com/office/drawing/2014/main" id="{9DB97242-74C4-42D5-821A-6933CD1AA0F2}"/>
              </a:ext>
            </a:extLst>
          </p:cNvPr>
          <p:cNvSpPr>
            <a:spLocks noGrp="1"/>
          </p:cNvSpPr>
          <p:nvPr>
            <p:ph type="body" sz="quarter" idx="15"/>
          </p:nvPr>
        </p:nvSpPr>
        <p:spPr>
          <a:xfrm>
            <a:off x="474663" y="2151063"/>
            <a:ext cx="5387975" cy="4137025"/>
          </a:xfrm>
        </p:spPr>
        <p:txBody>
          <a:bodyPr>
            <a:normAutofit/>
          </a:bodyPr>
          <a:lstStyle>
            <a:lvl1pPr>
              <a:defRPr sz="1600">
                <a:solidFill>
                  <a:schemeClr val="bg1"/>
                </a:solidFill>
                <a:latin typeface="Poppins Light" panose="00000400000000000000" pitchFamily="2" charset="0"/>
                <a:cs typeface="Poppins Light" panose="00000400000000000000" pitchFamily="2" charset="0"/>
              </a:defRPr>
            </a:lvl1pPr>
            <a:lvl2pPr>
              <a:defRPr sz="1400">
                <a:solidFill>
                  <a:schemeClr val="bg1"/>
                </a:solidFill>
                <a:latin typeface="Poppins Light" panose="00000400000000000000" pitchFamily="2" charset="0"/>
                <a:cs typeface="Poppins Light" panose="00000400000000000000" pitchFamily="2" charset="0"/>
              </a:defRPr>
            </a:lvl2pPr>
            <a:lvl3pPr>
              <a:defRPr sz="1200">
                <a:solidFill>
                  <a:schemeClr val="bg1"/>
                </a:solidFill>
                <a:latin typeface="Poppins Light" panose="00000400000000000000" pitchFamily="2" charset="0"/>
                <a:cs typeface="Poppins Light" panose="00000400000000000000" pitchFamily="2" charset="0"/>
              </a:defRPr>
            </a:lvl3pPr>
            <a:lvl4pPr>
              <a:defRPr sz="1100">
                <a:solidFill>
                  <a:schemeClr val="bg1"/>
                </a:solidFill>
                <a:latin typeface="Poppins Light" panose="00000400000000000000" pitchFamily="2" charset="0"/>
                <a:cs typeface="Poppins Light" panose="00000400000000000000" pitchFamily="2" charset="0"/>
              </a:defRPr>
            </a:lvl4pPr>
            <a:lvl5pPr>
              <a:defRPr sz="1100">
                <a:solidFill>
                  <a:schemeClr val="bg1"/>
                </a:solidFill>
                <a:latin typeface="Poppins Light" panose="00000400000000000000" pitchFamily="2" charset="0"/>
                <a:cs typeface="Poppins Light" panose="000004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59509719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2591D45-C02B-4E5E-B10E-739D1B922684}"/>
              </a:ext>
            </a:extLst>
          </p:cNvPr>
          <p:cNvSpPr/>
          <p:nvPr userDrawn="1"/>
        </p:nvSpPr>
        <p:spPr>
          <a:xfrm>
            <a:off x="10571" y="0"/>
            <a:ext cx="12192000" cy="6858000"/>
          </a:xfrm>
          <a:prstGeom prst="rect">
            <a:avLst/>
          </a:prstGeom>
          <a:solidFill>
            <a:srgbClr val="021D4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descr="A picture containing text&#10;&#10;Description automatically generated">
            <a:extLst>
              <a:ext uri="{FF2B5EF4-FFF2-40B4-BE49-F238E27FC236}">
                <a16:creationId xmlns:a16="http://schemas.microsoft.com/office/drawing/2014/main" id="{CDA08EA9-2434-474B-A1F8-AB407FD81BE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3724" y="-307497"/>
            <a:ext cx="3794222" cy="1946515"/>
          </a:xfrm>
          <a:prstGeom prst="rect">
            <a:avLst/>
          </a:prstGeom>
        </p:spPr>
      </p:pic>
      <p:pic>
        <p:nvPicPr>
          <p:cNvPr id="44" name="Graphic 43">
            <a:extLst>
              <a:ext uri="{FF2B5EF4-FFF2-40B4-BE49-F238E27FC236}">
                <a16:creationId xmlns:a16="http://schemas.microsoft.com/office/drawing/2014/main" id="{AFCDDB79-00C7-404C-BCC5-E466CFA8CDD4}"/>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10020"/>
          <a:stretch/>
        </p:blipFill>
        <p:spPr>
          <a:xfrm>
            <a:off x="10571" y="1462037"/>
            <a:ext cx="11439891" cy="5921988"/>
          </a:xfrm>
          <a:prstGeom prst="rect">
            <a:avLst/>
          </a:prstGeom>
        </p:spPr>
      </p:pic>
    </p:spTree>
    <p:extLst>
      <p:ext uri="{BB962C8B-B14F-4D97-AF65-F5344CB8AC3E}">
        <p14:creationId xmlns:p14="http://schemas.microsoft.com/office/powerpoint/2010/main" val="111228873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4C2B0-B2DB-44DC-9E75-597989AD7B0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004797ED-8C4B-4040-93B6-90F939384A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57519834-AD24-4383-92AC-9DADB5755C61}"/>
              </a:ext>
            </a:extLst>
          </p:cNvPr>
          <p:cNvSpPr>
            <a:spLocks noGrp="1"/>
          </p:cNvSpPr>
          <p:nvPr>
            <p:ph type="dt" sz="half" idx="10"/>
          </p:nvPr>
        </p:nvSpPr>
        <p:spPr/>
        <p:txBody>
          <a:bodyPr/>
          <a:lstStyle/>
          <a:p>
            <a:fld id="{593DD1DA-E715-487A-A14C-F180D42656A9}" type="datetimeFigureOut">
              <a:rPr lang="en-GB" smtClean="0"/>
              <a:t>23/10/2023</a:t>
            </a:fld>
            <a:endParaRPr lang="en-GB"/>
          </a:p>
        </p:txBody>
      </p:sp>
      <p:sp>
        <p:nvSpPr>
          <p:cNvPr id="5" name="Footer Placeholder 4">
            <a:extLst>
              <a:ext uri="{FF2B5EF4-FFF2-40B4-BE49-F238E27FC236}">
                <a16:creationId xmlns:a16="http://schemas.microsoft.com/office/drawing/2014/main" id="{0650B624-4333-40CC-BEB7-70D2041D95D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960521A-FF05-4CD9-8798-FA42873020EC}"/>
              </a:ext>
            </a:extLst>
          </p:cNvPr>
          <p:cNvSpPr>
            <a:spLocks noGrp="1"/>
          </p:cNvSpPr>
          <p:nvPr>
            <p:ph type="sldNum" sz="quarter" idx="12"/>
          </p:nvPr>
        </p:nvSpPr>
        <p:spPr/>
        <p:txBody>
          <a:bodyPr/>
          <a:lstStyle/>
          <a:p>
            <a:fld id="{842B6A1C-F532-41C6-A81B-D7E61540464B}" type="slidenum">
              <a:rPr lang="en-GB" smtClean="0"/>
              <a:t>‹#›</a:t>
            </a:fld>
            <a:endParaRPr lang="en-GB"/>
          </a:p>
        </p:txBody>
      </p:sp>
    </p:spTree>
    <p:extLst>
      <p:ext uri="{BB962C8B-B14F-4D97-AF65-F5344CB8AC3E}">
        <p14:creationId xmlns:p14="http://schemas.microsoft.com/office/powerpoint/2010/main" val="176856593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3B3AC-C2BE-4902-854C-FB15C62402F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BACC49E-630D-4F62-A066-D6614B6CBD3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2737B73-66C0-4707-8A35-D0BCD5A0C109}"/>
              </a:ext>
            </a:extLst>
          </p:cNvPr>
          <p:cNvSpPr>
            <a:spLocks noGrp="1"/>
          </p:cNvSpPr>
          <p:nvPr>
            <p:ph type="dt" sz="half" idx="10"/>
          </p:nvPr>
        </p:nvSpPr>
        <p:spPr/>
        <p:txBody>
          <a:bodyPr/>
          <a:lstStyle/>
          <a:p>
            <a:fld id="{593DD1DA-E715-487A-A14C-F180D42656A9}" type="datetimeFigureOut">
              <a:rPr lang="en-GB" smtClean="0"/>
              <a:t>23/10/2023</a:t>
            </a:fld>
            <a:endParaRPr lang="en-GB"/>
          </a:p>
        </p:txBody>
      </p:sp>
      <p:sp>
        <p:nvSpPr>
          <p:cNvPr id="5" name="Footer Placeholder 4">
            <a:extLst>
              <a:ext uri="{FF2B5EF4-FFF2-40B4-BE49-F238E27FC236}">
                <a16:creationId xmlns:a16="http://schemas.microsoft.com/office/drawing/2014/main" id="{F84AFCB0-A96E-4041-84C9-A1570D008CB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43EFF36-B7E9-4CEF-8370-662CC9CFCEFB}"/>
              </a:ext>
            </a:extLst>
          </p:cNvPr>
          <p:cNvSpPr>
            <a:spLocks noGrp="1"/>
          </p:cNvSpPr>
          <p:nvPr>
            <p:ph type="sldNum" sz="quarter" idx="12"/>
          </p:nvPr>
        </p:nvSpPr>
        <p:spPr/>
        <p:txBody>
          <a:bodyPr/>
          <a:lstStyle/>
          <a:p>
            <a:fld id="{842B6A1C-F532-41C6-A81B-D7E61540464B}" type="slidenum">
              <a:rPr lang="en-GB" smtClean="0"/>
              <a:t>‹#›</a:t>
            </a:fld>
            <a:endParaRPr lang="en-GB"/>
          </a:p>
        </p:txBody>
      </p:sp>
    </p:spTree>
    <p:extLst>
      <p:ext uri="{BB962C8B-B14F-4D97-AF65-F5344CB8AC3E}">
        <p14:creationId xmlns:p14="http://schemas.microsoft.com/office/powerpoint/2010/main" val="238474692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EA6DA-5AC3-4D08-AC83-D3BC1B1A2A4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BFC15F83-B840-429F-9FEF-B59805880A7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BA6542D-D17F-4C22-BCA7-7F9F15145A9F}"/>
              </a:ext>
            </a:extLst>
          </p:cNvPr>
          <p:cNvSpPr>
            <a:spLocks noGrp="1"/>
          </p:cNvSpPr>
          <p:nvPr>
            <p:ph type="dt" sz="half" idx="10"/>
          </p:nvPr>
        </p:nvSpPr>
        <p:spPr/>
        <p:txBody>
          <a:bodyPr/>
          <a:lstStyle/>
          <a:p>
            <a:fld id="{593DD1DA-E715-487A-A14C-F180D42656A9}" type="datetimeFigureOut">
              <a:rPr lang="en-GB" smtClean="0"/>
              <a:t>23/10/2023</a:t>
            </a:fld>
            <a:endParaRPr lang="en-GB"/>
          </a:p>
        </p:txBody>
      </p:sp>
      <p:sp>
        <p:nvSpPr>
          <p:cNvPr id="5" name="Footer Placeholder 4">
            <a:extLst>
              <a:ext uri="{FF2B5EF4-FFF2-40B4-BE49-F238E27FC236}">
                <a16:creationId xmlns:a16="http://schemas.microsoft.com/office/drawing/2014/main" id="{8D8320F3-A3D3-4DDE-9209-84F93C37B7E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45D398E-8A6C-46E7-B97E-669990773B1A}"/>
              </a:ext>
            </a:extLst>
          </p:cNvPr>
          <p:cNvSpPr>
            <a:spLocks noGrp="1"/>
          </p:cNvSpPr>
          <p:nvPr>
            <p:ph type="sldNum" sz="quarter" idx="12"/>
          </p:nvPr>
        </p:nvSpPr>
        <p:spPr/>
        <p:txBody>
          <a:bodyPr/>
          <a:lstStyle/>
          <a:p>
            <a:fld id="{842B6A1C-F532-41C6-A81B-D7E61540464B}" type="slidenum">
              <a:rPr lang="en-GB" smtClean="0"/>
              <a:t>‹#›</a:t>
            </a:fld>
            <a:endParaRPr lang="en-GB"/>
          </a:p>
        </p:txBody>
      </p:sp>
    </p:spTree>
    <p:extLst>
      <p:ext uri="{BB962C8B-B14F-4D97-AF65-F5344CB8AC3E}">
        <p14:creationId xmlns:p14="http://schemas.microsoft.com/office/powerpoint/2010/main" val="157881809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A411F-35C1-4BCE-9D29-3C662E98B53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293A907-BCF2-4506-9671-6F057093A58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5E908964-B06D-450E-B564-06C1C4F66A4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05EC6DE9-F113-474C-B420-0592F47A10DD}"/>
              </a:ext>
            </a:extLst>
          </p:cNvPr>
          <p:cNvSpPr>
            <a:spLocks noGrp="1"/>
          </p:cNvSpPr>
          <p:nvPr>
            <p:ph type="dt" sz="half" idx="10"/>
          </p:nvPr>
        </p:nvSpPr>
        <p:spPr/>
        <p:txBody>
          <a:bodyPr/>
          <a:lstStyle/>
          <a:p>
            <a:fld id="{593DD1DA-E715-487A-A14C-F180D42656A9}" type="datetimeFigureOut">
              <a:rPr lang="en-GB" smtClean="0"/>
              <a:t>23/10/2023</a:t>
            </a:fld>
            <a:endParaRPr lang="en-GB"/>
          </a:p>
        </p:txBody>
      </p:sp>
      <p:sp>
        <p:nvSpPr>
          <p:cNvPr id="6" name="Footer Placeholder 5">
            <a:extLst>
              <a:ext uri="{FF2B5EF4-FFF2-40B4-BE49-F238E27FC236}">
                <a16:creationId xmlns:a16="http://schemas.microsoft.com/office/drawing/2014/main" id="{006A7E2D-992D-472C-89C5-A568AF01249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9A8C3B1-5B92-4BCA-8038-45DB9637E2B9}"/>
              </a:ext>
            </a:extLst>
          </p:cNvPr>
          <p:cNvSpPr>
            <a:spLocks noGrp="1"/>
          </p:cNvSpPr>
          <p:nvPr>
            <p:ph type="sldNum" sz="quarter" idx="12"/>
          </p:nvPr>
        </p:nvSpPr>
        <p:spPr/>
        <p:txBody>
          <a:bodyPr/>
          <a:lstStyle/>
          <a:p>
            <a:fld id="{842B6A1C-F532-41C6-A81B-D7E61540464B}" type="slidenum">
              <a:rPr lang="en-GB" smtClean="0"/>
              <a:t>‹#›</a:t>
            </a:fld>
            <a:endParaRPr lang="en-GB"/>
          </a:p>
        </p:txBody>
      </p:sp>
    </p:spTree>
    <p:extLst>
      <p:ext uri="{BB962C8B-B14F-4D97-AF65-F5344CB8AC3E}">
        <p14:creationId xmlns:p14="http://schemas.microsoft.com/office/powerpoint/2010/main" val="207708312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2618B-13B8-49FF-ADC0-926CB2A87114}"/>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02DD8A0-C3AD-4945-BA62-38ED6B9B99A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81028E1-F6AC-44E9-98AA-613C81C7F06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DE1096FB-79C7-43B4-B35D-D08911932A1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B6A69D-9490-4FF8-8AA1-9F221440033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3B54F4C-CF4E-4567-A0B4-AD17C2EBDA5B}"/>
              </a:ext>
            </a:extLst>
          </p:cNvPr>
          <p:cNvSpPr>
            <a:spLocks noGrp="1"/>
          </p:cNvSpPr>
          <p:nvPr>
            <p:ph type="dt" sz="half" idx="10"/>
          </p:nvPr>
        </p:nvSpPr>
        <p:spPr/>
        <p:txBody>
          <a:bodyPr/>
          <a:lstStyle/>
          <a:p>
            <a:fld id="{593DD1DA-E715-487A-A14C-F180D42656A9}" type="datetimeFigureOut">
              <a:rPr lang="en-GB" smtClean="0"/>
              <a:t>23/10/2023</a:t>
            </a:fld>
            <a:endParaRPr lang="en-GB"/>
          </a:p>
        </p:txBody>
      </p:sp>
      <p:sp>
        <p:nvSpPr>
          <p:cNvPr id="8" name="Footer Placeholder 7">
            <a:extLst>
              <a:ext uri="{FF2B5EF4-FFF2-40B4-BE49-F238E27FC236}">
                <a16:creationId xmlns:a16="http://schemas.microsoft.com/office/drawing/2014/main" id="{3B18FC71-4739-4BCC-90F3-6AE371A5A741}"/>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0EE3DF99-9F92-4926-9244-076F5FFFB553}"/>
              </a:ext>
            </a:extLst>
          </p:cNvPr>
          <p:cNvSpPr>
            <a:spLocks noGrp="1"/>
          </p:cNvSpPr>
          <p:nvPr>
            <p:ph type="sldNum" sz="quarter" idx="12"/>
          </p:nvPr>
        </p:nvSpPr>
        <p:spPr/>
        <p:txBody>
          <a:bodyPr/>
          <a:lstStyle/>
          <a:p>
            <a:fld id="{842B6A1C-F532-41C6-A81B-D7E61540464B}" type="slidenum">
              <a:rPr lang="en-GB" smtClean="0"/>
              <a:t>‹#›</a:t>
            </a:fld>
            <a:endParaRPr lang="en-GB"/>
          </a:p>
        </p:txBody>
      </p:sp>
    </p:spTree>
    <p:extLst>
      <p:ext uri="{BB962C8B-B14F-4D97-AF65-F5344CB8AC3E}">
        <p14:creationId xmlns:p14="http://schemas.microsoft.com/office/powerpoint/2010/main" val="99560972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1E1C2-AE48-4560-8C7C-1BE7FF013963}"/>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720E89A5-19BD-423D-A4F4-AC6702F28EB4}"/>
              </a:ext>
            </a:extLst>
          </p:cNvPr>
          <p:cNvSpPr>
            <a:spLocks noGrp="1"/>
          </p:cNvSpPr>
          <p:nvPr>
            <p:ph type="dt" sz="half" idx="10"/>
          </p:nvPr>
        </p:nvSpPr>
        <p:spPr/>
        <p:txBody>
          <a:bodyPr/>
          <a:lstStyle/>
          <a:p>
            <a:fld id="{593DD1DA-E715-487A-A14C-F180D42656A9}" type="datetimeFigureOut">
              <a:rPr lang="en-GB" smtClean="0"/>
              <a:t>23/10/2023</a:t>
            </a:fld>
            <a:endParaRPr lang="en-GB"/>
          </a:p>
        </p:txBody>
      </p:sp>
      <p:sp>
        <p:nvSpPr>
          <p:cNvPr id="4" name="Footer Placeholder 3">
            <a:extLst>
              <a:ext uri="{FF2B5EF4-FFF2-40B4-BE49-F238E27FC236}">
                <a16:creationId xmlns:a16="http://schemas.microsoft.com/office/drawing/2014/main" id="{C2746670-99CF-4494-98BA-2E4D39B5D797}"/>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8E35E097-4342-42CB-AA23-AADE72838C11}"/>
              </a:ext>
            </a:extLst>
          </p:cNvPr>
          <p:cNvSpPr>
            <a:spLocks noGrp="1"/>
          </p:cNvSpPr>
          <p:nvPr>
            <p:ph type="sldNum" sz="quarter" idx="12"/>
          </p:nvPr>
        </p:nvSpPr>
        <p:spPr/>
        <p:txBody>
          <a:bodyPr/>
          <a:lstStyle/>
          <a:p>
            <a:fld id="{842B6A1C-F532-41C6-A81B-D7E61540464B}" type="slidenum">
              <a:rPr lang="en-GB" smtClean="0"/>
              <a:t>‹#›</a:t>
            </a:fld>
            <a:endParaRPr lang="en-GB"/>
          </a:p>
        </p:txBody>
      </p:sp>
    </p:spTree>
    <p:extLst>
      <p:ext uri="{BB962C8B-B14F-4D97-AF65-F5344CB8AC3E}">
        <p14:creationId xmlns:p14="http://schemas.microsoft.com/office/powerpoint/2010/main" val="39396431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2DF7C8B-F2B2-482C-911D-2FF6EE80CEE1}"/>
              </a:ext>
            </a:extLst>
          </p:cNvPr>
          <p:cNvSpPr>
            <a:spLocks noGrp="1"/>
          </p:cNvSpPr>
          <p:nvPr>
            <p:ph type="dt" sz="half" idx="10"/>
          </p:nvPr>
        </p:nvSpPr>
        <p:spPr/>
        <p:txBody>
          <a:bodyPr/>
          <a:lstStyle/>
          <a:p>
            <a:fld id="{593DD1DA-E715-487A-A14C-F180D42656A9}" type="datetimeFigureOut">
              <a:rPr lang="en-GB" smtClean="0"/>
              <a:t>23/10/2023</a:t>
            </a:fld>
            <a:endParaRPr lang="en-GB"/>
          </a:p>
        </p:txBody>
      </p:sp>
      <p:sp>
        <p:nvSpPr>
          <p:cNvPr id="3" name="Footer Placeholder 2">
            <a:extLst>
              <a:ext uri="{FF2B5EF4-FFF2-40B4-BE49-F238E27FC236}">
                <a16:creationId xmlns:a16="http://schemas.microsoft.com/office/drawing/2014/main" id="{A00E1D47-7BD0-438C-838B-AC09AF507DC8}"/>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52922CA2-9B61-415A-AC7F-773456AFD9BA}"/>
              </a:ext>
            </a:extLst>
          </p:cNvPr>
          <p:cNvSpPr>
            <a:spLocks noGrp="1"/>
          </p:cNvSpPr>
          <p:nvPr>
            <p:ph type="sldNum" sz="quarter" idx="12"/>
          </p:nvPr>
        </p:nvSpPr>
        <p:spPr/>
        <p:txBody>
          <a:bodyPr/>
          <a:lstStyle/>
          <a:p>
            <a:fld id="{842B6A1C-F532-41C6-A81B-D7E61540464B}" type="slidenum">
              <a:rPr lang="en-GB" smtClean="0"/>
              <a:t>‹#›</a:t>
            </a:fld>
            <a:endParaRPr lang="en-GB"/>
          </a:p>
        </p:txBody>
      </p:sp>
    </p:spTree>
    <p:extLst>
      <p:ext uri="{BB962C8B-B14F-4D97-AF65-F5344CB8AC3E}">
        <p14:creationId xmlns:p14="http://schemas.microsoft.com/office/powerpoint/2010/main" val="209606769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8D240-3D93-4C85-8DDF-A50263E6E9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9702D7A-D6D1-487B-B0DD-C23DAE4668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5A71201-7217-4D87-8DED-65C31F2AD6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33069A-C8BE-4F29-B95E-F04DDEB9079A}"/>
              </a:ext>
            </a:extLst>
          </p:cNvPr>
          <p:cNvSpPr>
            <a:spLocks noGrp="1"/>
          </p:cNvSpPr>
          <p:nvPr>
            <p:ph type="dt" sz="half" idx="10"/>
          </p:nvPr>
        </p:nvSpPr>
        <p:spPr/>
        <p:txBody>
          <a:bodyPr/>
          <a:lstStyle/>
          <a:p>
            <a:fld id="{593DD1DA-E715-487A-A14C-F180D42656A9}" type="datetimeFigureOut">
              <a:rPr lang="en-GB" smtClean="0"/>
              <a:t>23/10/2023</a:t>
            </a:fld>
            <a:endParaRPr lang="en-GB"/>
          </a:p>
        </p:txBody>
      </p:sp>
      <p:sp>
        <p:nvSpPr>
          <p:cNvPr id="6" name="Footer Placeholder 5">
            <a:extLst>
              <a:ext uri="{FF2B5EF4-FFF2-40B4-BE49-F238E27FC236}">
                <a16:creationId xmlns:a16="http://schemas.microsoft.com/office/drawing/2014/main" id="{C7E952DC-6B92-4162-8241-AA00546ADB9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36E72CB-BC7B-4415-80A1-A3AC1BAD4BE4}"/>
              </a:ext>
            </a:extLst>
          </p:cNvPr>
          <p:cNvSpPr>
            <a:spLocks noGrp="1"/>
          </p:cNvSpPr>
          <p:nvPr>
            <p:ph type="sldNum" sz="quarter" idx="12"/>
          </p:nvPr>
        </p:nvSpPr>
        <p:spPr/>
        <p:txBody>
          <a:bodyPr/>
          <a:lstStyle/>
          <a:p>
            <a:fld id="{842B6A1C-F532-41C6-A81B-D7E61540464B}" type="slidenum">
              <a:rPr lang="en-GB" smtClean="0"/>
              <a:t>‹#›</a:t>
            </a:fld>
            <a:endParaRPr lang="en-GB"/>
          </a:p>
        </p:txBody>
      </p:sp>
    </p:spTree>
    <p:extLst>
      <p:ext uri="{BB962C8B-B14F-4D97-AF65-F5344CB8AC3E}">
        <p14:creationId xmlns:p14="http://schemas.microsoft.com/office/powerpoint/2010/main" val="405226047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3F4BA-A0A1-4A52-BA4B-675759D707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7179D0C7-0704-41DB-A17D-AA2DFE0AF2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69AD6FA-B72E-4D42-9A76-D11D99109A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5BCEFE-44C3-4142-9CFC-58CD4DA99A22}"/>
              </a:ext>
            </a:extLst>
          </p:cNvPr>
          <p:cNvSpPr>
            <a:spLocks noGrp="1"/>
          </p:cNvSpPr>
          <p:nvPr>
            <p:ph type="dt" sz="half" idx="10"/>
          </p:nvPr>
        </p:nvSpPr>
        <p:spPr/>
        <p:txBody>
          <a:bodyPr/>
          <a:lstStyle/>
          <a:p>
            <a:fld id="{593DD1DA-E715-487A-A14C-F180D42656A9}" type="datetimeFigureOut">
              <a:rPr lang="en-GB" smtClean="0"/>
              <a:t>23/10/2023</a:t>
            </a:fld>
            <a:endParaRPr lang="en-GB"/>
          </a:p>
        </p:txBody>
      </p:sp>
      <p:sp>
        <p:nvSpPr>
          <p:cNvPr id="6" name="Footer Placeholder 5">
            <a:extLst>
              <a:ext uri="{FF2B5EF4-FFF2-40B4-BE49-F238E27FC236}">
                <a16:creationId xmlns:a16="http://schemas.microsoft.com/office/drawing/2014/main" id="{ADCC7C83-4FAD-4B26-93CB-A577583D982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A117A79-D0BD-4043-87E0-ADD4C3C49D17}"/>
              </a:ext>
            </a:extLst>
          </p:cNvPr>
          <p:cNvSpPr>
            <a:spLocks noGrp="1"/>
          </p:cNvSpPr>
          <p:nvPr>
            <p:ph type="sldNum" sz="quarter" idx="12"/>
          </p:nvPr>
        </p:nvSpPr>
        <p:spPr/>
        <p:txBody>
          <a:bodyPr/>
          <a:lstStyle/>
          <a:p>
            <a:fld id="{842B6A1C-F532-41C6-A81B-D7E61540464B}" type="slidenum">
              <a:rPr lang="en-GB" smtClean="0"/>
              <a:t>‹#›</a:t>
            </a:fld>
            <a:endParaRPr lang="en-GB"/>
          </a:p>
        </p:txBody>
      </p:sp>
    </p:spTree>
    <p:extLst>
      <p:ext uri="{BB962C8B-B14F-4D97-AF65-F5344CB8AC3E}">
        <p14:creationId xmlns:p14="http://schemas.microsoft.com/office/powerpoint/2010/main" val="12939597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8938F-E3D8-4FE3-ACB8-2D23F367B891}"/>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6F4DBE1-CF23-4BB5-B231-D477D2BED87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589563C-AF8D-47F5-86F1-585F45AB995E}"/>
              </a:ext>
            </a:extLst>
          </p:cNvPr>
          <p:cNvSpPr>
            <a:spLocks noGrp="1"/>
          </p:cNvSpPr>
          <p:nvPr>
            <p:ph type="dt" sz="half" idx="10"/>
          </p:nvPr>
        </p:nvSpPr>
        <p:spPr/>
        <p:txBody>
          <a:bodyPr/>
          <a:lstStyle/>
          <a:p>
            <a:fld id="{593DD1DA-E715-487A-A14C-F180D42656A9}" type="datetimeFigureOut">
              <a:rPr lang="en-GB" smtClean="0"/>
              <a:t>23/10/2023</a:t>
            </a:fld>
            <a:endParaRPr lang="en-GB"/>
          </a:p>
        </p:txBody>
      </p:sp>
      <p:sp>
        <p:nvSpPr>
          <p:cNvPr id="5" name="Footer Placeholder 4">
            <a:extLst>
              <a:ext uri="{FF2B5EF4-FFF2-40B4-BE49-F238E27FC236}">
                <a16:creationId xmlns:a16="http://schemas.microsoft.com/office/drawing/2014/main" id="{39C9F9DC-9A4F-48A4-80E2-EAEEECAFA48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4188803-1E24-47BE-ABBF-82A9C075BA1D}"/>
              </a:ext>
            </a:extLst>
          </p:cNvPr>
          <p:cNvSpPr>
            <a:spLocks noGrp="1"/>
          </p:cNvSpPr>
          <p:nvPr>
            <p:ph type="sldNum" sz="quarter" idx="12"/>
          </p:nvPr>
        </p:nvSpPr>
        <p:spPr/>
        <p:txBody>
          <a:bodyPr/>
          <a:lstStyle/>
          <a:p>
            <a:fld id="{842B6A1C-F532-41C6-A81B-D7E61540464B}" type="slidenum">
              <a:rPr lang="en-GB" smtClean="0"/>
              <a:t>‹#›</a:t>
            </a:fld>
            <a:endParaRPr lang="en-GB"/>
          </a:p>
        </p:txBody>
      </p:sp>
    </p:spTree>
    <p:extLst>
      <p:ext uri="{BB962C8B-B14F-4D97-AF65-F5344CB8AC3E}">
        <p14:creationId xmlns:p14="http://schemas.microsoft.com/office/powerpoint/2010/main" val="278734368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1544770-3968-4D17-B670-2E6D427957A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56EE70D-3F98-4DB4-94BF-3D85C73D7DA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4384288-54FD-4EA8-A406-6D7A4702D213}"/>
              </a:ext>
            </a:extLst>
          </p:cNvPr>
          <p:cNvSpPr>
            <a:spLocks noGrp="1"/>
          </p:cNvSpPr>
          <p:nvPr>
            <p:ph type="dt" sz="half" idx="10"/>
          </p:nvPr>
        </p:nvSpPr>
        <p:spPr/>
        <p:txBody>
          <a:bodyPr/>
          <a:lstStyle/>
          <a:p>
            <a:fld id="{593DD1DA-E715-487A-A14C-F180D42656A9}" type="datetimeFigureOut">
              <a:rPr lang="en-GB" smtClean="0"/>
              <a:t>23/10/2023</a:t>
            </a:fld>
            <a:endParaRPr lang="en-GB"/>
          </a:p>
        </p:txBody>
      </p:sp>
      <p:sp>
        <p:nvSpPr>
          <p:cNvPr id="5" name="Footer Placeholder 4">
            <a:extLst>
              <a:ext uri="{FF2B5EF4-FFF2-40B4-BE49-F238E27FC236}">
                <a16:creationId xmlns:a16="http://schemas.microsoft.com/office/drawing/2014/main" id="{CA1132E5-D38B-4F1A-B0DD-1DF87903192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AF3F045-FFE4-42D1-98DD-EE085C9D8CA1}"/>
              </a:ext>
            </a:extLst>
          </p:cNvPr>
          <p:cNvSpPr>
            <a:spLocks noGrp="1"/>
          </p:cNvSpPr>
          <p:nvPr>
            <p:ph type="sldNum" sz="quarter" idx="12"/>
          </p:nvPr>
        </p:nvSpPr>
        <p:spPr/>
        <p:txBody>
          <a:bodyPr/>
          <a:lstStyle/>
          <a:p>
            <a:fld id="{842B6A1C-F532-41C6-A81B-D7E61540464B}" type="slidenum">
              <a:rPr lang="en-GB" smtClean="0"/>
              <a:t>‹#›</a:t>
            </a:fld>
            <a:endParaRPr lang="en-GB"/>
          </a:p>
        </p:txBody>
      </p:sp>
    </p:spTree>
    <p:extLst>
      <p:ext uri="{BB962C8B-B14F-4D97-AF65-F5344CB8AC3E}">
        <p14:creationId xmlns:p14="http://schemas.microsoft.com/office/powerpoint/2010/main" val="164408649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EE329-C2E9-4CE7-BF6C-98D98DD4F2C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CA941CBD-FD06-4F7D-B7AF-CB3D4745A4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C7E1871B-8EA8-4F89-9340-D14FFB87D6EF}"/>
              </a:ext>
            </a:extLst>
          </p:cNvPr>
          <p:cNvSpPr>
            <a:spLocks noGrp="1"/>
          </p:cNvSpPr>
          <p:nvPr>
            <p:ph type="dt" sz="half" idx="10"/>
          </p:nvPr>
        </p:nvSpPr>
        <p:spPr/>
        <p:txBody>
          <a:bodyPr/>
          <a:lstStyle/>
          <a:p>
            <a:fld id="{8B57E1C2-DDC9-4BEF-8400-1C06BF5B0C62}" type="datetimeFigureOut">
              <a:rPr lang="en-GB" smtClean="0"/>
              <a:t>23/10/2023</a:t>
            </a:fld>
            <a:endParaRPr lang="en-GB"/>
          </a:p>
        </p:txBody>
      </p:sp>
      <p:sp>
        <p:nvSpPr>
          <p:cNvPr id="5" name="Footer Placeholder 4">
            <a:extLst>
              <a:ext uri="{FF2B5EF4-FFF2-40B4-BE49-F238E27FC236}">
                <a16:creationId xmlns:a16="http://schemas.microsoft.com/office/drawing/2014/main" id="{30C22F62-1883-4B2C-BAAD-4AAFD4054D6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85B48CC-9FEE-4846-99AC-9F2BE4AA8F2E}"/>
              </a:ext>
            </a:extLst>
          </p:cNvPr>
          <p:cNvSpPr>
            <a:spLocks noGrp="1"/>
          </p:cNvSpPr>
          <p:nvPr>
            <p:ph type="sldNum" sz="quarter" idx="12"/>
          </p:nvPr>
        </p:nvSpPr>
        <p:spPr/>
        <p:txBody>
          <a:bodyPr/>
          <a:lstStyle/>
          <a:p>
            <a:fld id="{96180A7D-2850-4397-87A3-BA67CBA76817}" type="slidenum">
              <a:rPr lang="en-GB" smtClean="0"/>
              <a:t>‹#›</a:t>
            </a:fld>
            <a:endParaRPr lang="en-GB"/>
          </a:p>
        </p:txBody>
      </p:sp>
    </p:spTree>
    <p:extLst>
      <p:ext uri="{BB962C8B-B14F-4D97-AF65-F5344CB8AC3E}">
        <p14:creationId xmlns:p14="http://schemas.microsoft.com/office/powerpoint/2010/main" val="278908431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AF383-C879-474E-9E5F-80309CE110A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B575D51-E09C-4CAA-99EA-93EBF42808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DE8E822-68E1-431E-8D8C-09CE648DEF59}"/>
              </a:ext>
            </a:extLst>
          </p:cNvPr>
          <p:cNvSpPr>
            <a:spLocks noGrp="1"/>
          </p:cNvSpPr>
          <p:nvPr>
            <p:ph type="dt" sz="half" idx="10"/>
          </p:nvPr>
        </p:nvSpPr>
        <p:spPr/>
        <p:txBody>
          <a:bodyPr/>
          <a:lstStyle/>
          <a:p>
            <a:fld id="{8B57E1C2-DDC9-4BEF-8400-1C06BF5B0C62}" type="datetimeFigureOut">
              <a:rPr lang="en-GB" smtClean="0"/>
              <a:t>23/10/2023</a:t>
            </a:fld>
            <a:endParaRPr lang="en-GB"/>
          </a:p>
        </p:txBody>
      </p:sp>
      <p:sp>
        <p:nvSpPr>
          <p:cNvPr id="5" name="Footer Placeholder 4">
            <a:extLst>
              <a:ext uri="{FF2B5EF4-FFF2-40B4-BE49-F238E27FC236}">
                <a16:creationId xmlns:a16="http://schemas.microsoft.com/office/drawing/2014/main" id="{06C9F385-54CB-4D40-96CA-BF32586DE85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9A37B22-8C98-4AEB-9E3D-DDF95D8C2E92}"/>
              </a:ext>
            </a:extLst>
          </p:cNvPr>
          <p:cNvSpPr>
            <a:spLocks noGrp="1"/>
          </p:cNvSpPr>
          <p:nvPr>
            <p:ph type="sldNum" sz="quarter" idx="12"/>
          </p:nvPr>
        </p:nvSpPr>
        <p:spPr/>
        <p:txBody>
          <a:bodyPr/>
          <a:lstStyle/>
          <a:p>
            <a:fld id="{96180A7D-2850-4397-87A3-BA67CBA76817}" type="slidenum">
              <a:rPr lang="en-GB" smtClean="0"/>
              <a:t>‹#›</a:t>
            </a:fld>
            <a:endParaRPr lang="en-GB"/>
          </a:p>
        </p:txBody>
      </p:sp>
    </p:spTree>
    <p:extLst>
      <p:ext uri="{BB962C8B-B14F-4D97-AF65-F5344CB8AC3E}">
        <p14:creationId xmlns:p14="http://schemas.microsoft.com/office/powerpoint/2010/main" val="336106251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8F31-A883-4DB5-9C9C-ABEBA9EB315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E2BCA505-0504-4B2D-8264-B5237CFD72F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90DB468-ACD5-418D-97FF-2B536AEE8C97}"/>
              </a:ext>
            </a:extLst>
          </p:cNvPr>
          <p:cNvSpPr>
            <a:spLocks noGrp="1"/>
          </p:cNvSpPr>
          <p:nvPr>
            <p:ph type="dt" sz="half" idx="10"/>
          </p:nvPr>
        </p:nvSpPr>
        <p:spPr/>
        <p:txBody>
          <a:bodyPr/>
          <a:lstStyle/>
          <a:p>
            <a:fld id="{8B57E1C2-DDC9-4BEF-8400-1C06BF5B0C62}" type="datetimeFigureOut">
              <a:rPr lang="en-GB" smtClean="0"/>
              <a:t>23/10/2023</a:t>
            </a:fld>
            <a:endParaRPr lang="en-GB"/>
          </a:p>
        </p:txBody>
      </p:sp>
      <p:sp>
        <p:nvSpPr>
          <p:cNvPr id="5" name="Footer Placeholder 4">
            <a:extLst>
              <a:ext uri="{FF2B5EF4-FFF2-40B4-BE49-F238E27FC236}">
                <a16:creationId xmlns:a16="http://schemas.microsoft.com/office/drawing/2014/main" id="{D642BE0B-2E64-46FA-91A7-26D06283B0C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4AB41E4-E350-48DC-89A3-DB4D03F3893B}"/>
              </a:ext>
            </a:extLst>
          </p:cNvPr>
          <p:cNvSpPr>
            <a:spLocks noGrp="1"/>
          </p:cNvSpPr>
          <p:nvPr>
            <p:ph type="sldNum" sz="quarter" idx="12"/>
          </p:nvPr>
        </p:nvSpPr>
        <p:spPr/>
        <p:txBody>
          <a:bodyPr/>
          <a:lstStyle/>
          <a:p>
            <a:fld id="{96180A7D-2850-4397-87A3-BA67CBA76817}" type="slidenum">
              <a:rPr lang="en-GB" smtClean="0"/>
              <a:t>‹#›</a:t>
            </a:fld>
            <a:endParaRPr lang="en-GB"/>
          </a:p>
        </p:txBody>
      </p:sp>
    </p:spTree>
    <p:extLst>
      <p:ext uri="{BB962C8B-B14F-4D97-AF65-F5344CB8AC3E}">
        <p14:creationId xmlns:p14="http://schemas.microsoft.com/office/powerpoint/2010/main" val="13029828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F5AE3-D77A-43C0-A152-2C682AD956F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81BA80B-AF50-4CCD-B4EB-47A51483F9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908B9D7-88D3-45B1-8002-233BA425F2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54A8B52A-C28F-405B-AB1F-5F39DCE2B26B}"/>
              </a:ext>
            </a:extLst>
          </p:cNvPr>
          <p:cNvSpPr>
            <a:spLocks noGrp="1"/>
          </p:cNvSpPr>
          <p:nvPr>
            <p:ph type="dt" sz="half" idx="10"/>
          </p:nvPr>
        </p:nvSpPr>
        <p:spPr/>
        <p:txBody>
          <a:bodyPr/>
          <a:lstStyle/>
          <a:p>
            <a:fld id="{8B57E1C2-DDC9-4BEF-8400-1C06BF5B0C62}" type="datetimeFigureOut">
              <a:rPr lang="en-GB" smtClean="0"/>
              <a:t>23/10/2023</a:t>
            </a:fld>
            <a:endParaRPr lang="en-GB"/>
          </a:p>
        </p:txBody>
      </p:sp>
      <p:sp>
        <p:nvSpPr>
          <p:cNvPr id="6" name="Footer Placeholder 5">
            <a:extLst>
              <a:ext uri="{FF2B5EF4-FFF2-40B4-BE49-F238E27FC236}">
                <a16:creationId xmlns:a16="http://schemas.microsoft.com/office/drawing/2014/main" id="{A47B136D-0AB0-42B4-B961-12011FFF435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A5ABF6B-A002-4511-B3BF-33B4A0D58597}"/>
              </a:ext>
            </a:extLst>
          </p:cNvPr>
          <p:cNvSpPr>
            <a:spLocks noGrp="1"/>
          </p:cNvSpPr>
          <p:nvPr>
            <p:ph type="sldNum" sz="quarter" idx="12"/>
          </p:nvPr>
        </p:nvSpPr>
        <p:spPr/>
        <p:txBody>
          <a:bodyPr/>
          <a:lstStyle/>
          <a:p>
            <a:fld id="{96180A7D-2850-4397-87A3-BA67CBA76817}" type="slidenum">
              <a:rPr lang="en-GB" smtClean="0"/>
              <a:t>‹#›</a:t>
            </a:fld>
            <a:endParaRPr lang="en-GB"/>
          </a:p>
        </p:txBody>
      </p:sp>
    </p:spTree>
    <p:extLst>
      <p:ext uri="{BB962C8B-B14F-4D97-AF65-F5344CB8AC3E}">
        <p14:creationId xmlns:p14="http://schemas.microsoft.com/office/powerpoint/2010/main" val="225638144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F1A46-6E66-4ACF-A295-3610CA48A89B}"/>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2E973AA-065A-42E7-8408-9729DE5C1A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FED2670-B751-454D-8D4C-27618F2C821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650F2804-208A-40C6-9B47-69F876B8A1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F78A8C5-03CF-4AB6-BF05-D528F3B0FB0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9C7B373-9766-41E3-B8F3-B8A52AB8419D}"/>
              </a:ext>
            </a:extLst>
          </p:cNvPr>
          <p:cNvSpPr>
            <a:spLocks noGrp="1"/>
          </p:cNvSpPr>
          <p:nvPr>
            <p:ph type="dt" sz="half" idx="10"/>
          </p:nvPr>
        </p:nvSpPr>
        <p:spPr/>
        <p:txBody>
          <a:bodyPr/>
          <a:lstStyle/>
          <a:p>
            <a:fld id="{8B57E1C2-DDC9-4BEF-8400-1C06BF5B0C62}" type="datetimeFigureOut">
              <a:rPr lang="en-GB" smtClean="0"/>
              <a:t>23/10/2023</a:t>
            </a:fld>
            <a:endParaRPr lang="en-GB"/>
          </a:p>
        </p:txBody>
      </p:sp>
      <p:sp>
        <p:nvSpPr>
          <p:cNvPr id="8" name="Footer Placeholder 7">
            <a:extLst>
              <a:ext uri="{FF2B5EF4-FFF2-40B4-BE49-F238E27FC236}">
                <a16:creationId xmlns:a16="http://schemas.microsoft.com/office/drawing/2014/main" id="{F84EACBA-95B7-4248-96A6-D9172A2E33BA}"/>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8CCA77B2-0F25-49E8-BE32-3D0299572953}"/>
              </a:ext>
            </a:extLst>
          </p:cNvPr>
          <p:cNvSpPr>
            <a:spLocks noGrp="1"/>
          </p:cNvSpPr>
          <p:nvPr>
            <p:ph type="sldNum" sz="quarter" idx="12"/>
          </p:nvPr>
        </p:nvSpPr>
        <p:spPr/>
        <p:txBody>
          <a:bodyPr/>
          <a:lstStyle/>
          <a:p>
            <a:fld id="{96180A7D-2850-4397-87A3-BA67CBA76817}" type="slidenum">
              <a:rPr lang="en-GB" smtClean="0"/>
              <a:t>‹#›</a:t>
            </a:fld>
            <a:endParaRPr lang="en-GB"/>
          </a:p>
        </p:txBody>
      </p:sp>
    </p:spTree>
    <p:extLst>
      <p:ext uri="{BB962C8B-B14F-4D97-AF65-F5344CB8AC3E}">
        <p14:creationId xmlns:p14="http://schemas.microsoft.com/office/powerpoint/2010/main" val="137524919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16437-2029-43BE-83BE-E85723C6CE68}"/>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473422D4-2E4D-4690-8512-080576AAB690}"/>
              </a:ext>
            </a:extLst>
          </p:cNvPr>
          <p:cNvSpPr>
            <a:spLocks noGrp="1"/>
          </p:cNvSpPr>
          <p:nvPr>
            <p:ph type="dt" sz="half" idx="10"/>
          </p:nvPr>
        </p:nvSpPr>
        <p:spPr/>
        <p:txBody>
          <a:bodyPr/>
          <a:lstStyle/>
          <a:p>
            <a:fld id="{8B57E1C2-DDC9-4BEF-8400-1C06BF5B0C62}" type="datetimeFigureOut">
              <a:rPr lang="en-GB" smtClean="0"/>
              <a:t>23/10/2023</a:t>
            </a:fld>
            <a:endParaRPr lang="en-GB"/>
          </a:p>
        </p:txBody>
      </p:sp>
      <p:sp>
        <p:nvSpPr>
          <p:cNvPr id="4" name="Footer Placeholder 3">
            <a:extLst>
              <a:ext uri="{FF2B5EF4-FFF2-40B4-BE49-F238E27FC236}">
                <a16:creationId xmlns:a16="http://schemas.microsoft.com/office/drawing/2014/main" id="{50CC8FCD-F56C-4311-894A-BF4F6A3E34E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B0EA51E3-6EB1-4F4B-8240-318C3188184F}"/>
              </a:ext>
            </a:extLst>
          </p:cNvPr>
          <p:cNvSpPr>
            <a:spLocks noGrp="1"/>
          </p:cNvSpPr>
          <p:nvPr>
            <p:ph type="sldNum" sz="quarter" idx="12"/>
          </p:nvPr>
        </p:nvSpPr>
        <p:spPr/>
        <p:txBody>
          <a:bodyPr/>
          <a:lstStyle/>
          <a:p>
            <a:fld id="{96180A7D-2850-4397-87A3-BA67CBA76817}" type="slidenum">
              <a:rPr lang="en-GB" smtClean="0"/>
              <a:t>‹#›</a:t>
            </a:fld>
            <a:endParaRPr lang="en-GB"/>
          </a:p>
        </p:txBody>
      </p:sp>
    </p:spTree>
    <p:extLst>
      <p:ext uri="{BB962C8B-B14F-4D97-AF65-F5344CB8AC3E}">
        <p14:creationId xmlns:p14="http://schemas.microsoft.com/office/powerpoint/2010/main" val="281359732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7509B6-DC99-4939-A338-AA14348C97A5}"/>
              </a:ext>
            </a:extLst>
          </p:cNvPr>
          <p:cNvSpPr>
            <a:spLocks noGrp="1"/>
          </p:cNvSpPr>
          <p:nvPr>
            <p:ph type="dt" sz="half" idx="10"/>
          </p:nvPr>
        </p:nvSpPr>
        <p:spPr/>
        <p:txBody>
          <a:bodyPr/>
          <a:lstStyle/>
          <a:p>
            <a:fld id="{8B57E1C2-DDC9-4BEF-8400-1C06BF5B0C62}" type="datetimeFigureOut">
              <a:rPr lang="en-GB" smtClean="0"/>
              <a:t>23/10/2023</a:t>
            </a:fld>
            <a:endParaRPr lang="en-GB"/>
          </a:p>
        </p:txBody>
      </p:sp>
      <p:sp>
        <p:nvSpPr>
          <p:cNvPr id="3" name="Footer Placeholder 2">
            <a:extLst>
              <a:ext uri="{FF2B5EF4-FFF2-40B4-BE49-F238E27FC236}">
                <a16:creationId xmlns:a16="http://schemas.microsoft.com/office/drawing/2014/main" id="{577B6DA7-A3FD-44C1-8168-74E896F433EA}"/>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FF76F37-F9B6-4DD7-BFB4-506BE5D6AA7F}"/>
              </a:ext>
            </a:extLst>
          </p:cNvPr>
          <p:cNvSpPr>
            <a:spLocks noGrp="1"/>
          </p:cNvSpPr>
          <p:nvPr>
            <p:ph type="sldNum" sz="quarter" idx="12"/>
          </p:nvPr>
        </p:nvSpPr>
        <p:spPr/>
        <p:txBody>
          <a:bodyPr/>
          <a:lstStyle/>
          <a:p>
            <a:fld id="{96180A7D-2850-4397-87A3-BA67CBA76817}" type="slidenum">
              <a:rPr lang="en-GB" smtClean="0"/>
              <a:t>‹#›</a:t>
            </a:fld>
            <a:endParaRPr lang="en-GB"/>
          </a:p>
        </p:txBody>
      </p:sp>
    </p:spTree>
    <p:extLst>
      <p:ext uri="{BB962C8B-B14F-4D97-AF65-F5344CB8AC3E}">
        <p14:creationId xmlns:p14="http://schemas.microsoft.com/office/powerpoint/2010/main" val="325117628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6429B-4402-43B2-B965-A97BB914A4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C810B220-0D37-45B5-9740-C5AFA80842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0E7DF65F-F8C3-4475-BE95-53D175AE60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DFF703-8EE3-4FC2-A7CC-7A1F36500245}"/>
              </a:ext>
            </a:extLst>
          </p:cNvPr>
          <p:cNvSpPr>
            <a:spLocks noGrp="1"/>
          </p:cNvSpPr>
          <p:nvPr>
            <p:ph type="dt" sz="half" idx="10"/>
          </p:nvPr>
        </p:nvSpPr>
        <p:spPr/>
        <p:txBody>
          <a:bodyPr/>
          <a:lstStyle/>
          <a:p>
            <a:fld id="{8B57E1C2-DDC9-4BEF-8400-1C06BF5B0C62}" type="datetimeFigureOut">
              <a:rPr lang="en-GB" smtClean="0"/>
              <a:t>23/10/2023</a:t>
            </a:fld>
            <a:endParaRPr lang="en-GB"/>
          </a:p>
        </p:txBody>
      </p:sp>
      <p:sp>
        <p:nvSpPr>
          <p:cNvPr id="6" name="Footer Placeholder 5">
            <a:extLst>
              <a:ext uri="{FF2B5EF4-FFF2-40B4-BE49-F238E27FC236}">
                <a16:creationId xmlns:a16="http://schemas.microsoft.com/office/drawing/2014/main" id="{57EBEE30-DBCE-4B74-A1B1-90F02013EC9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10FD478-6B17-4064-AC02-674296A4C3BE}"/>
              </a:ext>
            </a:extLst>
          </p:cNvPr>
          <p:cNvSpPr>
            <a:spLocks noGrp="1"/>
          </p:cNvSpPr>
          <p:nvPr>
            <p:ph type="sldNum" sz="quarter" idx="12"/>
          </p:nvPr>
        </p:nvSpPr>
        <p:spPr/>
        <p:txBody>
          <a:bodyPr/>
          <a:lstStyle/>
          <a:p>
            <a:fld id="{96180A7D-2850-4397-87A3-BA67CBA76817}" type="slidenum">
              <a:rPr lang="en-GB" smtClean="0"/>
              <a:t>‹#›</a:t>
            </a:fld>
            <a:endParaRPr lang="en-GB"/>
          </a:p>
        </p:txBody>
      </p:sp>
    </p:spTree>
    <p:extLst>
      <p:ext uri="{BB962C8B-B14F-4D97-AF65-F5344CB8AC3E}">
        <p14:creationId xmlns:p14="http://schemas.microsoft.com/office/powerpoint/2010/main" val="86298885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8BACC-1313-42CE-A0CD-2747198999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BC32873-F05E-4163-8CE2-873CD8BD7D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FF2ABDDE-ACCD-4B75-BF0F-B594AAA64D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BB8EDF-B325-4DD8-8484-4B6EDAD3B42F}"/>
              </a:ext>
            </a:extLst>
          </p:cNvPr>
          <p:cNvSpPr>
            <a:spLocks noGrp="1"/>
          </p:cNvSpPr>
          <p:nvPr>
            <p:ph type="dt" sz="half" idx="10"/>
          </p:nvPr>
        </p:nvSpPr>
        <p:spPr/>
        <p:txBody>
          <a:bodyPr/>
          <a:lstStyle/>
          <a:p>
            <a:fld id="{8B57E1C2-DDC9-4BEF-8400-1C06BF5B0C62}" type="datetimeFigureOut">
              <a:rPr lang="en-GB" smtClean="0"/>
              <a:t>23/10/2023</a:t>
            </a:fld>
            <a:endParaRPr lang="en-GB"/>
          </a:p>
        </p:txBody>
      </p:sp>
      <p:sp>
        <p:nvSpPr>
          <p:cNvPr id="6" name="Footer Placeholder 5">
            <a:extLst>
              <a:ext uri="{FF2B5EF4-FFF2-40B4-BE49-F238E27FC236}">
                <a16:creationId xmlns:a16="http://schemas.microsoft.com/office/drawing/2014/main" id="{91AAE3C6-BCE1-4E49-853E-0B39B083461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E8B6F47-5242-4889-94CF-5CA4F873DE81}"/>
              </a:ext>
            </a:extLst>
          </p:cNvPr>
          <p:cNvSpPr>
            <a:spLocks noGrp="1"/>
          </p:cNvSpPr>
          <p:nvPr>
            <p:ph type="sldNum" sz="quarter" idx="12"/>
          </p:nvPr>
        </p:nvSpPr>
        <p:spPr/>
        <p:txBody>
          <a:bodyPr/>
          <a:lstStyle/>
          <a:p>
            <a:fld id="{96180A7D-2850-4397-87A3-BA67CBA76817}" type="slidenum">
              <a:rPr lang="en-GB" smtClean="0"/>
              <a:t>‹#›</a:t>
            </a:fld>
            <a:endParaRPr lang="en-GB"/>
          </a:p>
        </p:txBody>
      </p:sp>
    </p:spTree>
    <p:extLst>
      <p:ext uri="{BB962C8B-B14F-4D97-AF65-F5344CB8AC3E}">
        <p14:creationId xmlns:p14="http://schemas.microsoft.com/office/powerpoint/2010/main" val="160676344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BBBD1-B17F-4E58-A587-47C19C445D0B}"/>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DE749CF-704E-4B35-9239-8A996D1136C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14964B7-E179-40EB-8E3C-21AAB5638286}"/>
              </a:ext>
            </a:extLst>
          </p:cNvPr>
          <p:cNvSpPr>
            <a:spLocks noGrp="1"/>
          </p:cNvSpPr>
          <p:nvPr>
            <p:ph type="dt" sz="half" idx="10"/>
          </p:nvPr>
        </p:nvSpPr>
        <p:spPr/>
        <p:txBody>
          <a:bodyPr/>
          <a:lstStyle/>
          <a:p>
            <a:fld id="{8B57E1C2-DDC9-4BEF-8400-1C06BF5B0C62}" type="datetimeFigureOut">
              <a:rPr lang="en-GB" smtClean="0"/>
              <a:t>23/10/2023</a:t>
            </a:fld>
            <a:endParaRPr lang="en-GB"/>
          </a:p>
        </p:txBody>
      </p:sp>
      <p:sp>
        <p:nvSpPr>
          <p:cNvPr id="5" name="Footer Placeholder 4">
            <a:extLst>
              <a:ext uri="{FF2B5EF4-FFF2-40B4-BE49-F238E27FC236}">
                <a16:creationId xmlns:a16="http://schemas.microsoft.com/office/drawing/2014/main" id="{AB35788A-351F-47D5-B503-15D41B37722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452C1A8-427F-4A91-B652-83AF7A7C2F8A}"/>
              </a:ext>
            </a:extLst>
          </p:cNvPr>
          <p:cNvSpPr>
            <a:spLocks noGrp="1"/>
          </p:cNvSpPr>
          <p:nvPr>
            <p:ph type="sldNum" sz="quarter" idx="12"/>
          </p:nvPr>
        </p:nvSpPr>
        <p:spPr/>
        <p:txBody>
          <a:bodyPr/>
          <a:lstStyle/>
          <a:p>
            <a:fld id="{96180A7D-2850-4397-87A3-BA67CBA76817}" type="slidenum">
              <a:rPr lang="en-GB" smtClean="0"/>
              <a:t>‹#›</a:t>
            </a:fld>
            <a:endParaRPr lang="en-GB"/>
          </a:p>
        </p:txBody>
      </p:sp>
    </p:spTree>
    <p:extLst>
      <p:ext uri="{BB962C8B-B14F-4D97-AF65-F5344CB8AC3E}">
        <p14:creationId xmlns:p14="http://schemas.microsoft.com/office/powerpoint/2010/main" val="44188853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2E87122-1451-4370-896C-0396BF8DFE8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775CF7B-4F63-4CC8-B794-9180F1E3B1E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38D4B11-8319-458B-816C-1E287AE783CA}"/>
              </a:ext>
            </a:extLst>
          </p:cNvPr>
          <p:cNvSpPr>
            <a:spLocks noGrp="1"/>
          </p:cNvSpPr>
          <p:nvPr>
            <p:ph type="dt" sz="half" idx="10"/>
          </p:nvPr>
        </p:nvSpPr>
        <p:spPr/>
        <p:txBody>
          <a:bodyPr/>
          <a:lstStyle/>
          <a:p>
            <a:fld id="{8B57E1C2-DDC9-4BEF-8400-1C06BF5B0C62}" type="datetimeFigureOut">
              <a:rPr lang="en-GB" smtClean="0"/>
              <a:t>23/10/2023</a:t>
            </a:fld>
            <a:endParaRPr lang="en-GB"/>
          </a:p>
        </p:txBody>
      </p:sp>
      <p:sp>
        <p:nvSpPr>
          <p:cNvPr id="5" name="Footer Placeholder 4">
            <a:extLst>
              <a:ext uri="{FF2B5EF4-FFF2-40B4-BE49-F238E27FC236}">
                <a16:creationId xmlns:a16="http://schemas.microsoft.com/office/drawing/2014/main" id="{E7E288EB-FC60-46C4-B0D9-E3FAD5589F1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12C37B8-5C26-413D-887D-8D5ACA733A33}"/>
              </a:ext>
            </a:extLst>
          </p:cNvPr>
          <p:cNvSpPr>
            <a:spLocks noGrp="1"/>
          </p:cNvSpPr>
          <p:nvPr>
            <p:ph type="sldNum" sz="quarter" idx="12"/>
          </p:nvPr>
        </p:nvSpPr>
        <p:spPr/>
        <p:txBody>
          <a:bodyPr/>
          <a:lstStyle/>
          <a:p>
            <a:fld id="{96180A7D-2850-4397-87A3-BA67CBA76817}" type="slidenum">
              <a:rPr lang="en-GB" smtClean="0"/>
              <a:t>‹#›</a:t>
            </a:fld>
            <a:endParaRPr lang="en-GB"/>
          </a:p>
        </p:txBody>
      </p:sp>
    </p:spTree>
    <p:extLst>
      <p:ext uri="{BB962C8B-B14F-4D97-AF65-F5344CB8AC3E}">
        <p14:creationId xmlns:p14="http://schemas.microsoft.com/office/powerpoint/2010/main" val="47313007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385CEE-929F-4006-9DE0-0F885DA877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05FD839-CD07-463F-AB26-AB69FBBA49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FCEEC2A-72F6-4058-BFCF-4632D564B2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3DD1DA-E715-487A-A14C-F180D42656A9}" type="datetimeFigureOut">
              <a:rPr lang="en-GB" smtClean="0"/>
              <a:t>23/10/2023</a:t>
            </a:fld>
            <a:endParaRPr lang="en-GB"/>
          </a:p>
        </p:txBody>
      </p:sp>
      <p:sp>
        <p:nvSpPr>
          <p:cNvPr id="5" name="Footer Placeholder 4">
            <a:extLst>
              <a:ext uri="{FF2B5EF4-FFF2-40B4-BE49-F238E27FC236}">
                <a16:creationId xmlns:a16="http://schemas.microsoft.com/office/drawing/2014/main" id="{BF4DEFF8-27E0-4F23-9CC9-5F7FEA9FC4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33B0A50E-A13F-4DB3-87C9-DC8CBA5587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2B6A1C-F532-41C6-A81B-D7E61540464B}" type="slidenum">
              <a:rPr lang="en-GB" smtClean="0"/>
              <a:t>‹#›</a:t>
            </a:fld>
            <a:endParaRPr lang="en-GB"/>
          </a:p>
        </p:txBody>
      </p:sp>
    </p:spTree>
    <p:extLst>
      <p:ext uri="{BB962C8B-B14F-4D97-AF65-F5344CB8AC3E}">
        <p14:creationId xmlns:p14="http://schemas.microsoft.com/office/powerpoint/2010/main" val="1316994891"/>
      </p:ext>
    </p:extLst>
  </p:cSld>
  <p:clrMap bg1="lt1" tx1="dk1" bg2="lt2" tx2="dk2" accent1="accent1" accent2="accent2" accent3="accent3" accent4="accent4" accent5="accent5" accent6="accent6" hlink="hlink" folHlink="folHlink"/>
  <p:sldLayoutIdLst>
    <p:sldLayoutId id="2147483660" r:id="rId1"/>
    <p:sldLayoutId id="2147483662" r:id="rId2"/>
    <p:sldLayoutId id="2147483661" r:id="rId3"/>
    <p:sldLayoutId id="2147483675" r:id="rId4"/>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Lst>
  <mc:AlternateContent xmlns:mc="http://schemas.openxmlformats.org/markup-compatibility/2006" xmlns:p14="http://schemas.microsoft.com/office/powerpoint/2010/main">
    <mc:Choice Requires="p14">
      <p:transition p14:dur="10" advClick="0"/>
    </mc:Choice>
    <mc:Fallback xmlns="">
      <p:transition advClick="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0DB179-4FC7-4D2B-A845-4B3C142A88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3DE41D5-6FCC-4A6B-AC73-5EB4141C61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4A86190-6F0B-45FF-8536-062BD32D57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57E1C2-DDC9-4BEF-8400-1C06BF5B0C62}" type="datetimeFigureOut">
              <a:rPr lang="en-GB" smtClean="0"/>
              <a:t>23/10/2023</a:t>
            </a:fld>
            <a:endParaRPr lang="en-GB"/>
          </a:p>
        </p:txBody>
      </p:sp>
      <p:sp>
        <p:nvSpPr>
          <p:cNvPr id="5" name="Footer Placeholder 4">
            <a:extLst>
              <a:ext uri="{FF2B5EF4-FFF2-40B4-BE49-F238E27FC236}">
                <a16:creationId xmlns:a16="http://schemas.microsoft.com/office/drawing/2014/main" id="{E97F34F2-85A0-4C38-9120-E65066DC31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689F752A-33EB-4279-B0EA-6C2F419340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180A7D-2850-4397-87A3-BA67CBA76817}" type="slidenum">
              <a:rPr lang="en-GB" smtClean="0"/>
              <a:t>‹#›</a:t>
            </a:fld>
            <a:endParaRPr lang="en-GB"/>
          </a:p>
        </p:txBody>
      </p:sp>
    </p:spTree>
    <p:extLst>
      <p:ext uri="{BB962C8B-B14F-4D97-AF65-F5344CB8AC3E}">
        <p14:creationId xmlns:p14="http://schemas.microsoft.com/office/powerpoint/2010/main" val="1650806799"/>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mc:AlternateContent xmlns:mc="http://schemas.openxmlformats.org/markup-compatibility/2006" xmlns:p14="http://schemas.microsoft.com/office/powerpoint/2010/main">
    <mc:Choice Requires="p14">
      <p:transition p14:dur="10" advClick="0"/>
    </mc:Choice>
    <mc:Fallback xmlns="">
      <p:transition advClick="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ncsc.gov.uk/board-toolkit" TargetMode="External"/><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11.sv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13.sv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13.sv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3.sv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16.jpeg"/><Relationship Id="rId4" Type="http://schemas.openxmlformats.org/officeDocument/2006/relationships/image" Target="../media/image13.sv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20.png"/><Relationship Id="rId4" Type="http://schemas.openxmlformats.org/officeDocument/2006/relationships/image" Target="../media/image19.sv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tags" Target="../tags/tag1.xml"/><Relationship Id="rId5" Type="http://schemas.openxmlformats.org/officeDocument/2006/relationships/image" Target="../media/image13.sv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tags" Target="../tags/tag2.xml"/><Relationship Id="rId5" Type="http://schemas.openxmlformats.org/officeDocument/2006/relationships/image" Target="../media/image13.sv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hyperlink" Target="https://www.ncsc.gov.uk/board-toolkit" TargetMode="External"/><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a:extLst>
              <a:ext uri="{FF2B5EF4-FFF2-40B4-BE49-F238E27FC236}">
                <a16:creationId xmlns:a16="http://schemas.microsoft.com/office/drawing/2014/main" id="{67088A2B-3A2D-4B22-A189-84BF3EC6378F}"/>
              </a:ext>
            </a:extLst>
          </p:cNvPr>
          <p:cNvSpPr txBox="1">
            <a:spLocks/>
          </p:cNvSpPr>
          <p:nvPr/>
        </p:nvSpPr>
        <p:spPr>
          <a:xfrm>
            <a:off x="462382" y="2431986"/>
            <a:ext cx="5978602" cy="1596782"/>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a:solidFill>
                  <a:schemeClr val="bg1"/>
                </a:solidFill>
                <a:latin typeface="Poppins SemiBold" panose="00000700000000000000" pitchFamily="2" charset="0"/>
                <a:cs typeface="Poppins SemiBold" panose="00000700000000000000" pitchFamily="2" charset="0"/>
              </a:rPr>
              <a:t>Introducing the Cyber Security Toolkit for Boards:</a:t>
            </a:r>
          </a:p>
          <a:p>
            <a:pPr marL="0" indent="0">
              <a:buNone/>
            </a:pPr>
            <a:r>
              <a:rPr lang="en-GB">
                <a:solidFill>
                  <a:srgbClr val="B78B1E"/>
                </a:solidFill>
                <a:latin typeface="Poppins SemiBold"/>
                <a:cs typeface="Poppins SemiBold" panose="00000700000000000000" pitchFamily="2" charset="0"/>
              </a:rPr>
              <a:t>Helping board members get to grips with cyber security</a:t>
            </a:r>
            <a:endParaRPr lang="en-GB" sz="1800">
              <a:solidFill>
                <a:srgbClr val="B78B1E"/>
              </a:solidFill>
              <a:latin typeface="Poppins SemiBold"/>
              <a:cs typeface="Poppins SemiBold" panose="00000700000000000000" pitchFamily="2" charset="0"/>
            </a:endParaRPr>
          </a:p>
        </p:txBody>
      </p:sp>
      <p:sp>
        <p:nvSpPr>
          <p:cNvPr id="4" name="Text Placeholder 1">
            <a:extLst>
              <a:ext uri="{FF2B5EF4-FFF2-40B4-BE49-F238E27FC236}">
                <a16:creationId xmlns:a16="http://schemas.microsoft.com/office/drawing/2014/main" id="{8BF97F52-DE2B-4800-B56E-951ADF0D2890}"/>
              </a:ext>
            </a:extLst>
          </p:cNvPr>
          <p:cNvSpPr txBox="1">
            <a:spLocks/>
          </p:cNvSpPr>
          <p:nvPr/>
        </p:nvSpPr>
        <p:spPr>
          <a:xfrm>
            <a:off x="584662" y="5526379"/>
            <a:ext cx="6293690" cy="51115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200" dirty="0">
                <a:solidFill>
                  <a:srgbClr val="B78B1E"/>
                </a:solidFill>
                <a:latin typeface="Poppins SemiBold" panose="00000700000000000000" pitchFamily="2" charset="0"/>
                <a:cs typeface="Poppins SemiBold" panose="00000700000000000000" pitchFamily="2" charset="0"/>
                <a:hlinkClick r:id="rId3"/>
              </a:rPr>
              <a:t>https://www.ncsc.gov.uk/board-toolkit</a:t>
            </a:r>
            <a:endParaRPr lang="en-GB" sz="1200" dirty="0">
              <a:solidFill>
                <a:srgbClr val="B78B1E"/>
              </a:solidFill>
              <a:latin typeface="Poppins SemiBold" panose="00000700000000000000" pitchFamily="2" charset="0"/>
              <a:cs typeface="Poppins SemiBold" panose="00000700000000000000" pitchFamily="2" charset="0"/>
            </a:endParaRPr>
          </a:p>
          <a:p>
            <a:pPr marL="0" indent="0">
              <a:buNone/>
            </a:pPr>
            <a:endParaRPr lang="en-GB" sz="1800" dirty="0">
              <a:solidFill>
                <a:srgbClr val="B78B1E"/>
              </a:solidFill>
              <a:latin typeface="Poppins SemiBold" panose="00000700000000000000" pitchFamily="2" charset="0"/>
              <a:cs typeface="Poppins SemiBold" panose="00000700000000000000" pitchFamily="2" charset="0"/>
            </a:endParaRPr>
          </a:p>
        </p:txBody>
      </p:sp>
    </p:spTree>
    <p:extLst>
      <p:ext uri="{BB962C8B-B14F-4D97-AF65-F5344CB8AC3E}">
        <p14:creationId xmlns:p14="http://schemas.microsoft.com/office/powerpoint/2010/main" val="19955720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0F360D2-77F1-3C95-7486-2B41E08CDEF8}"/>
              </a:ext>
            </a:extLst>
          </p:cNvPr>
          <p:cNvSpPr>
            <a:spLocks noGrp="1"/>
          </p:cNvSpPr>
          <p:nvPr>
            <p:ph type="body" sz="quarter" idx="13"/>
          </p:nvPr>
        </p:nvSpPr>
        <p:spPr/>
        <p:txBody>
          <a:bodyPr>
            <a:normAutofit fontScale="70000" lnSpcReduction="20000"/>
          </a:bodyPr>
          <a:lstStyle/>
          <a:p>
            <a:r>
              <a:rPr lang="en-GB" sz="3300">
                <a:solidFill>
                  <a:srgbClr val="B78B1E"/>
                </a:solidFill>
              </a:rPr>
              <a:t>Helping to make the UK the safest place to live and work online </a:t>
            </a:r>
          </a:p>
          <a:p>
            <a:endParaRPr lang="en-GB"/>
          </a:p>
        </p:txBody>
      </p:sp>
      <p:sp>
        <p:nvSpPr>
          <p:cNvPr id="4" name="Text Placeholder 20">
            <a:extLst>
              <a:ext uri="{FF2B5EF4-FFF2-40B4-BE49-F238E27FC236}">
                <a16:creationId xmlns:a16="http://schemas.microsoft.com/office/drawing/2014/main" id="{D441E94F-D55E-2ED3-C811-5C545AF85AC8}"/>
              </a:ext>
            </a:extLst>
          </p:cNvPr>
          <p:cNvSpPr>
            <a:spLocks noGrp="1"/>
          </p:cNvSpPr>
          <p:nvPr>
            <p:ph type="body" sz="quarter" idx="15"/>
          </p:nvPr>
        </p:nvSpPr>
        <p:spPr>
          <a:xfrm>
            <a:off x="474662" y="2261419"/>
            <a:ext cx="4746267" cy="3449099"/>
          </a:xfrm>
        </p:spPr>
        <p:txBody>
          <a:bodyPr vert="horz" lIns="91440" tIns="45720" rIns="91440" bIns="45720" rtlCol="0" anchor="t">
            <a:normAutofit/>
          </a:bodyPr>
          <a:lstStyle/>
          <a:p>
            <a:pPr marL="0" indent="0">
              <a:lnSpc>
                <a:spcPct val="100000"/>
              </a:lnSpc>
              <a:buNone/>
            </a:pPr>
            <a:r>
              <a:rPr lang="en-GB" b="1"/>
              <a:t>The NCSC:</a:t>
            </a:r>
          </a:p>
          <a:p>
            <a:pPr marL="342900" indent="-342900" fontAlgn="base">
              <a:lnSpc>
                <a:spcPct val="100000"/>
              </a:lnSpc>
              <a:buFont typeface="Arial" panose="020B0604020202020204" pitchFamily="34" charset="0"/>
              <a:buChar char="•"/>
            </a:pPr>
            <a:r>
              <a:rPr lang="en-GB" sz="1400" b="1">
                <a:latin typeface="Poppins Light"/>
              </a:rPr>
              <a:t>Understands</a:t>
            </a:r>
            <a:r>
              <a:rPr lang="en-GB" sz="1400">
                <a:latin typeface="Poppins Light"/>
              </a:rPr>
              <a:t> cyber security and distils this knowledge into practical guidance that we make available to all.</a:t>
            </a:r>
          </a:p>
          <a:p>
            <a:pPr marL="342900" indent="-342900" fontAlgn="base">
              <a:lnSpc>
                <a:spcPct val="100000"/>
              </a:lnSpc>
              <a:buFont typeface="Arial" panose="020B0604020202020204" pitchFamily="34" charset="0"/>
              <a:buChar char="•"/>
            </a:pPr>
            <a:r>
              <a:rPr lang="en-GB" sz="1400" b="1">
                <a:latin typeface="Poppins Light"/>
              </a:rPr>
              <a:t>Responds</a:t>
            </a:r>
            <a:r>
              <a:rPr lang="en-GB" sz="1400">
                <a:latin typeface="Poppins Light"/>
              </a:rPr>
              <a:t> to cyber security incidents to reduce the harm they cause to organisations and the wider UK.</a:t>
            </a:r>
          </a:p>
          <a:p>
            <a:pPr marL="342900" indent="-342900" fontAlgn="base">
              <a:lnSpc>
                <a:spcPct val="100000"/>
              </a:lnSpc>
              <a:buFont typeface="Arial" panose="020B0604020202020204" pitchFamily="34" charset="0"/>
              <a:buChar char="•"/>
            </a:pPr>
            <a:r>
              <a:rPr lang="en-GB" sz="1400">
                <a:latin typeface="Poppins Light"/>
              </a:rPr>
              <a:t>Uses industry and academic expertise to </a:t>
            </a:r>
            <a:r>
              <a:rPr lang="en-GB" sz="1400" b="1">
                <a:latin typeface="Poppins Light"/>
              </a:rPr>
              <a:t>nurture</a:t>
            </a:r>
            <a:r>
              <a:rPr lang="en-GB" sz="1400">
                <a:latin typeface="Poppins Light"/>
              </a:rPr>
              <a:t> the UK's cyber security capability.</a:t>
            </a:r>
          </a:p>
          <a:p>
            <a:pPr marL="342900" indent="-342900" fontAlgn="base">
              <a:lnSpc>
                <a:spcPct val="100000"/>
              </a:lnSpc>
              <a:buFont typeface="Arial" panose="020B0604020202020204" pitchFamily="34" charset="0"/>
              <a:buChar char="•"/>
            </a:pPr>
            <a:r>
              <a:rPr lang="en-GB" sz="1400" b="1">
                <a:latin typeface="Poppins Light"/>
              </a:rPr>
              <a:t>Reduces</a:t>
            </a:r>
            <a:r>
              <a:rPr lang="en-GB" sz="1400">
                <a:latin typeface="Poppins Light"/>
              </a:rPr>
              <a:t> risks to the UK by securing public and private sector networks.</a:t>
            </a:r>
            <a:endParaRPr lang="en-GB" sz="1400"/>
          </a:p>
          <a:p>
            <a:pPr marL="0" indent="0">
              <a:lnSpc>
                <a:spcPct val="100000"/>
              </a:lnSpc>
              <a:buNone/>
            </a:pPr>
            <a:endParaRPr lang="en-GB" b="1"/>
          </a:p>
          <a:p>
            <a:pPr marL="0" indent="0">
              <a:lnSpc>
                <a:spcPct val="100000"/>
              </a:lnSpc>
              <a:buNone/>
            </a:pPr>
            <a:endParaRPr lang="en-GB" b="1"/>
          </a:p>
          <a:p>
            <a:pPr marL="0" indent="0">
              <a:lnSpc>
                <a:spcPct val="100000"/>
              </a:lnSpc>
              <a:buNone/>
            </a:pPr>
            <a:endParaRPr lang="en-GB" b="1"/>
          </a:p>
          <a:p>
            <a:pPr marL="0" indent="0">
              <a:lnSpc>
                <a:spcPct val="100000"/>
              </a:lnSpc>
              <a:buNone/>
            </a:pPr>
            <a:endParaRPr lang="en-GB" b="1"/>
          </a:p>
        </p:txBody>
      </p:sp>
      <p:pic>
        <p:nvPicPr>
          <p:cNvPr id="5" name="Picture 4">
            <a:extLst>
              <a:ext uri="{FF2B5EF4-FFF2-40B4-BE49-F238E27FC236}">
                <a16:creationId xmlns:a16="http://schemas.microsoft.com/office/drawing/2014/main" id="{5ADEBE74-6636-47F0-4308-12D2D465178C}"/>
              </a:ext>
            </a:extLst>
          </p:cNvPr>
          <p:cNvPicPr>
            <a:picLocks noChangeAspect="1"/>
          </p:cNvPicPr>
          <p:nvPr/>
        </p:nvPicPr>
        <p:blipFill>
          <a:blip r:embed="rId3"/>
          <a:stretch>
            <a:fillRect/>
          </a:stretch>
        </p:blipFill>
        <p:spPr>
          <a:xfrm>
            <a:off x="6012436" y="2663751"/>
            <a:ext cx="5634777" cy="2836945"/>
          </a:xfrm>
          <a:prstGeom prst="rect">
            <a:avLst/>
          </a:prstGeom>
        </p:spPr>
      </p:pic>
    </p:spTree>
    <p:extLst>
      <p:ext uri="{BB962C8B-B14F-4D97-AF65-F5344CB8AC3E}">
        <p14:creationId xmlns:p14="http://schemas.microsoft.com/office/powerpoint/2010/main" val="40289579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A49F94F-C394-52C2-C976-24D4516FB9C2}"/>
              </a:ext>
            </a:extLst>
          </p:cNvPr>
          <p:cNvSpPr>
            <a:spLocks noGrp="1"/>
          </p:cNvSpPr>
          <p:nvPr>
            <p:ph type="body" sz="quarter" idx="13"/>
          </p:nvPr>
        </p:nvSpPr>
        <p:spPr/>
        <p:txBody>
          <a:bodyPr>
            <a:normAutofit/>
          </a:bodyPr>
          <a:lstStyle/>
          <a:p>
            <a:r>
              <a:rPr lang="en-GB">
                <a:solidFill>
                  <a:srgbClr val="B78B1E"/>
                </a:solidFill>
              </a:rPr>
              <a:t>Cyber security as a board level responsibility</a:t>
            </a:r>
          </a:p>
        </p:txBody>
      </p:sp>
      <p:sp>
        <p:nvSpPr>
          <p:cNvPr id="4" name="Text Placeholder 3">
            <a:extLst>
              <a:ext uri="{FF2B5EF4-FFF2-40B4-BE49-F238E27FC236}">
                <a16:creationId xmlns:a16="http://schemas.microsoft.com/office/drawing/2014/main" id="{21927747-8DF0-D3FC-F892-2F6F7A3EFD91}"/>
              </a:ext>
            </a:extLst>
          </p:cNvPr>
          <p:cNvSpPr>
            <a:spLocks noGrp="1"/>
          </p:cNvSpPr>
          <p:nvPr>
            <p:ph type="body" sz="quarter" idx="15"/>
          </p:nvPr>
        </p:nvSpPr>
        <p:spPr>
          <a:xfrm>
            <a:off x="1169627" y="2504226"/>
            <a:ext cx="8213076" cy="2807246"/>
          </a:xfrm>
        </p:spPr>
        <p:txBody>
          <a:bodyPr vert="horz" lIns="91440" tIns="45720" rIns="91440" bIns="45720" rtlCol="0" anchor="t">
            <a:normAutofit/>
          </a:bodyPr>
          <a:lstStyle/>
          <a:p>
            <a:pPr marL="0" indent="0">
              <a:buNone/>
            </a:pPr>
            <a:r>
              <a:rPr lang="en-GB" sz="1400">
                <a:solidFill>
                  <a:srgbClr val="0D2650"/>
                </a:solidFill>
              </a:rPr>
              <a:t> </a:t>
            </a:r>
            <a:endParaRPr lang="en-GB" sz="1400"/>
          </a:p>
          <a:p>
            <a:pPr lvl="1"/>
            <a:endParaRPr lang="en-GB"/>
          </a:p>
          <a:p>
            <a:pPr marL="457200" lvl="1" indent="0">
              <a:buNone/>
            </a:pPr>
            <a:r>
              <a:rPr lang="en-GB"/>
              <a:t>Nearly all organisations depend on digital technology to </a:t>
            </a:r>
            <a:r>
              <a:rPr lang="en-GB" b="1"/>
              <a:t>function</a:t>
            </a:r>
          </a:p>
          <a:p>
            <a:pPr marL="971550" lvl="1" indent="-514350">
              <a:buFont typeface="+mj-lt"/>
              <a:buAutoNum type="arabicPeriod"/>
            </a:pPr>
            <a:endParaRPr lang="en-GB" b="1"/>
          </a:p>
          <a:p>
            <a:pPr marL="457200" lvl="1" indent="0">
              <a:buNone/>
            </a:pPr>
            <a:r>
              <a:rPr lang="en-GB"/>
              <a:t>The potential </a:t>
            </a:r>
            <a:r>
              <a:rPr lang="en-GB" b="1"/>
              <a:t>cost</a:t>
            </a:r>
            <a:r>
              <a:rPr lang="en-GB"/>
              <a:t> of remedying a cyber incident can be significant</a:t>
            </a:r>
          </a:p>
          <a:p>
            <a:pPr marL="971550" lvl="1" indent="-514350">
              <a:buFont typeface="+mj-lt"/>
              <a:buAutoNum type="arabicPeriod"/>
            </a:pPr>
            <a:endParaRPr lang="en-GB"/>
          </a:p>
          <a:p>
            <a:pPr marL="457200" lvl="1" indent="0">
              <a:buNone/>
            </a:pPr>
            <a:r>
              <a:rPr lang="en-GB">
                <a:latin typeface="Poppins Light"/>
              </a:rPr>
              <a:t>The risk of </a:t>
            </a:r>
            <a:r>
              <a:rPr lang="en-GB" b="1">
                <a:latin typeface="Poppins Light"/>
              </a:rPr>
              <a:t>reputational damage</a:t>
            </a:r>
          </a:p>
          <a:p>
            <a:pPr marL="971550" lvl="1" indent="-514350">
              <a:buFont typeface="+mj-lt"/>
              <a:buAutoNum type="arabicPeriod"/>
            </a:pPr>
            <a:endParaRPr lang="en-GB" b="1"/>
          </a:p>
          <a:p>
            <a:pPr marL="971550" lvl="1" indent="-514350">
              <a:buFont typeface="+mj-lt"/>
              <a:buAutoNum type="arabicPeriod"/>
            </a:pPr>
            <a:endParaRPr lang="en-GB" b="1"/>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effectLst/>
                <a:uLnTx/>
                <a:uFillTx/>
                <a:latin typeface="Poppins Light"/>
                <a:cs typeface="+mn-cs"/>
              </a:rPr>
              <a:t>Cyber security is therefore </a:t>
            </a:r>
            <a:r>
              <a:rPr kumimoji="0" lang="en-GB" sz="1400" b="1" i="0" u="none" strike="noStrike" kern="1200" cap="none" spc="0" normalizeH="0" baseline="0" noProof="0">
                <a:ln>
                  <a:noFill/>
                </a:ln>
                <a:effectLst/>
                <a:uLnTx/>
                <a:uFillTx/>
                <a:latin typeface="Poppins Light"/>
                <a:cs typeface="+mn-cs"/>
              </a:rPr>
              <a:t>essential</a:t>
            </a:r>
            <a:r>
              <a:rPr kumimoji="0" lang="en-GB" sz="1400" b="0" i="0" u="none" strike="noStrike" kern="1200" cap="none" spc="0" normalizeH="0" baseline="0" noProof="0">
                <a:ln>
                  <a:noFill/>
                </a:ln>
                <a:effectLst/>
                <a:uLnTx/>
                <a:uFillTx/>
                <a:latin typeface="Poppins Light"/>
                <a:cs typeface="+mn-cs"/>
              </a:rPr>
              <a:t> and needs to be understood as an </a:t>
            </a:r>
            <a:r>
              <a:rPr kumimoji="0" lang="en-GB" sz="1400" b="1" i="0" u="none" strike="noStrike" kern="1200" cap="none" spc="0" normalizeH="0" baseline="0" noProof="0">
                <a:ln>
                  <a:noFill/>
                </a:ln>
                <a:effectLst/>
                <a:uLnTx/>
                <a:uFillTx/>
                <a:latin typeface="Poppins Light"/>
                <a:cs typeface="+mn-cs"/>
              </a:rPr>
              <a:t>enabler.</a:t>
            </a:r>
            <a:endParaRPr lang="en-GB" sz="1400" b="1" i="0" u="none" strike="noStrike" kern="1200" cap="none" spc="0" normalizeH="0" baseline="0" noProof="0">
              <a:ln>
                <a:noFill/>
              </a:ln>
              <a:effectLst/>
              <a:uLnTx/>
              <a:uFillTx/>
              <a:latin typeface="Poppins Light"/>
              <a:cs typeface="+mn-cs"/>
            </a:endParaRPr>
          </a:p>
          <a:p>
            <a:pPr marL="457200" lvl="1" indent="0">
              <a:buNone/>
            </a:pPr>
            <a:endParaRPr lang="en-GB" b="1"/>
          </a:p>
          <a:p>
            <a:endParaRPr lang="en-GB" sz="1400">
              <a:solidFill>
                <a:srgbClr val="0D2650"/>
              </a:solidFill>
            </a:endParaRPr>
          </a:p>
        </p:txBody>
      </p:sp>
      <p:pic>
        <p:nvPicPr>
          <p:cNvPr id="5" name="Graphic 4">
            <a:extLst>
              <a:ext uri="{FF2B5EF4-FFF2-40B4-BE49-F238E27FC236}">
                <a16:creationId xmlns:a16="http://schemas.microsoft.com/office/drawing/2014/main" id="{E55CE307-961E-C16F-CD5F-CF98B325ED8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21991" y="3022407"/>
            <a:ext cx="295275" cy="295275"/>
          </a:xfrm>
          <a:prstGeom prst="rect">
            <a:avLst/>
          </a:prstGeom>
        </p:spPr>
      </p:pic>
      <p:pic>
        <p:nvPicPr>
          <p:cNvPr id="6" name="Graphic 5">
            <a:extLst>
              <a:ext uri="{FF2B5EF4-FFF2-40B4-BE49-F238E27FC236}">
                <a16:creationId xmlns:a16="http://schemas.microsoft.com/office/drawing/2014/main" id="{F2853069-3576-BEE2-CF95-C4DE2C2E88B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21990" y="3540319"/>
            <a:ext cx="295275" cy="295275"/>
          </a:xfrm>
          <a:prstGeom prst="rect">
            <a:avLst/>
          </a:prstGeom>
        </p:spPr>
      </p:pic>
      <p:pic>
        <p:nvPicPr>
          <p:cNvPr id="7" name="Graphic 6">
            <a:extLst>
              <a:ext uri="{FF2B5EF4-FFF2-40B4-BE49-F238E27FC236}">
                <a16:creationId xmlns:a16="http://schemas.microsoft.com/office/drawing/2014/main" id="{EBAC25F2-E125-1AC3-C209-A11B2DB9FE4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21990" y="4058231"/>
            <a:ext cx="295275" cy="295275"/>
          </a:xfrm>
          <a:prstGeom prst="rect">
            <a:avLst/>
          </a:prstGeom>
        </p:spPr>
      </p:pic>
    </p:spTree>
    <p:extLst>
      <p:ext uri="{BB962C8B-B14F-4D97-AF65-F5344CB8AC3E}">
        <p14:creationId xmlns:p14="http://schemas.microsoft.com/office/powerpoint/2010/main" val="89283520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C2E8CED-8233-4844-84EB-AB3D003F190F}"/>
              </a:ext>
            </a:extLst>
          </p:cNvPr>
          <p:cNvSpPr>
            <a:spLocks noGrp="1"/>
          </p:cNvSpPr>
          <p:nvPr>
            <p:ph type="body" sz="quarter" idx="13"/>
          </p:nvPr>
        </p:nvSpPr>
        <p:spPr/>
        <p:txBody>
          <a:bodyPr>
            <a:noAutofit/>
          </a:bodyPr>
          <a:lstStyle/>
          <a:p>
            <a:r>
              <a:rPr lang="en-GB">
                <a:solidFill>
                  <a:srgbClr val="B78B1E"/>
                </a:solidFill>
              </a:rPr>
              <a:t>The Cyber Security Toolkit for Boards: the basics</a:t>
            </a:r>
            <a:br>
              <a:rPr lang="en-GB">
                <a:solidFill>
                  <a:srgbClr val="FFC000"/>
                </a:solidFill>
              </a:rPr>
            </a:br>
            <a:endParaRPr lang="en-GB" b="1"/>
          </a:p>
        </p:txBody>
      </p:sp>
      <p:sp>
        <p:nvSpPr>
          <p:cNvPr id="7" name="Text Placeholder 3">
            <a:extLst>
              <a:ext uri="{FF2B5EF4-FFF2-40B4-BE49-F238E27FC236}">
                <a16:creationId xmlns:a16="http://schemas.microsoft.com/office/drawing/2014/main" id="{F0CCA75D-7C7F-409E-B68E-2E392ADF81D6}"/>
              </a:ext>
            </a:extLst>
          </p:cNvPr>
          <p:cNvSpPr txBox="1">
            <a:spLocks/>
          </p:cNvSpPr>
          <p:nvPr/>
        </p:nvSpPr>
        <p:spPr>
          <a:xfrm>
            <a:off x="1473640" y="2342607"/>
            <a:ext cx="10367962" cy="191382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bg1"/>
                </a:solidFill>
                <a:latin typeface="Poppins Light" panose="00000400000000000000" pitchFamily="2" charset="0"/>
                <a:ea typeface="+mn-ea"/>
                <a:cs typeface="Poppins Light" panose="000004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solidFill>
                <a:latin typeface="Poppins Light" panose="00000400000000000000" pitchFamily="2" charset="0"/>
                <a:ea typeface="+mn-ea"/>
                <a:cs typeface="Poppins Light" panose="000004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bg1"/>
                </a:solidFill>
                <a:latin typeface="Poppins Light" panose="00000400000000000000" pitchFamily="2" charset="0"/>
                <a:ea typeface="+mn-ea"/>
                <a:cs typeface="Poppins Light" panose="000004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bg1"/>
                </a:solidFill>
                <a:latin typeface="Poppins Light" panose="00000400000000000000" pitchFamily="2" charset="0"/>
                <a:ea typeface="+mn-ea"/>
                <a:cs typeface="Poppins Light" panose="000004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bg1"/>
                </a:solidFill>
                <a:latin typeface="Poppins Light" panose="00000400000000000000" pitchFamily="2" charset="0"/>
                <a:ea typeface="+mn-ea"/>
                <a:cs typeface="Poppins Light" panose="000004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00000"/>
              </a:lnSpc>
              <a:buFont typeface="Arial" panose="020B0604020202020204" pitchFamily="34" charset="0"/>
              <a:buChar char="•"/>
            </a:pPr>
            <a:endParaRPr lang="en-GB" sz="1400" dirty="0">
              <a:solidFill>
                <a:schemeClr val="bg1"/>
              </a:solidFill>
            </a:endParaRPr>
          </a:p>
          <a:p>
            <a:pPr marL="0" indent="0">
              <a:lnSpc>
                <a:spcPct val="100000"/>
              </a:lnSpc>
              <a:buNone/>
            </a:pPr>
            <a:r>
              <a:rPr lang="en-GB" sz="1400" b="1" dirty="0">
                <a:solidFill>
                  <a:schemeClr val="bg1"/>
                </a:solidFill>
                <a:latin typeface="Poppins SemiBold" panose="00000700000000000000" pitchFamily="2" charset="0"/>
                <a:cs typeface="Poppins SemiBold" panose="00000700000000000000" pitchFamily="2" charset="0"/>
              </a:rPr>
              <a:t>Guidance</a:t>
            </a:r>
            <a:r>
              <a:rPr lang="en-GB" sz="1400" b="1" dirty="0">
                <a:solidFill>
                  <a:schemeClr val="bg1"/>
                </a:solidFill>
              </a:rPr>
              <a:t> </a:t>
            </a:r>
            <a:r>
              <a:rPr lang="en-GB" sz="1400" dirty="0">
                <a:solidFill>
                  <a:schemeClr val="bg1"/>
                </a:solidFill>
              </a:rPr>
              <a:t>to support board members </a:t>
            </a:r>
            <a:r>
              <a:rPr lang="en-GB" sz="1400" b="1" dirty="0">
                <a:solidFill>
                  <a:schemeClr val="bg1"/>
                </a:solidFill>
              </a:rPr>
              <a:t>get up to speed </a:t>
            </a:r>
            <a:r>
              <a:rPr lang="en-GB" sz="1400" dirty="0">
                <a:solidFill>
                  <a:schemeClr val="bg1"/>
                </a:solidFill>
              </a:rPr>
              <a:t>on a topic they may or may not be familiar with </a:t>
            </a:r>
          </a:p>
        </p:txBody>
      </p:sp>
      <p:pic>
        <p:nvPicPr>
          <p:cNvPr id="8" name="Graphic 7">
            <a:extLst>
              <a:ext uri="{FF2B5EF4-FFF2-40B4-BE49-F238E27FC236}">
                <a16:creationId xmlns:a16="http://schemas.microsoft.com/office/drawing/2014/main" id="{6C06C5B6-8F8A-4574-A8AE-065C4C364FA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8281" y="2725816"/>
            <a:ext cx="472596" cy="472596"/>
          </a:xfrm>
          <a:prstGeom prst="rect">
            <a:avLst/>
          </a:prstGeom>
        </p:spPr>
      </p:pic>
      <p:sp>
        <p:nvSpPr>
          <p:cNvPr id="12" name="Text Placeholder 3">
            <a:extLst>
              <a:ext uri="{FF2B5EF4-FFF2-40B4-BE49-F238E27FC236}">
                <a16:creationId xmlns:a16="http://schemas.microsoft.com/office/drawing/2014/main" id="{8D445664-95F9-4FE2-AFDE-9542926B5147}"/>
              </a:ext>
            </a:extLst>
          </p:cNvPr>
          <p:cNvSpPr txBox="1">
            <a:spLocks/>
          </p:cNvSpPr>
          <p:nvPr/>
        </p:nvSpPr>
        <p:spPr>
          <a:xfrm>
            <a:off x="1473640" y="4679925"/>
            <a:ext cx="8266708" cy="191382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bg1"/>
                </a:solidFill>
                <a:latin typeface="Poppins Light" panose="00000400000000000000" pitchFamily="2" charset="0"/>
                <a:ea typeface="+mn-ea"/>
                <a:cs typeface="Poppins Light" panose="000004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solidFill>
                <a:latin typeface="Poppins Light" panose="00000400000000000000" pitchFamily="2" charset="0"/>
                <a:ea typeface="+mn-ea"/>
                <a:cs typeface="Poppins Light" panose="000004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bg1"/>
                </a:solidFill>
                <a:latin typeface="Poppins Light" panose="00000400000000000000" pitchFamily="2" charset="0"/>
                <a:ea typeface="+mn-ea"/>
                <a:cs typeface="Poppins Light" panose="000004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bg1"/>
                </a:solidFill>
                <a:latin typeface="Poppins Light" panose="00000400000000000000" pitchFamily="2" charset="0"/>
                <a:ea typeface="+mn-ea"/>
                <a:cs typeface="Poppins Light" panose="000004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bg1"/>
                </a:solidFill>
                <a:latin typeface="Poppins Light" panose="00000400000000000000" pitchFamily="2" charset="0"/>
                <a:ea typeface="+mn-ea"/>
                <a:cs typeface="Poppins Light" panose="000004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endParaRPr lang="en-GB" sz="1400" dirty="0">
              <a:solidFill>
                <a:schemeClr val="bg1"/>
              </a:solidFill>
            </a:endParaRPr>
          </a:p>
          <a:p>
            <a:pPr marL="0" indent="0">
              <a:buNone/>
            </a:pPr>
            <a:r>
              <a:rPr lang="en-GB" sz="1400" dirty="0">
                <a:solidFill>
                  <a:schemeClr val="bg1"/>
                </a:solidFill>
                <a:latin typeface="Poppins SemiBold" panose="00000700000000000000" pitchFamily="2" charset="0"/>
                <a:cs typeface="Poppins SemiBold" panose="00000700000000000000" pitchFamily="2" charset="0"/>
              </a:rPr>
              <a:t>Available online.</a:t>
            </a:r>
          </a:p>
          <a:p>
            <a:pPr marL="0" indent="0">
              <a:buNone/>
            </a:pPr>
            <a:r>
              <a:rPr lang="en-GB" sz="1400" dirty="0"/>
              <a:t>P</a:t>
            </a:r>
            <a:r>
              <a:rPr lang="en-GB" sz="1400" dirty="0">
                <a:solidFill>
                  <a:schemeClr val="bg1"/>
                </a:solidFill>
              </a:rPr>
              <a:t>df can be downloaded for those who prefer a hard copy</a:t>
            </a:r>
            <a:endParaRPr lang="en-GB" sz="1400" dirty="0">
              <a:solidFill>
                <a:schemeClr val="bg1"/>
              </a:solidFill>
              <a:cs typeface="Calibri"/>
            </a:endParaRPr>
          </a:p>
        </p:txBody>
      </p:sp>
      <p:sp>
        <p:nvSpPr>
          <p:cNvPr id="14" name="Text Placeholder 3">
            <a:extLst>
              <a:ext uri="{FF2B5EF4-FFF2-40B4-BE49-F238E27FC236}">
                <a16:creationId xmlns:a16="http://schemas.microsoft.com/office/drawing/2014/main" id="{09938661-5968-4A1C-A6F3-EE05D7B8FB65}"/>
              </a:ext>
            </a:extLst>
          </p:cNvPr>
          <p:cNvSpPr txBox="1">
            <a:spLocks/>
          </p:cNvSpPr>
          <p:nvPr/>
        </p:nvSpPr>
        <p:spPr>
          <a:xfrm>
            <a:off x="1473640" y="3564079"/>
            <a:ext cx="10197660" cy="118315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bg1"/>
                </a:solidFill>
                <a:latin typeface="Poppins Light" panose="00000400000000000000" pitchFamily="2" charset="0"/>
                <a:ea typeface="+mn-ea"/>
                <a:cs typeface="Poppins Light" panose="000004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solidFill>
                <a:latin typeface="Poppins Light" panose="00000400000000000000" pitchFamily="2" charset="0"/>
                <a:ea typeface="+mn-ea"/>
                <a:cs typeface="Poppins Light" panose="000004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bg1"/>
                </a:solidFill>
                <a:latin typeface="Poppins Light" panose="00000400000000000000" pitchFamily="2" charset="0"/>
                <a:ea typeface="+mn-ea"/>
                <a:cs typeface="Poppins Light" panose="000004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bg1"/>
                </a:solidFill>
                <a:latin typeface="Poppins Light" panose="00000400000000000000" pitchFamily="2" charset="0"/>
                <a:ea typeface="+mn-ea"/>
                <a:cs typeface="Poppins Light" panose="000004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bg1"/>
                </a:solidFill>
                <a:latin typeface="Poppins Light" panose="00000400000000000000" pitchFamily="2" charset="0"/>
                <a:ea typeface="+mn-ea"/>
                <a:cs typeface="Poppins Light" panose="000004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endParaRPr lang="en-GB" sz="1400">
              <a:solidFill>
                <a:schemeClr val="bg1"/>
              </a:solidFill>
            </a:endParaRPr>
          </a:p>
          <a:p>
            <a:pPr marL="0" indent="0">
              <a:buNone/>
            </a:pPr>
            <a:r>
              <a:rPr lang="en-GB" sz="1400">
                <a:solidFill>
                  <a:schemeClr val="bg1"/>
                </a:solidFill>
              </a:rPr>
              <a:t>Designed primarily for </a:t>
            </a:r>
            <a:r>
              <a:rPr lang="en-GB" sz="1400" b="1">
                <a:solidFill>
                  <a:schemeClr val="bg1"/>
                </a:solidFill>
                <a:latin typeface="Poppins SemiBold" panose="00000700000000000000" pitchFamily="2" charset="0"/>
                <a:cs typeface="Poppins SemiBold" panose="00000700000000000000" pitchFamily="2" charset="0"/>
              </a:rPr>
              <a:t>corporate</a:t>
            </a:r>
            <a:r>
              <a:rPr lang="en-GB" sz="1400">
                <a:solidFill>
                  <a:schemeClr val="bg1"/>
                </a:solidFill>
                <a:latin typeface="Poppins SemiBold" panose="00000700000000000000" pitchFamily="2" charset="0"/>
                <a:cs typeface="Poppins SemiBold" panose="00000700000000000000" pitchFamily="2" charset="0"/>
              </a:rPr>
              <a:t> </a:t>
            </a:r>
            <a:r>
              <a:rPr lang="en-GB" sz="1400">
                <a:solidFill>
                  <a:schemeClr val="bg1"/>
                </a:solidFill>
              </a:rPr>
              <a:t>boards but relevant to any board in any sector</a:t>
            </a:r>
          </a:p>
          <a:p>
            <a:pPr marL="0" indent="0">
              <a:buNone/>
            </a:pPr>
            <a:r>
              <a:rPr lang="en-GB" sz="1400">
                <a:solidFill>
                  <a:schemeClr val="bg1"/>
                </a:solidFill>
              </a:rPr>
              <a:t> </a:t>
            </a:r>
            <a:r>
              <a:rPr lang="en-GB" sz="1400" i="1">
                <a:solidFill>
                  <a:schemeClr val="bg1"/>
                </a:solidFill>
              </a:rPr>
              <a:t>(e.g. school governors, charity trustees).</a:t>
            </a:r>
          </a:p>
        </p:txBody>
      </p:sp>
      <p:pic>
        <p:nvPicPr>
          <p:cNvPr id="16" name="Graphic 15">
            <a:extLst>
              <a:ext uri="{FF2B5EF4-FFF2-40B4-BE49-F238E27FC236}">
                <a16:creationId xmlns:a16="http://schemas.microsoft.com/office/drawing/2014/main" id="{38502F45-EE16-475B-A636-818293405C1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7258" y="3919360"/>
            <a:ext cx="472596" cy="472596"/>
          </a:xfrm>
          <a:prstGeom prst="rect">
            <a:avLst/>
          </a:prstGeom>
        </p:spPr>
      </p:pic>
      <p:pic>
        <p:nvPicPr>
          <p:cNvPr id="17" name="Graphic 16">
            <a:extLst>
              <a:ext uri="{FF2B5EF4-FFF2-40B4-BE49-F238E27FC236}">
                <a16:creationId xmlns:a16="http://schemas.microsoft.com/office/drawing/2014/main" id="{59D01722-E778-4199-B9BD-AA4FC5DBA6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8281" y="5053186"/>
            <a:ext cx="472596" cy="472596"/>
          </a:xfrm>
          <a:prstGeom prst="rect">
            <a:avLst/>
          </a:prstGeom>
        </p:spPr>
      </p:pic>
    </p:spTree>
    <p:extLst>
      <p:ext uri="{BB962C8B-B14F-4D97-AF65-F5344CB8AC3E}">
        <p14:creationId xmlns:p14="http://schemas.microsoft.com/office/powerpoint/2010/main" val="354039421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C2E8CED-8233-4844-84EB-AB3D003F190F}"/>
              </a:ext>
            </a:extLst>
          </p:cNvPr>
          <p:cNvSpPr>
            <a:spLocks noGrp="1"/>
          </p:cNvSpPr>
          <p:nvPr>
            <p:ph type="body" sz="quarter" idx="13"/>
          </p:nvPr>
        </p:nvSpPr>
        <p:spPr/>
        <p:txBody>
          <a:bodyPr>
            <a:noAutofit/>
          </a:bodyPr>
          <a:lstStyle/>
          <a:p>
            <a:pPr>
              <a:lnSpc>
                <a:spcPct val="85000"/>
              </a:lnSpc>
              <a:defRPr/>
            </a:pPr>
            <a:r>
              <a:rPr lang="en-GB" b="1">
                <a:solidFill>
                  <a:srgbClr val="B78B1E"/>
                </a:solidFill>
              </a:rPr>
              <a:t>How the toolkit can help </a:t>
            </a:r>
          </a:p>
        </p:txBody>
      </p:sp>
      <p:sp>
        <p:nvSpPr>
          <p:cNvPr id="14" name="Text Placeholder 3">
            <a:extLst>
              <a:ext uri="{FF2B5EF4-FFF2-40B4-BE49-F238E27FC236}">
                <a16:creationId xmlns:a16="http://schemas.microsoft.com/office/drawing/2014/main" id="{09938661-5968-4A1C-A6F3-EE05D7B8FB65}"/>
              </a:ext>
            </a:extLst>
          </p:cNvPr>
          <p:cNvSpPr txBox="1">
            <a:spLocks/>
          </p:cNvSpPr>
          <p:nvPr/>
        </p:nvSpPr>
        <p:spPr>
          <a:xfrm>
            <a:off x="912053" y="3675031"/>
            <a:ext cx="3826993" cy="191382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bg1"/>
                </a:solidFill>
                <a:latin typeface="Poppins Light" panose="00000400000000000000" pitchFamily="2" charset="0"/>
                <a:ea typeface="+mn-ea"/>
                <a:cs typeface="Poppins Light" panose="000004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solidFill>
                <a:latin typeface="Poppins Light" panose="00000400000000000000" pitchFamily="2" charset="0"/>
                <a:ea typeface="+mn-ea"/>
                <a:cs typeface="Poppins Light" panose="000004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bg1"/>
                </a:solidFill>
                <a:latin typeface="Poppins Light" panose="00000400000000000000" pitchFamily="2" charset="0"/>
                <a:ea typeface="+mn-ea"/>
                <a:cs typeface="Poppins Light" panose="000004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bg1"/>
                </a:solidFill>
                <a:latin typeface="Poppins Light" panose="00000400000000000000" pitchFamily="2" charset="0"/>
                <a:ea typeface="+mn-ea"/>
                <a:cs typeface="Poppins Light" panose="000004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bg1"/>
                </a:solidFill>
                <a:latin typeface="Poppins Light" panose="00000400000000000000" pitchFamily="2" charset="0"/>
                <a:ea typeface="+mn-ea"/>
                <a:cs typeface="Poppins Light" panose="000004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65442" lvl="1" indent="0">
              <a:lnSpc>
                <a:spcPct val="100000"/>
              </a:lnSpc>
              <a:buNone/>
              <a:defRPr/>
            </a:pPr>
            <a:r>
              <a:rPr lang="en-GB" sz="1400" dirty="0">
                <a:solidFill>
                  <a:schemeClr val="bg1"/>
                </a:solidFill>
              </a:rPr>
              <a:t>Supporting board members in </a:t>
            </a:r>
            <a:r>
              <a:rPr lang="en-GB" sz="1400" b="1" dirty="0">
                <a:solidFill>
                  <a:schemeClr val="bg1"/>
                </a:solidFill>
              </a:rPr>
              <a:t>asking the right questions</a:t>
            </a:r>
            <a:r>
              <a:rPr lang="en-GB" sz="1400" dirty="0">
                <a:solidFill>
                  <a:schemeClr val="bg1"/>
                </a:solidFill>
              </a:rPr>
              <a:t> to gain assurance on cyber security</a:t>
            </a:r>
          </a:p>
        </p:txBody>
      </p:sp>
      <p:sp>
        <p:nvSpPr>
          <p:cNvPr id="10" name="TextBox 9">
            <a:extLst>
              <a:ext uri="{FF2B5EF4-FFF2-40B4-BE49-F238E27FC236}">
                <a16:creationId xmlns:a16="http://schemas.microsoft.com/office/drawing/2014/main" id="{5DAA389E-D751-4F7F-B03F-CCC217CEF44C}"/>
              </a:ext>
            </a:extLst>
          </p:cNvPr>
          <p:cNvSpPr txBox="1"/>
          <p:nvPr/>
        </p:nvSpPr>
        <p:spPr>
          <a:xfrm>
            <a:off x="912053" y="2626139"/>
            <a:ext cx="3680974" cy="523220"/>
          </a:xfrm>
          <a:prstGeom prst="rect">
            <a:avLst/>
          </a:prstGeom>
          <a:noFill/>
        </p:spPr>
        <p:txBody>
          <a:bodyPr wrap="square">
            <a:spAutoFit/>
          </a:bodyPr>
          <a:lstStyle/>
          <a:p>
            <a:pPr marL="565442" lvl="1">
              <a:defRPr/>
            </a:pPr>
            <a:r>
              <a:rPr lang="en-GB" sz="1400" dirty="0">
                <a:solidFill>
                  <a:schemeClr val="bg1"/>
                </a:solidFill>
                <a:latin typeface="Poppins Light" panose="00000400000000000000" pitchFamily="2" charset="0"/>
                <a:cs typeface="Poppins Light" panose="00000400000000000000" pitchFamily="2" charset="0"/>
              </a:rPr>
              <a:t>Enabling board members to ‘get just a little bit technical’</a:t>
            </a:r>
            <a:endParaRPr lang="en-US" sz="1400" dirty="0">
              <a:solidFill>
                <a:schemeClr val="bg1"/>
              </a:solidFill>
              <a:latin typeface="Poppins Light" panose="00000400000000000000" pitchFamily="2" charset="0"/>
              <a:cs typeface="Poppins Light" panose="00000400000000000000" pitchFamily="2" charset="0"/>
            </a:endParaRPr>
          </a:p>
        </p:txBody>
      </p:sp>
      <p:sp>
        <p:nvSpPr>
          <p:cNvPr id="16" name="TextBox 15">
            <a:extLst>
              <a:ext uri="{FF2B5EF4-FFF2-40B4-BE49-F238E27FC236}">
                <a16:creationId xmlns:a16="http://schemas.microsoft.com/office/drawing/2014/main" id="{1EC0F02D-B241-4B17-988A-E3CA844BD2DE}"/>
              </a:ext>
            </a:extLst>
          </p:cNvPr>
          <p:cNvSpPr txBox="1"/>
          <p:nvPr/>
        </p:nvSpPr>
        <p:spPr>
          <a:xfrm>
            <a:off x="912052" y="4966555"/>
            <a:ext cx="3826993" cy="1015663"/>
          </a:xfrm>
          <a:prstGeom prst="rect">
            <a:avLst/>
          </a:prstGeom>
          <a:noFill/>
        </p:spPr>
        <p:txBody>
          <a:bodyPr wrap="square">
            <a:spAutoFit/>
          </a:bodyPr>
          <a:lstStyle/>
          <a:p>
            <a:pPr marL="565442" lvl="1">
              <a:defRPr/>
            </a:pPr>
            <a:r>
              <a:rPr lang="en-GB" sz="1400" dirty="0">
                <a:solidFill>
                  <a:schemeClr val="bg1"/>
                </a:solidFill>
                <a:latin typeface="Poppins Light" panose="00000400000000000000" pitchFamily="2" charset="0"/>
                <a:cs typeface="Poppins Light" panose="00000400000000000000" pitchFamily="2" charset="0"/>
              </a:rPr>
              <a:t>Encouraging crucial conversations to take place between the board and its key staff</a:t>
            </a:r>
          </a:p>
          <a:p>
            <a:pPr marL="989524" lvl="1" indent="-424082">
              <a:buFont typeface="Arial" panose="020B0604020202020204" pitchFamily="34" charset="0"/>
              <a:buChar char="•"/>
              <a:defRPr/>
            </a:pPr>
            <a:endParaRPr lang="en-GB" sz="1800" dirty="0">
              <a:solidFill>
                <a:schemeClr val="bg1"/>
              </a:solidFill>
              <a:cs typeface="Calibri"/>
            </a:endParaRPr>
          </a:p>
        </p:txBody>
      </p:sp>
      <p:pic>
        <p:nvPicPr>
          <p:cNvPr id="6" name="Picture 5" descr="Graphical user interface&#10;&#10;Description automatically generated">
            <a:extLst>
              <a:ext uri="{FF2B5EF4-FFF2-40B4-BE49-F238E27FC236}">
                <a16:creationId xmlns:a16="http://schemas.microsoft.com/office/drawing/2014/main" id="{222DD498-4A92-4E38-BF55-4CED0434B1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23821" y="2091192"/>
            <a:ext cx="6029906" cy="4322809"/>
          </a:xfrm>
          <a:prstGeom prst="rect">
            <a:avLst/>
          </a:prstGeom>
        </p:spPr>
      </p:pic>
      <p:pic>
        <p:nvPicPr>
          <p:cNvPr id="21" name="Graphic 20">
            <a:extLst>
              <a:ext uri="{FF2B5EF4-FFF2-40B4-BE49-F238E27FC236}">
                <a16:creationId xmlns:a16="http://schemas.microsoft.com/office/drawing/2014/main" id="{11D4FCA0-9496-4362-B583-536B650A01E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77234" y="2649232"/>
            <a:ext cx="469635" cy="469635"/>
          </a:xfrm>
          <a:prstGeom prst="rect">
            <a:avLst/>
          </a:prstGeom>
        </p:spPr>
      </p:pic>
      <p:pic>
        <p:nvPicPr>
          <p:cNvPr id="22" name="Graphic 21">
            <a:extLst>
              <a:ext uri="{FF2B5EF4-FFF2-40B4-BE49-F238E27FC236}">
                <a16:creationId xmlns:a16="http://schemas.microsoft.com/office/drawing/2014/main" id="{22ADE347-90A7-4C29-B430-56C4A132980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77233" y="3773189"/>
            <a:ext cx="469635" cy="469635"/>
          </a:xfrm>
          <a:prstGeom prst="rect">
            <a:avLst/>
          </a:prstGeom>
        </p:spPr>
      </p:pic>
      <p:pic>
        <p:nvPicPr>
          <p:cNvPr id="23" name="Graphic 22">
            <a:extLst>
              <a:ext uri="{FF2B5EF4-FFF2-40B4-BE49-F238E27FC236}">
                <a16:creationId xmlns:a16="http://schemas.microsoft.com/office/drawing/2014/main" id="{100A4531-F0A5-4EC4-ADE2-745696AAA7C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77233" y="5064713"/>
            <a:ext cx="469635" cy="469635"/>
          </a:xfrm>
          <a:prstGeom prst="rect">
            <a:avLst/>
          </a:prstGeom>
        </p:spPr>
      </p:pic>
    </p:spTree>
    <p:extLst>
      <p:ext uri="{BB962C8B-B14F-4D97-AF65-F5344CB8AC3E}">
        <p14:creationId xmlns:p14="http://schemas.microsoft.com/office/powerpoint/2010/main" val="56468270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C2E8CED-8233-4844-84EB-AB3D003F190F}"/>
              </a:ext>
            </a:extLst>
          </p:cNvPr>
          <p:cNvSpPr>
            <a:spLocks noGrp="1"/>
          </p:cNvSpPr>
          <p:nvPr>
            <p:ph type="body" sz="quarter" idx="13"/>
          </p:nvPr>
        </p:nvSpPr>
        <p:spPr/>
        <p:txBody>
          <a:bodyPr>
            <a:noAutofit/>
          </a:bodyPr>
          <a:lstStyle/>
          <a:p>
            <a:pPr>
              <a:lnSpc>
                <a:spcPct val="85000"/>
              </a:lnSpc>
              <a:defRPr/>
            </a:pPr>
            <a:r>
              <a:rPr lang="en-GB" b="1">
                <a:solidFill>
                  <a:srgbClr val="B78B1E"/>
                </a:solidFill>
              </a:rPr>
              <a:t>What the toolkit </a:t>
            </a:r>
            <a:r>
              <a:rPr lang="en-GB" b="1" i="1">
                <a:solidFill>
                  <a:srgbClr val="B78B1E"/>
                </a:solidFill>
              </a:rPr>
              <a:t>isn’t</a:t>
            </a:r>
            <a:endParaRPr lang="en-GB" b="1">
              <a:solidFill>
                <a:srgbClr val="B78B1E"/>
              </a:solidFill>
            </a:endParaRPr>
          </a:p>
        </p:txBody>
      </p:sp>
      <p:sp>
        <p:nvSpPr>
          <p:cNvPr id="14" name="Text Placeholder 3">
            <a:extLst>
              <a:ext uri="{FF2B5EF4-FFF2-40B4-BE49-F238E27FC236}">
                <a16:creationId xmlns:a16="http://schemas.microsoft.com/office/drawing/2014/main" id="{09938661-5968-4A1C-A6F3-EE05D7B8FB65}"/>
              </a:ext>
            </a:extLst>
          </p:cNvPr>
          <p:cNvSpPr txBox="1">
            <a:spLocks/>
          </p:cNvSpPr>
          <p:nvPr/>
        </p:nvSpPr>
        <p:spPr>
          <a:xfrm>
            <a:off x="912054" y="3913201"/>
            <a:ext cx="2642180" cy="51752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bg1"/>
                </a:solidFill>
                <a:latin typeface="Poppins Light" panose="00000400000000000000" pitchFamily="2" charset="0"/>
                <a:ea typeface="+mn-ea"/>
                <a:cs typeface="Poppins Light" panose="000004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solidFill>
                <a:latin typeface="Poppins Light" panose="00000400000000000000" pitchFamily="2" charset="0"/>
                <a:ea typeface="+mn-ea"/>
                <a:cs typeface="Poppins Light" panose="000004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bg1"/>
                </a:solidFill>
                <a:latin typeface="Poppins Light" panose="00000400000000000000" pitchFamily="2" charset="0"/>
                <a:ea typeface="+mn-ea"/>
                <a:cs typeface="Poppins Light" panose="000004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bg1"/>
                </a:solidFill>
                <a:latin typeface="Poppins Light" panose="00000400000000000000" pitchFamily="2" charset="0"/>
                <a:ea typeface="+mn-ea"/>
                <a:cs typeface="Poppins Light" panose="000004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bg1"/>
                </a:solidFill>
                <a:latin typeface="Poppins Light" panose="00000400000000000000" pitchFamily="2" charset="0"/>
                <a:ea typeface="+mn-ea"/>
                <a:cs typeface="Poppins Light" panose="000004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65442" lvl="1" indent="0">
              <a:lnSpc>
                <a:spcPct val="100000"/>
              </a:lnSpc>
              <a:buNone/>
              <a:defRPr/>
            </a:pPr>
            <a:r>
              <a:rPr lang="en-GB" sz="1400" dirty="0">
                <a:solidFill>
                  <a:schemeClr val="bg1"/>
                </a:solidFill>
              </a:rPr>
              <a:t>A checklist</a:t>
            </a:r>
          </a:p>
        </p:txBody>
      </p:sp>
      <p:sp>
        <p:nvSpPr>
          <p:cNvPr id="10" name="TextBox 9">
            <a:extLst>
              <a:ext uri="{FF2B5EF4-FFF2-40B4-BE49-F238E27FC236}">
                <a16:creationId xmlns:a16="http://schemas.microsoft.com/office/drawing/2014/main" id="{5DAA389E-D751-4F7F-B03F-CCC217CEF44C}"/>
              </a:ext>
            </a:extLst>
          </p:cNvPr>
          <p:cNvSpPr txBox="1"/>
          <p:nvPr/>
        </p:nvSpPr>
        <p:spPr>
          <a:xfrm>
            <a:off x="943556" y="2718900"/>
            <a:ext cx="2610678" cy="279948"/>
          </a:xfrm>
          <a:prstGeom prst="rect">
            <a:avLst/>
          </a:prstGeom>
          <a:noFill/>
        </p:spPr>
        <p:txBody>
          <a:bodyPr wrap="square">
            <a:spAutoFit/>
          </a:bodyPr>
          <a:lstStyle/>
          <a:p>
            <a:pPr marL="565442" lvl="1">
              <a:lnSpc>
                <a:spcPct val="85000"/>
              </a:lnSpc>
              <a:defRPr/>
            </a:pPr>
            <a:r>
              <a:rPr lang="en-GB" sz="1400" dirty="0">
                <a:solidFill>
                  <a:schemeClr val="bg1"/>
                </a:solidFill>
                <a:latin typeface="Poppins Light" panose="00000400000000000000" pitchFamily="2" charset="0"/>
                <a:cs typeface="Poppins Light" panose="00000400000000000000" pitchFamily="2" charset="0"/>
              </a:rPr>
              <a:t>A ‘how to’ guide</a:t>
            </a:r>
          </a:p>
        </p:txBody>
      </p:sp>
      <p:sp>
        <p:nvSpPr>
          <p:cNvPr id="16" name="TextBox 15">
            <a:extLst>
              <a:ext uri="{FF2B5EF4-FFF2-40B4-BE49-F238E27FC236}">
                <a16:creationId xmlns:a16="http://schemas.microsoft.com/office/drawing/2014/main" id="{1EC0F02D-B241-4B17-988A-E3CA844BD2DE}"/>
              </a:ext>
            </a:extLst>
          </p:cNvPr>
          <p:cNvSpPr txBox="1"/>
          <p:nvPr/>
        </p:nvSpPr>
        <p:spPr>
          <a:xfrm>
            <a:off x="912052" y="4966555"/>
            <a:ext cx="3826993" cy="918713"/>
          </a:xfrm>
          <a:prstGeom prst="rect">
            <a:avLst/>
          </a:prstGeom>
          <a:noFill/>
        </p:spPr>
        <p:txBody>
          <a:bodyPr wrap="square">
            <a:spAutoFit/>
          </a:bodyPr>
          <a:lstStyle/>
          <a:p>
            <a:pPr marL="989524" lvl="1" indent="-424082">
              <a:lnSpc>
                <a:spcPct val="85000"/>
              </a:lnSpc>
              <a:buFont typeface="Arial" panose="020B0604020202020204" pitchFamily="34" charset="0"/>
              <a:buChar char="•"/>
              <a:defRPr/>
            </a:pPr>
            <a:endParaRPr lang="en-GB" sz="1400">
              <a:solidFill>
                <a:schemeClr val="bg1"/>
              </a:solidFill>
              <a:latin typeface="Poppins Light" panose="00000400000000000000" pitchFamily="2" charset="0"/>
              <a:cs typeface="Poppins Light" panose="00000400000000000000" pitchFamily="2" charset="0"/>
            </a:endParaRPr>
          </a:p>
          <a:p>
            <a:pPr marL="565442" lvl="1">
              <a:lnSpc>
                <a:spcPct val="85000"/>
              </a:lnSpc>
              <a:defRPr/>
            </a:pPr>
            <a:r>
              <a:rPr lang="en-GB" sz="1400">
                <a:solidFill>
                  <a:schemeClr val="bg1"/>
                </a:solidFill>
                <a:latin typeface="Poppins Light" panose="00000400000000000000" pitchFamily="2" charset="0"/>
                <a:cs typeface="Poppins Light" panose="00000400000000000000" pitchFamily="2" charset="0"/>
              </a:rPr>
              <a:t>A manual telling you how to achieve a one-off task</a:t>
            </a:r>
          </a:p>
          <a:p>
            <a:pPr marL="565442" lvl="1">
              <a:defRPr/>
            </a:pPr>
            <a:endParaRPr lang="en-GB" sz="1800">
              <a:solidFill>
                <a:schemeClr val="bg1"/>
              </a:solidFill>
              <a:latin typeface="Poppins Light" panose="00000400000000000000" pitchFamily="2" charset="0"/>
              <a:cs typeface="Poppins Light" panose="00000400000000000000" pitchFamily="2" charset="0"/>
            </a:endParaRPr>
          </a:p>
        </p:txBody>
      </p:sp>
      <p:pic>
        <p:nvPicPr>
          <p:cNvPr id="18" name="Graphic 17">
            <a:extLst>
              <a:ext uri="{FF2B5EF4-FFF2-40B4-BE49-F238E27FC236}">
                <a16:creationId xmlns:a16="http://schemas.microsoft.com/office/drawing/2014/main" id="{3E957D97-556A-474F-9280-251D8AA640D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7234" y="2649232"/>
            <a:ext cx="469635" cy="469635"/>
          </a:xfrm>
          <a:prstGeom prst="rect">
            <a:avLst/>
          </a:prstGeom>
        </p:spPr>
      </p:pic>
      <p:pic>
        <p:nvPicPr>
          <p:cNvPr id="4" name="Picture 3" descr="A picture containing text, person, person&#10;&#10;Description automatically generated">
            <a:extLst>
              <a:ext uri="{FF2B5EF4-FFF2-40B4-BE49-F238E27FC236}">
                <a16:creationId xmlns:a16="http://schemas.microsoft.com/office/drawing/2014/main" id="{FFA8B310-0FCA-4DC6-A35F-EEA8B18640A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79168" y="2226366"/>
            <a:ext cx="8747577" cy="3731982"/>
          </a:xfrm>
          <a:prstGeom prst="rect">
            <a:avLst/>
          </a:prstGeom>
        </p:spPr>
      </p:pic>
      <p:pic>
        <p:nvPicPr>
          <p:cNvPr id="13" name="Graphic 12">
            <a:extLst>
              <a:ext uri="{FF2B5EF4-FFF2-40B4-BE49-F238E27FC236}">
                <a16:creationId xmlns:a16="http://schemas.microsoft.com/office/drawing/2014/main" id="{D2E79CA3-4338-454D-8C65-64DC6EE9B14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7234" y="3861211"/>
            <a:ext cx="469635" cy="469635"/>
          </a:xfrm>
          <a:prstGeom prst="rect">
            <a:avLst/>
          </a:prstGeom>
        </p:spPr>
      </p:pic>
      <p:pic>
        <p:nvPicPr>
          <p:cNvPr id="15" name="Graphic 14">
            <a:extLst>
              <a:ext uri="{FF2B5EF4-FFF2-40B4-BE49-F238E27FC236}">
                <a16:creationId xmlns:a16="http://schemas.microsoft.com/office/drawing/2014/main" id="{C0462938-1AA6-472C-8CCE-0376D98CC43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8738" y="5191093"/>
            <a:ext cx="469635" cy="469635"/>
          </a:xfrm>
          <a:prstGeom prst="rect">
            <a:avLst/>
          </a:prstGeom>
        </p:spPr>
      </p:pic>
    </p:spTree>
    <p:extLst>
      <p:ext uri="{BB962C8B-B14F-4D97-AF65-F5344CB8AC3E}">
        <p14:creationId xmlns:p14="http://schemas.microsoft.com/office/powerpoint/2010/main" val="263925141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3EB29E2-41A5-D27F-1D71-EB253C8A42BF}"/>
              </a:ext>
            </a:extLst>
          </p:cNvPr>
          <p:cNvSpPr>
            <a:spLocks noGrp="1"/>
          </p:cNvSpPr>
          <p:nvPr>
            <p:ph type="body" sz="quarter" idx="13"/>
          </p:nvPr>
        </p:nvSpPr>
        <p:spPr/>
        <p:txBody>
          <a:bodyPr/>
          <a:lstStyle/>
          <a:p>
            <a:r>
              <a:rPr lang="en-GB" b="1">
                <a:solidFill>
                  <a:srgbClr val="B78B1E"/>
                </a:solidFill>
              </a:rPr>
              <a:t>Toolkit structure</a:t>
            </a:r>
            <a:endParaRPr lang="en-GB" b="1"/>
          </a:p>
          <a:p>
            <a:endParaRPr lang="en-GB"/>
          </a:p>
        </p:txBody>
      </p:sp>
      <p:sp>
        <p:nvSpPr>
          <p:cNvPr id="4" name="Text Placeholder 3">
            <a:extLst>
              <a:ext uri="{FF2B5EF4-FFF2-40B4-BE49-F238E27FC236}">
                <a16:creationId xmlns:a16="http://schemas.microsoft.com/office/drawing/2014/main" id="{27F38B27-25E2-86ED-34DA-95929B152424}"/>
              </a:ext>
            </a:extLst>
          </p:cNvPr>
          <p:cNvSpPr>
            <a:spLocks noGrp="1"/>
          </p:cNvSpPr>
          <p:nvPr>
            <p:ph type="body" sz="quarter" idx="15"/>
          </p:nvPr>
        </p:nvSpPr>
        <p:spPr>
          <a:xfrm>
            <a:off x="913288" y="2976044"/>
            <a:ext cx="4173814" cy="2415081"/>
          </a:xfrm>
        </p:spPr>
        <p:txBody>
          <a:bodyPr>
            <a:normAutofit/>
          </a:bodyPr>
          <a:lstStyle/>
          <a:p>
            <a:pPr marL="0" marR="0" lvl="0" indent="0" algn="l" defTabSz="914400" rtl="0" eaLnBrk="1" fontAlgn="auto" latinLnBrk="0" hangingPunct="1">
              <a:lnSpc>
                <a:spcPct val="100000"/>
              </a:lnSpc>
              <a:spcBef>
                <a:spcPts val="0"/>
              </a:spcBef>
              <a:spcAft>
                <a:spcPts val="0"/>
              </a:spcAft>
              <a:buClrTx/>
              <a:buSzTx/>
              <a:buNone/>
              <a:tabLst/>
              <a:defRPr/>
            </a:pPr>
            <a:r>
              <a:rPr lang="en-GB" sz="1400">
                <a:solidFill>
                  <a:srgbClr val="0D2650"/>
                </a:solidFill>
              </a:rPr>
              <a:t> </a:t>
            </a:r>
            <a:endParaRPr lang="en-GB" sz="1400"/>
          </a:p>
          <a:p>
            <a:pPr marL="0" indent="0">
              <a:lnSpc>
                <a:spcPct val="100000"/>
              </a:lnSpc>
              <a:buNone/>
            </a:pPr>
            <a:r>
              <a:rPr lang="en-GB" sz="1400"/>
              <a:t>Introduction to cyber security</a:t>
            </a:r>
            <a:endParaRPr lang="en-GB" sz="1400">
              <a:cs typeface="Calibri"/>
            </a:endParaRPr>
          </a:p>
          <a:p>
            <a:pPr marL="753923" indent="-753923">
              <a:lnSpc>
                <a:spcPct val="100000"/>
              </a:lnSpc>
              <a:buFont typeface="+mj-lt"/>
              <a:buAutoNum type="arabicPeriod"/>
            </a:pPr>
            <a:endParaRPr lang="en-GB" sz="1400">
              <a:cs typeface="Calibri"/>
            </a:endParaRPr>
          </a:p>
          <a:p>
            <a:pPr marL="0" indent="0">
              <a:lnSpc>
                <a:spcPct val="100000"/>
              </a:lnSpc>
              <a:buNone/>
            </a:pPr>
            <a:r>
              <a:rPr lang="en-GB" sz="1400">
                <a:cs typeface="Calibri"/>
              </a:rPr>
              <a:t>Nine core modules</a:t>
            </a:r>
          </a:p>
          <a:p>
            <a:pPr marL="753923" indent="-753923">
              <a:lnSpc>
                <a:spcPct val="100000"/>
              </a:lnSpc>
              <a:buAutoNum type="arabicPeriod"/>
            </a:pPr>
            <a:endParaRPr lang="en-GB" sz="1400"/>
          </a:p>
          <a:p>
            <a:pPr marL="0" indent="0">
              <a:lnSpc>
                <a:spcPct val="100000"/>
              </a:lnSpc>
              <a:buNone/>
            </a:pPr>
            <a:r>
              <a:rPr lang="en-GB" sz="1400"/>
              <a:t>Cyber Security Regulation in the UK</a:t>
            </a:r>
          </a:p>
        </p:txBody>
      </p:sp>
      <p:pic>
        <p:nvPicPr>
          <p:cNvPr id="5" name="Graphic 4">
            <a:extLst>
              <a:ext uri="{FF2B5EF4-FFF2-40B4-BE49-F238E27FC236}">
                <a16:creationId xmlns:a16="http://schemas.microsoft.com/office/drawing/2014/main" id="{741FEBA0-7402-153E-E41A-35F82C1BBC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5059" y="3376229"/>
            <a:ext cx="203130" cy="203130"/>
          </a:xfrm>
          <a:prstGeom prst="rect">
            <a:avLst/>
          </a:prstGeom>
        </p:spPr>
      </p:pic>
      <p:pic>
        <p:nvPicPr>
          <p:cNvPr id="6" name="Graphic 5">
            <a:extLst>
              <a:ext uri="{FF2B5EF4-FFF2-40B4-BE49-F238E27FC236}">
                <a16:creationId xmlns:a16="http://schemas.microsoft.com/office/drawing/2014/main" id="{2BA9879A-352F-D841-25FD-4C692B0EFE2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5059" y="4057101"/>
            <a:ext cx="203130" cy="203130"/>
          </a:xfrm>
          <a:prstGeom prst="rect">
            <a:avLst/>
          </a:prstGeom>
        </p:spPr>
      </p:pic>
      <p:pic>
        <p:nvPicPr>
          <p:cNvPr id="7" name="Graphic 6">
            <a:extLst>
              <a:ext uri="{FF2B5EF4-FFF2-40B4-BE49-F238E27FC236}">
                <a16:creationId xmlns:a16="http://schemas.microsoft.com/office/drawing/2014/main" id="{0062015D-CF5C-781B-7FFB-BD6A7196D7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3010" y="4737973"/>
            <a:ext cx="203130" cy="203130"/>
          </a:xfrm>
          <a:prstGeom prst="rect">
            <a:avLst/>
          </a:prstGeom>
        </p:spPr>
      </p:pic>
      <p:pic>
        <p:nvPicPr>
          <p:cNvPr id="8" name="Picture 7">
            <a:extLst>
              <a:ext uri="{FF2B5EF4-FFF2-40B4-BE49-F238E27FC236}">
                <a16:creationId xmlns:a16="http://schemas.microsoft.com/office/drawing/2014/main" id="{0532BE8F-A59C-8E62-AE68-6F7BF4C7264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03558" y="2536032"/>
            <a:ext cx="6637309" cy="3289199"/>
          </a:xfrm>
          <a:prstGeom prst="rect">
            <a:avLst/>
          </a:prstGeom>
        </p:spPr>
      </p:pic>
      <p:pic>
        <p:nvPicPr>
          <p:cNvPr id="9" name="Picture 8">
            <a:extLst>
              <a:ext uri="{FF2B5EF4-FFF2-40B4-BE49-F238E27FC236}">
                <a16:creationId xmlns:a16="http://schemas.microsoft.com/office/drawing/2014/main" id="{6031BBEF-E6C8-527C-DC5F-BB266EDD5DE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55958" y="2688432"/>
            <a:ext cx="6637309" cy="3289199"/>
          </a:xfrm>
          <a:prstGeom prst="rect">
            <a:avLst/>
          </a:prstGeom>
        </p:spPr>
      </p:pic>
    </p:spTree>
    <p:extLst>
      <p:ext uri="{BB962C8B-B14F-4D97-AF65-F5344CB8AC3E}">
        <p14:creationId xmlns:p14="http://schemas.microsoft.com/office/powerpoint/2010/main" val="394974064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3EB29E2-41A5-D27F-1D71-EB253C8A42BF}"/>
              </a:ext>
            </a:extLst>
          </p:cNvPr>
          <p:cNvSpPr>
            <a:spLocks noGrp="1"/>
          </p:cNvSpPr>
          <p:nvPr>
            <p:ph type="body" sz="quarter" idx="13"/>
          </p:nvPr>
        </p:nvSpPr>
        <p:spPr/>
        <p:txBody>
          <a:bodyPr/>
          <a:lstStyle/>
          <a:p>
            <a:pPr>
              <a:lnSpc>
                <a:spcPct val="85000"/>
              </a:lnSpc>
              <a:defRPr/>
            </a:pPr>
            <a:r>
              <a:rPr lang="en-GB" b="1">
                <a:solidFill>
                  <a:srgbClr val="B78B1E"/>
                </a:solidFill>
              </a:rPr>
              <a:t>Toolkit modules</a:t>
            </a:r>
            <a:endParaRPr lang="en-GB" b="1"/>
          </a:p>
          <a:p>
            <a:endParaRPr lang="en-GB"/>
          </a:p>
        </p:txBody>
      </p:sp>
      <p:pic>
        <p:nvPicPr>
          <p:cNvPr id="3" name="Picture 3" descr="Timeline&#10;&#10;Description automatically generated">
            <a:extLst>
              <a:ext uri="{FF2B5EF4-FFF2-40B4-BE49-F238E27FC236}">
                <a16:creationId xmlns:a16="http://schemas.microsoft.com/office/drawing/2014/main" id="{7FC5983F-EE54-670B-17DC-8717DE531557}"/>
              </a:ext>
            </a:extLst>
          </p:cNvPr>
          <p:cNvPicPr>
            <a:picLocks noChangeAspect="1"/>
          </p:cNvPicPr>
          <p:nvPr/>
        </p:nvPicPr>
        <p:blipFill>
          <a:blip r:embed="rId3"/>
          <a:stretch>
            <a:fillRect/>
          </a:stretch>
        </p:blipFill>
        <p:spPr>
          <a:xfrm>
            <a:off x="1745673" y="2098621"/>
            <a:ext cx="8285017" cy="4145175"/>
          </a:xfrm>
          <a:prstGeom prst="rect">
            <a:avLst/>
          </a:prstGeom>
        </p:spPr>
      </p:pic>
    </p:spTree>
    <p:extLst>
      <p:ext uri="{BB962C8B-B14F-4D97-AF65-F5344CB8AC3E}">
        <p14:creationId xmlns:p14="http://schemas.microsoft.com/office/powerpoint/2010/main" val="237683694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749C15D-ABA5-4673-A551-59A7CCF80EE2}"/>
              </a:ext>
            </a:extLst>
          </p:cNvPr>
          <p:cNvSpPr>
            <a:spLocks noGrp="1"/>
          </p:cNvSpPr>
          <p:nvPr>
            <p:ph type="body" sz="quarter" idx="13"/>
          </p:nvPr>
        </p:nvSpPr>
        <p:spPr/>
        <p:txBody>
          <a:bodyPr>
            <a:normAutofit/>
          </a:bodyPr>
          <a:lstStyle/>
          <a:p>
            <a:r>
              <a:rPr lang="en-GB">
                <a:solidFill>
                  <a:srgbClr val="B78B1E"/>
                </a:solidFill>
              </a:rPr>
              <a:t>The questions</a:t>
            </a:r>
            <a:endParaRPr lang="en-GB"/>
          </a:p>
        </p:txBody>
      </p:sp>
      <p:pic>
        <p:nvPicPr>
          <p:cNvPr id="15" name="Graphic 14">
            <a:extLst>
              <a:ext uri="{FF2B5EF4-FFF2-40B4-BE49-F238E27FC236}">
                <a16:creationId xmlns:a16="http://schemas.microsoft.com/office/drawing/2014/main" id="{E3CC1474-D586-4E5C-A8DB-E4C7F408EC2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9862" y="3055751"/>
            <a:ext cx="217919" cy="217919"/>
          </a:xfrm>
          <a:prstGeom prst="rect">
            <a:avLst/>
          </a:prstGeom>
        </p:spPr>
      </p:pic>
      <p:sp>
        <p:nvSpPr>
          <p:cNvPr id="20" name="Text Placeholder 6">
            <a:extLst>
              <a:ext uri="{FF2B5EF4-FFF2-40B4-BE49-F238E27FC236}">
                <a16:creationId xmlns:a16="http://schemas.microsoft.com/office/drawing/2014/main" id="{8FB565E7-40A7-44ED-A8D5-C2E05E88D10C}"/>
              </a:ext>
            </a:extLst>
          </p:cNvPr>
          <p:cNvSpPr>
            <a:spLocks noGrp="1"/>
          </p:cNvSpPr>
          <p:nvPr>
            <p:ph type="body" sz="quarter" idx="15"/>
          </p:nvPr>
        </p:nvSpPr>
        <p:spPr>
          <a:xfrm>
            <a:off x="895167" y="3004196"/>
            <a:ext cx="5464386" cy="1946917"/>
          </a:xfrm>
        </p:spPr>
        <p:txBody>
          <a:bodyPr>
            <a:normAutofit/>
          </a:bodyPr>
          <a:lstStyle/>
          <a:p>
            <a:pPr marL="0" indent="0">
              <a:lnSpc>
                <a:spcPct val="100000"/>
              </a:lnSpc>
              <a:buNone/>
            </a:pPr>
            <a:r>
              <a:rPr lang="en-GB" sz="1400" dirty="0">
                <a:solidFill>
                  <a:schemeClr val="bg1"/>
                </a:solidFill>
              </a:rPr>
              <a:t>Each module concludes with questions </a:t>
            </a:r>
          </a:p>
          <a:p>
            <a:pPr marL="0" indent="0">
              <a:lnSpc>
                <a:spcPct val="100000"/>
              </a:lnSpc>
              <a:buNone/>
            </a:pPr>
            <a:endParaRPr lang="en-GB" sz="1400" dirty="0">
              <a:solidFill>
                <a:schemeClr val="bg1"/>
              </a:solidFill>
            </a:endParaRPr>
          </a:p>
          <a:p>
            <a:pPr marL="0" indent="0">
              <a:lnSpc>
                <a:spcPct val="100000"/>
              </a:lnSpc>
              <a:buNone/>
            </a:pPr>
            <a:r>
              <a:rPr lang="en-GB" sz="1400" dirty="0">
                <a:solidFill>
                  <a:schemeClr val="bg1"/>
                </a:solidFill>
              </a:rPr>
              <a:t>Designed to </a:t>
            </a:r>
            <a:r>
              <a:rPr lang="en-GB" sz="1400" dirty="0"/>
              <a:t>help evaluate your organisations performance and </a:t>
            </a:r>
            <a:r>
              <a:rPr lang="en-GB" sz="1400" dirty="0">
                <a:solidFill>
                  <a:schemeClr val="bg1"/>
                </a:solidFill>
              </a:rPr>
              <a:t>help prompt discussion at board level</a:t>
            </a:r>
          </a:p>
          <a:p>
            <a:pPr marL="0" indent="0">
              <a:lnSpc>
                <a:spcPct val="100000"/>
              </a:lnSpc>
              <a:buNone/>
            </a:pPr>
            <a:endParaRPr lang="en-GB" sz="1400" dirty="0">
              <a:solidFill>
                <a:schemeClr val="bg1"/>
              </a:solidFill>
            </a:endParaRPr>
          </a:p>
          <a:p>
            <a:pPr marL="0" indent="0">
              <a:lnSpc>
                <a:spcPct val="100000"/>
              </a:lnSpc>
              <a:buNone/>
            </a:pPr>
            <a:r>
              <a:rPr lang="en-GB" sz="1400" dirty="0">
                <a:solidFill>
                  <a:schemeClr val="bg1"/>
                </a:solidFill>
              </a:rPr>
              <a:t>The questions don’t always have easy answers</a:t>
            </a:r>
          </a:p>
        </p:txBody>
      </p:sp>
      <p:pic>
        <p:nvPicPr>
          <p:cNvPr id="14" name="Graphic 13">
            <a:extLst>
              <a:ext uri="{FF2B5EF4-FFF2-40B4-BE49-F238E27FC236}">
                <a16:creationId xmlns:a16="http://schemas.microsoft.com/office/drawing/2014/main" id="{4A21BBB0-8D14-42A3-AFAE-A932AED029F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9997" y="3764821"/>
            <a:ext cx="217919" cy="217919"/>
          </a:xfrm>
          <a:prstGeom prst="rect">
            <a:avLst/>
          </a:prstGeom>
        </p:spPr>
      </p:pic>
      <p:pic>
        <p:nvPicPr>
          <p:cNvPr id="16" name="Graphic 15">
            <a:extLst>
              <a:ext uri="{FF2B5EF4-FFF2-40B4-BE49-F238E27FC236}">
                <a16:creationId xmlns:a16="http://schemas.microsoft.com/office/drawing/2014/main" id="{DDAC9772-F13C-4B47-8109-C009000A448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4663" y="4615811"/>
            <a:ext cx="217919" cy="217919"/>
          </a:xfrm>
          <a:prstGeom prst="rect">
            <a:avLst/>
          </a:prstGeom>
        </p:spPr>
      </p:pic>
      <p:pic>
        <p:nvPicPr>
          <p:cNvPr id="10" name="Picture 9" descr="A hand holding a light bulb&#10;&#10;Description automatically generated">
            <a:extLst>
              <a:ext uri="{FF2B5EF4-FFF2-40B4-BE49-F238E27FC236}">
                <a16:creationId xmlns:a16="http://schemas.microsoft.com/office/drawing/2014/main" id="{8F3AF6F3-C30A-45A0-BA61-6194222C21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15992" y="2200059"/>
            <a:ext cx="8637652" cy="3685085"/>
          </a:xfrm>
          <a:prstGeom prst="rect">
            <a:avLst/>
          </a:prstGeom>
        </p:spPr>
      </p:pic>
    </p:spTree>
    <p:extLst>
      <p:ext uri="{BB962C8B-B14F-4D97-AF65-F5344CB8AC3E}">
        <p14:creationId xmlns:p14="http://schemas.microsoft.com/office/powerpoint/2010/main" val="203195249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1">
            <a:extLst>
              <a:ext uri="{FF2B5EF4-FFF2-40B4-BE49-F238E27FC236}">
                <a16:creationId xmlns:a16="http://schemas.microsoft.com/office/drawing/2014/main" id="{E1C79A58-C82E-4403-8A68-B3BDCFA494D2}"/>
              </a:ext>
            </a:extLst>
          </p:cNvPr>
          <p:cNvSpPr>
            <a:spLocks noGrp="1"/>
          </p:cNvSpPr>
          <p:nvPr>
            <p:ph type="body" sz="quarter" idx="13"/>
          </p:nvPr>
        </p:nvSpPr>
        <p:spPr>
          <a:xfrm>
            <a:off x="474663" y="1389363"/>
            <a:ext cx="10367962" cy="517525"/>
          </a:xfrm>
        </p:spPr>
        <p:txBody>
          <a:bodyPr>
            <a:normAutofit/>
          </a:bodyPr>
          <a:lstStyle/>
          <a:p>
            <a:r>
              <a:rPr lang="en-GB" b="1">
                <a:solidFill>
                  <a:srgbClr val="B78B1E"/>
                </a:solidFill>
              </a:rPr>
              <a:t>Sample questions on ‘planning response to incidents’</a:t>
            </a:r>
          </a:p>
        </p:txBody>
      </p:sp>
      <p:sp>
        <p:nvSpPr>
          <p:cNvPr id="8" name="TextBox 7">
            <a:extLst>
              <a:ext uri="{FF2B5EF4-FFF2-40B4-BE49-F238E27FC236}">
                <a16:creationId xmlns:a16="http://schemas.microsoft.com/office/drawing/2014/main" id="{5BDA4683-B3B4-4622-BC57-A0350C0EADC3}"/>
              </a:ext>
            </a:extLst>
          </p:cNvPr>
          <p:cNvSpPr txBox="1"/>
          <p:nvPr/>
        </p:nvSpPr>
        <p:spPr>
          <a:xfrm>
            <a:off x="1400102" y="2433777"/>
            <a:ext cx="8064799" cy="523220"/>
          </a:xfrm>
          <a:prstGeom prst="rect">
            <a:avLst/>
          </a:prstGeom>
          <a:noFill/>
        </p:spPr>
        <p:txBody>
          <a:bodyPr wrap="square">
            <a:spAutoFit/>
          </a:bodyPr>
          <a:lstStyle/>
          <a:p>
            <a:pPr>
              <a:lnSpc>
                <a:spcPct val="100000"/>
              </a:lnSpc>
            </a:pPr>
            <a:r>
              <a:rPr lang="en-GB" sz="1400">
                <a:solidFill>
                  <a:schemeClr val="bg1"/>
                </a:solidFill>
                <a:latin typeface="Poppins Light" panose="00000400000000000000" pitchFamily="2" charset="0"/>
                <a:cs typeface="Poppins Light" panose="00000400000000000000" pitchFamily="2" charset="0"/>
              </a:rPr>
              <a:t>Does your organisation have an incident response plan in place and do you regularly exercise it?</a:t>
            </a:r>
          </a:p>
        </p:txBody>
      </p:sp>
      <p:pic>
        <p:nvPicPr>
          <p:cNvPr id="9" name="Graphic 8">
            <a:extLst>
              <a:ext uri="{FF2B5EF4-FFF2-40B4-BE49-F238E27FC236}">
                <a16:creationId xmlns:a16="http://schemas.microsoft.com/office/drawing/2014/main" id="{5333DBAB-736C-43F5-A98B-EBDB1B46FCA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82677" y="2380281"/>
            <a:ext cx="414768" cy="414768"/>
          </a:xfrm>
          <a:prstGeom prst="rect">
            <a:avLst/>
          </a:prstGeom>
        </p:spPr>
      </p:pic>
      <p:sp>
        <p:nvSpPr>
          <p:cNvPr id="10" name="TextBox 9">
            <a:extLst>
              <a:ext uri="{FF2B5EF4-FFF2-40B4-BE49-F238E27FC236}">
                <a16:creationId xmlns:a16="http://schemas.microsoft.com/office/drawing/2014/main" id="{BCE10449-BD49-42DB-9685-B684DA4F052B}"/>
              </a:ext>
            </a:extLst>
          </p:cNvPr>
          <p:cNvSpPr txBox="1"/>
          <p:nvPr/>
        </p:nvSpPr>
        <p:spPr>
          <a:xfrm>
            <a:off x="1400102" y="3291480"/>
            <a:ext cx="9704583" cy="307777"/>
          </a:xfrm>
          <a:prstGeom prst="rect">
            <a:avLst/>
          </a:prstGeom>
          <a:noFill/>
        </p:spPr>
        <p:txBody>
          <a:bodyPr wrap="square">
            <a:spAutoFit/>
          </a:bodyPr>
          <a:lstStyle/>
          <a:p>
            <a:r>
              <a:rPr lang="en-GB" sz="1400">
                <a:solidFill>
                  <a:schemeClr val="bg1"/>
                </a:solidFill>
                <a:latin typeface="Poppins Light" panose="00000400000000000000" pitchFamily="2" charset="0"/>
                <a:cs typeface="Poppins Light" panose="00000400000000000000" pitchFamily="2" charset="0"/>
              </a:rPr>
              <a:t>Does every board member understand what's required during an incident? </a:t>
            </a:r>
          </a:p>
        </p:txBody>
      </p:sp>
      <p:pic>
        <p:nvPicPr>
          <p:cNvPr id="11" name="Graphic 10">
            <a:extLst>
              <a:ext uri="{FF2B5EF4-FFF2-40B4-BE49-F238E27FC236}">
                <a16:creationId xmlns:a16="http://schemas.microsoft.com/office/drawing/2014/main" id="{0B85EA5B-C729-4826-9DC7-396F02B50DD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7727" y="3240431"/>
            <a:ext cx="414768" cy="414768"/>
          </a:xfrm>
          <a:prstGeom prst="rect">
            <a:avLst/>
          </a:prstGeom>
        </p:spPr>
      </p:pic>
      <p:sp>
        <p:nvSpPr>
          <p:cNvPr id="12" name="TextBox 11">
            <a:extLst>
              <a:ext uri="{FF2B5EF4-FFF2-40B4-BE49-F238E27FC236}">
                <a16:creationId xmlns:a16="http://schemas.microsoft.com/office/drawing/2014/main" id="{899B1210-1B01-451E-8F4A-C86B6A4A2776}"/>
              </a:ext>
            </a:extLst>
          </p:cNvPr>
          <p:cNvSpPr txBox="1"/>
          <p:nvPr/>
        </p:nvSpPr>
        <p:spPr>
          <a:xfrm>
            <a:off x="1362633" y="4117199"/>
            <a:ext cx="9953067" cy="738664"/>
          </a:xfrm>
          <a:prstGeom prst="rect">
            <a:avLst/>
          </a:prstGeom>
          <a:noFill/>
        </p:spPr>
        <p:txBody>
          <a:bodyPr wrap="square" lIns="91440" tIns="45720" rIns="91440" bIns="45720" anchor="t">
            <a:spAutoFit/>
          </a:bodyPr>
          <a:lstStyle/>
          <a:p>
            <a:r>
              <a:rPr lang="en-GB" sz="1400">
                <a:solidFill>
                  <a:schemeClr val="bg1"/>
                </a:solidFill>
                <a:latin typeface="Poppins Light" panose="00000400000000000000" pitchFamily="2" charset="0"/>
                <a:cs typeface="Poppins Light" panose="00000400000000000000" pitchFamily="2" charset="0"/>
              </a:rPr>
              <a:t>Are cyber incidents considered in the design of your Disaster Recovery (DR) and Business Continuity Plans (BCP)?</a:t>
            </a:r>
          </a:p>
          <a:p>
            <a:endParaRPr lang="en-GB" sz="1400">
              <a:solidFill>
                <a:schemeClr val="bg1"/>
              </a:solidFill>
              <a:latin typeface="Poppins Light" panose="00000400000000000000" pitchFamily="2" charset="0"/>
              <a:cs typeface="Poppins Light" panose="00000400000000000000" pitchFamily="2" charset="0"/>
            </a:endParaRPr>
          </a:p>
        </p:txBody>
      </p:sp>
      <p:pic>
        <p:nvPicPr>
          <p:cNvPr id="13" name="Graphic 12">
            <a:extLst>
              <a:ext uri="{FF2B5EF4-FFF2-40B4-BE49-F238E27FC236}">
                <a16:creationId xmlns:a16="http://schemas.microsoft.com/office/drawing/2014/main" id="{8EA096ED-BD4F-4C0A-AB58-8B87F1608D5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3977" y="4119938"/>
            <a:ext cx="414768" cy="414768"/>
          </a:xfrm>
          <a:prstGeom prst="rect">
            <a:avLst/>
          </a:prstGeom>
        </p:spPr>
      </p:pic>
      <p:sp>
        <p:nvSpPr>
          <p:cNvPr id="14" name="TextBox 13">
            <a:extLst>
              <a:ext uri="{FF2B5EF4-FFF2-40B4-BE49-F238E27FC236}">
                <a16:creationId xmlns:a16="http://schemas.microsoft.com/office/drawing/2014/main" id="{B0400BB7-D8CB-494C-86D9-B29B6371DAD2}"/>
              </a:ext>
            </a:extLst>
          </p:cNvPr>
          <p:cNvSpPr txBox="1"/>
          <p:nvPr/>
        </p:nvSpPr>
        <p:spPr>
          <a:xfrm>
            <a:off x="1400102" y="5109792"/>
            <a:ext cx="9589430" cy="307777"/>
          </a:xfrm>
          <a:prstGeom prst="rect">
            <a:avLst/>
          </a:prstGeom>
          <a:noFill/>
        </p:spPr>
        <p:txBody>
          <a:bodyPr wrap="square" lIns="91440" tIns="45720" rIns="91440" bIns="45720" anchor="t">
            <a:spAutoFit/>
          </a:bodyPr>
          <a:lstStyle/>
          <a:p>
            <a:r>
              <a:rPr lang="en-GB" sz="1400">
                <a:solidFill>
                  <a:schemeClr val="bg1"/>
                </a:solidFill>
                <a:latin typeface="Poppins Light" panose="00000400000000000000" pitchFamily="2" charset="0"/>
                <a:cs typeface="Poppins Light" panose="00000400000000000000" pitchFamily="2" charset="0"/>
              </a:rPr>
              <a:t>As an organisation, do we know where we can go for help in an incident?</a:t>
            </a:r>
          </a:p>
        </p:txBody>
      </p:sp>
      <p:pic>
        <p:nvPicPr>
          <p:cNvPr id="15" name="Graphic 14">
            <a:extLst>
              <a:ext uri="{FF2B5EF4-FFF2-40B4-BE49-F238E27FC236}">
                <a16:creationId xmlns:a16="http://schemas.microsoft.com/office/drawing/2014/main" id="{07DC813A-EA1B-4D92-B237-CF6104858EC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2052" y="5108853"/>
            <a:ext cx="414768" cy="414768"/>
          </a:xfrm>
          <a:prstGeom prst="rect">
            <a:avLst/>
          </a:prstGeom>
        </p:spPr>
      </p:pic>
    </p:spTree>
    <p:custDataLst>
      <p:tags r:id="rId1"/>
    </p:custDataLst>
    <p:extLst>
      <p:ext uri="{BB962C8B-B14F-4D97-AF65-F5344CB8AC3E}">
        <p14:creationId xmlns:p14="http://schemas.microsoft.com/office/powerpoint/2010/main" val="308635747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1">
            <a:extLst>
              <a:ext uri="{FF2B5EF4-FFF2-40B4-BE49-F238E27FC236}">
                <a16:creationId xmlns:a16="http://schemas.microsoft.com/office/drawing/2014/main" id="{E1C79A58-C82E-4403-8A68-B3BDCFA494D2}"/>
              </a:ext>
            </a:extLst>
          </p:cNvPr>
          <p:cNvSpPr>
            <a:spLocks noGrp="1"/>
          </p:cNvSpPr>
          <p:nvPr>
            <p:ph type="body" sz="quarter" idx="13"/>
          </p:nvPr>
        </p:nvSpPr>
        <p:spPr>
          <a:xfrm>
            <a:off x="474663" y="1389363"/>
            <a:ext cx="10367962" cy="517525"/>
          </a:xfrm>
        </p:spPr>
        <p:txBody>
          <a:bodyPr>
            <a:normAutofit/>
          </a:bodyPr>
          <a:lstStyle/>
          <a:p>
            <a:r>
              <a:rPr lang="en-GB" b="1">
                <a:solidFill>
                  <a:srgbClr val="B78B1E"/>
                </a:solidFill>
              </a:rPr>
              <a:t>How is the toolkit being used so far?</a:t>
            </a:r>
          </a:p>
        </p:txBody>
      </p:sp>
      <p:sp>
        <p:nvSpPr>
          <p:cNvPr id="8" name="TextBox 7">
            <a:extLst>
              <a:ext uri="{FF2B5EF4-FFF2-40B4-BE49-F238E27FC236}">
                <a16:creationId xmlns:a16="http://schemas.microsoft.com/office/drawing/2014/main" id="{5BDA4683-B3B4-4622-BC57-A0350C0EADC3}"/>
              </a:ext>
            </a:extLst>
          </p:cNvPr>
          <p:cNvSpPr txBox="1"/>
          <p:nvPr/>
        </p:nvSpPr>
        <p:spPr>
          <a:xfrm>
            <a:off x="1400102" y="2482937"/>
            <a:ext cx="8064799" cy="523220"/>
          </a:xfrm>
          <a:prstGeom prst="rect">
            <a:avLst/>
          </a:prstGeom>
          <a:noFill/>
        </p:spPr>
        <p:txBody>
          <a:bodyPr wrap="square">
            <a:spAutoFit/>
          </a:bodyPr>
          <a:lstStyle/>
          <a:p>
            <a:endParaRPr lang="en-GB" sz="1400" dirty="0">
              <a:solidFill>
                <a:schemeClr val="bg1"/>
              </a:solidFill>
              <a:latin typeface="Poppins Light" panose="00000400000000000000" pitchFamily="2" charset="0"/>
              <a:cs typeface="Poppins Light" panose="00000400000000000000" pitchFamily="2" charset="0"/>
            </a:endParaRPr>
          </a:p>
          <a:p>
            <a:r>
              <a:rPr lang="en-GB" sz="1400" dirty="0">
                <a:solidFill>
                  <a:schemeClr val="bg1"/>
                </a:solidFill>
                <a:latin typeface="Poppins Light" panose="00000400000000000000" pitchFamily="2" charset="0"/>
                <a:cs typeface="Poppins Light" panose="00000400000000000000" pitchFamily="2" charset="0"/>
              </a:rPr>
              <a:t>As the basis for a ‘deep dive’ into two modules at a board away day</a:t>
            </a:r>
          </a:p>
        </p:txBody>
      </p:sp>
      <p:pic>
        <p:nvPicPr>
          <p:cNvPr id="9" name="Graphic 8">
            <a:extLst>
              <a:ext uri="{FF2B5EF4-FFF2-40B4-BE49-F238E27FC236}">
                <a16:creationId xmlns:a16="http://schemas.microsoft.com/office/drawing/2014/main" id="{5333DBAB-736C-43F5-A98B-EBDB1B46FCA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4280" y="2641779"/>
            <a:ext cx="414768" cy="414768"/>
          </a:xfrm>
          <a:prstGeom prst="rect">
            <a:avLst/>
          </a:prstGeom>
        </p:spPr>
      </p:pic>
      <p:sp>
        <p:nvSpPr>
          <p:cNvPr id="10" name="TextBox 9">
            <a:extLst>
              <a:ext uri="{FF2B5EF4-FFF2-40B4-BE49-F238E27FC236}">
                <a16:creationId xmlns:a16="http://schemas.microsoft.com/office/drawing/2014/main" id="{BCE10449-BD49-42DB-9685-B684DA4F052B}"/>
              </a:ext>
            </a:extLst>
          </p:cNvPr>
          <p:cNvSpPr txBox="1"/>
          <p:nvPr/>
        </p:nvSpPr>
        <p:spPr>
          <a:xfrm>
            <a:off x="1400102" y="3282683"/>
            <a:ext cx="9704583" cy="738664"/>
          </a:xfrm>
          <a:prstGeom prst="rect">
            <a:avLst/>
          </a:prstGeom>
          <a:noFill/>
        </p:spPr>
        <p:txBody>
          <a:bodyPr wrap="square" lIns="91440" tIns="45720" rIns="91440" bIns="45720" anchor="t">
            <a:spAutoFit/>
          </a:bodyPr>
          <a:lstStyle/>
          <a:p>
            <a:endParaRPr lang="en-GB" sz="1400">
              <a:solidFill>
                <a:schemeClr val="bg1"/>
              </a:solidFill>
              <a:latin typeface="Poppins Light" panose="00000400000000000000" pitchFamily="2" charset="0"/>
              <a:cs typeface="Poppins Light" panose="00000400000000000000" pitchFamily="2" charset="0"/>
            </a:endParaRPr>
          </a:p>
          <a:p>
            <a:r>
              <a:rPr lang="en-GB" sz="1400">
                <a:solidFill>
                  <a:schemeClr val="bg1"/>
                </a:solidFill>
                <a:latin typeface="Poppins Light"/>
                <a:cs typeface="Poppins Light"/>
              </a:rPr>
              <a:t>Providing a starting point to enable board members to ask key staff reporting to the board questions on cyber security</a:t>
            </a:r>
            <a:endParaRPr lang="en-GB" sz="1400">
              <a:solidFill>
                <a:schemeClr val="bg1"/>
              </a:solidFill>
              <a:latin typeface="Poppins Light" panose="00000400000000000000" pitchFamily="2" charset="0"/>
              <a:cs typeface="Poppins Light" panose="00000400000000000000" pitchFamily="2" charset="0"/>
            </a:endParaRPr>
          </a:p>
        </p:txBody>
      </p:sp>
      <p:pic>
        <p:nvPicPr>
          <p:cNvPr id="11" name="Graphic 10">
            <a:extLst>
              <a:ext uri="{FF2B5EF4-FFF2-40B4-BE49-F238E27FC236}">
                <a16:creationId xmlns:a16="http://schemas.microsoft.com/office/drawing/2014/main" id="{0B85EA5B-C729-4826-9DC7-396F02B50DD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77912" y="3501929"/>
            <a:ext cx="414768" cy="414768"/>
          </a:xfrm>
          <a:prstGeom prst="rect">
            <a:avLst/>
          </a:prstGeom>
        </p:spPr>
      </p:pic>
      <p:sp>
        <p:nvSpPr>
          <p:cNvPr id="12" name="TextBox 11">
            <a:extLst>
              <a:ext uri="{FF2B5EF4-FFF2-40B4-BE49-F238E27FC236}">
                <a16:creationId xmlns:a16="http://schemas.microsoft.com/office/drawing/2014/main" id="{899B1210-1B01-451E-8F4A-C86B6A4A2776}"/>
              </a:ext>
            </a:extLst>
          </p:cNvPr>
          <p:cNvSpPr txBox="1"/>
          <p:nvPr/>
        </p:nvSpPr>
        <p:spPr>
          <a:xfrm>
            <a:off x="1362633" y="4304007"/>
            <a:ext cx="9953067" cy="523220"/>
          </a:xfrm>
          <a:prstGeom prst="rect">
            <a:avLst/>
          </a:prstGeom>
          <a:noFill/>
        </p:spPr>
        <p:txBody>
          <a:bodyPr wrap="square" lIns="91440" tIns="45720" rIns="91440" bIns="45720" anchor="t">
            <a:spAutoFit/>
          </a:bodyPr>
          <a:lstStyle/>
          <a:p>
            <a:r>
              <a:rPr lang="en-GB" sz="1400" dirty="0">
                <a:solidFill>
                  <a:schemeClr val="bg1"/>
                </a:solidFill>
                <a:latin typeface="Poppins Light"/>
                <a:cs typeface="Poppins Light" panose="00000400000000000000" pitchFamily="2" charset="0"/>
              </a:rPr>
              <a:t>Particular modules</a:t>
            </a:r>
            <a:r>
              <a:rPr lang="en-GB" sz="1400" b="1" dirty="0">
                <a:solidFill>
                  <a:schemeClr val="bg1"/>
                </a:solidFill>
                <a:latin typeface="Poppins Light"/>
                <a:cs typeface="Poppins Light" panose="00000400000000000000" pitchFamily="2" charset="0"/>
              </a:rPr>
              <a:t> l</a:t>
            </a:r>
            <a:r>
              <a:rPr lang="en-GB" sz="1400" dirty="0">
                <a:solidFill>
                  <a:schemeClr val="bg1"/>
                </a:solidFill>
                <a:latin typeface="Poppins Light"/>
                <a:cs typeface="Poppins Light" panose="00000400000000000000" pitchFamily="2" charset="0"/>
              </a:rPr>
              <a:t>ooked at in detail at a sector-specific</a:t>
            </a:r>
            <a:r>
              <a:rPr lang="en-GB" sz="1400" b="1" dirty="0">
                <a:solidFill>
                  <a:schemeClr val="bg1"/>
                </a:solidFill>
                <a:latin typeface="Poppins Light"/>
                <a:cs typeface="Poppins Light" panose="00000400000000000000" pitchFamily="2" charset="0"/>
              </a:rPr>
              <a:t> </a:t>
            </a:r>
            <a:r>
              <a:rPr lang="en-GB" sz="1400" dirty="0">
                <a:solidFill>
                  <a:schemeClr val="bg1"/>
                </a:solidFill>
                <a:latin typeface="Poppins Light"/>
                <a:cs typeface="Poppins Light" panose="00000400000000000000" pitchFamily="2" charset="0"/>
              </a:rPr>
              <a:t>governance</a:t>
            </a:r>
            <a:r>
              <a:rPr lang="en-GB" sz="1400" b="1" dirty="0">
                <a:solidFill>
                  <a:schemeClr val="bg1"/>
                </a:solidFill>
                <a:latin typeface="Poppins Light"/>
                <a:cs typeface="Poppins Light" panose="00000400000000000000" pitchFamily="2" charset="0"/>
              </a:rPr>
              <a:t> session:</a:t>
            </a:r>
          </a:p>
          <a:p>
            <a:r>
              <a:rPr lang="en-GB" sz="1400" dirty="0">
                <a:solidFill>
                  <a:schemeClr val="bg1"/>
                </a:solidFill>
                <a:latin typeface="Poppins Light" panose="00000400000000000000" pitchFamily="2" charset="0"/>
                <a:cs typeface="Poppins Light" panose="00000400000000000000" pitchFamily="2" charset="0"/>
              </a:rPr>
              <a:t>Representatives from different organisations sharing their experiences and approach in a closed environment</a:t>
            </a:r>
          </a:p>
        </p:txBody>
      </p:sp>
      <p:pic>
        <p:nvPicPr>
          <p:cNvPr id="13" name="Graphic 12">
            <a:extLst>
              <a:ext uri="{FF2B5EF4-FFF2-40B4-BE49-F238E27FC236}">
                <a16:creationId xmlns:a16="http://schemas.microsoft.com/office/drawing/2014/main" id="{8EA096ED-BD4F-4C0A-AB58-8B87F1608D5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77912" y="4381436"/>
            <a:ext cx="414768" cy="414768"/>
          </a:xfrm>
          <a:prstGeom prst="rect">
            <a:avLst/>
          </a:prstGeom>
        </p:spPr>
      </p:pic>
      <p:sp>
        <p:nvSpPr>
          <p:cNvPr id="14" name="TextBox 13">
            <a:extLst>
              <a:ext uri="{FF2B5EF4-FFF2-40B4-BE49-F238E27FC236}">
                <a16:creationId xmlns:a16="http://schemas.microsoft.com/office/drawing/2014/main" id="{B0400BB7-D8CB-494C-86D9-B29B6371DAD2}"/>
              </a:ext>
            </a:extLst>
          </p:cNvPr>
          <p:cNvSpPr txBox="1"/>
          <p:nvPr/>
        </p:nvSpPr>
        <p:spPr>
          <a:xfrm>
            <a:off x="1400102" y="5453930"/>
            <a:ext cx="9589430" cy="307777"/>
          </a:xfrm>
          <a:prstGeom prst="rect">
            <a:avLst/>
          </a:prstGeom>
          <a:noFill/>
        </p:spPr>
        <p:txBody>
          <a:bodyPr wrap="square" lIns="91440" tIns="45720" rIns="91440" bIns="45720" anchor="t">
            <a:spAutoFit/>
          </a:bodyPr>
          <a:lstStyle/>
          <a:p>
            <a:r>
              <a:rPr lang="en-GB" sz="1400" dirty="0">
                <a:solidFill>
                  <a:schemeClr val="bg1"/>
                </a:solidFill>
                <a:latin typeface="Poppins Light"/>
                <a:cs typeface="Poppins Light" panose="00000400000000000000" pitchFamily="2" charset="0"/>
              </a:rPr>
              <a:t>Internal auditors using some of the questions as part of their audits</a:t>
            </a:r>
          </a:p>
        </p:txBody>
      </p:sp>
      <p:pic>
        <p:nvPicPr>
          <p:cNvPr id="15" name="Graphic 14">
            <a:extLst>
              <a:ext uri="{FF2B5EF4-FFF2-40B4-BE49-F238E27FC236}">
                <a16:creationId xmlns:a16="http://schemas.microsoft.com/office/drawing/2014/main" id="{07DC813A-EA1B-4D92-B237-CF6104858EC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4448" y="5370351"/>
            <a:ext cx="414768" cy="414768"/>
          </a:xfrm>
          <a:prstGeom prst="rect">
            <a:avLst/>
          </a:prstGeom>
        </p:spPr>
      </p:pic>
    </p:spTree>
    <p:custDataLst>
      <p:tags r:id="rId1"/>
    </p:custDataLst>
    <p:extLst>
      <p:ext uri="{BB962C8B-B14F-4D97-AF65-F5344CB8AC3E}">
        <p14:creationId xmlns:p14="http://schemas.microsoft.com/office/powerpoint/2010/main" val="92719152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a:extLst>
              <a:ext uri="{FF2B5EF4-FFF2-40B4-BE49-F238E27FC236}">
                <a16:creationId xmlns:a16="http://schemas.microsoft.com/office/drawing/2014/main" id="{67088A2B-3A2D-4B22-A189-84BF3EC6378F}"/>
              </a:ext>
            </a:extLst>
          </p:cNvPr>
          <p:cNvSpPr txBox="1">
            <a:spLocks/>
          </p:cNvSpPr>
          <p:nvPr/>
        </p:nvSpPr>
        <p:spPr>
          <a:xfrm>
            <a:off x="462382" y="2431986"/>
            <a:ext cx="5978602" cy="159678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a:solidFill>
                  <a:schemeClr val="bg1"/>
                </a:solidFill>
                <a:latin typeface="Poppins SemiBold" panose="00000700000000000000" pitchFamily="2" charset="0"/>
                <a:cs typeface="Poppins SemiBold" panose="00000700000000000000" pitchFamily="2" charset="0"/>
              </a:rPr>
              <a:t>The Cyber Security Toolkit for Boards:</a:t>
            </a:r>
          </a:p>
          <a:p>
            <a:pPr marL="0" indent="0">
              <a:buNone/>
            </a:pPr>
            <a:r>
              <a:rPr lang="en-GB">
                <a:solidFill>
                  <a:srgbClr val="B78B1E"/>
                </a:solidFill>
                <a:latin typeface="Poppins SemiBold" panose="00000700000000000000" pitchFamily="2" charset="0"/>
                <a:cs typeface="Poppins SemiBold" panose="00000700000000000000" pitchFamily="2" charset="0"/>
              </a:rPr>
              <a:t>Helping board members get to grips with cyber security. </a:t>
            </a:r>
            <a:endParaRPr lang="en-GB" sz="1800">
              <a:solidFill>
                <a:srgbClr val="B78B1E"/>
              </a:solidFill>
              <a:latin typeface="Poppins SemiBold" panose="00000700000000000000" pitchFamily="2" charset="0"/>
              <a:cs typeface="Poppins SemiBold" panose="00000700000000000000" pitchFamily="2" charset="0"/>
            </a:endParaRPr>
          </a:p>
        </p:txBody>
      </p:sp>
      <p:sp>
        <p:nvSpPr>
          <p:cNvPr id="4" name="Text Placeholder 1">
            <a:extLst>
              <a:ext uri="{FF2B5EF4-FFF2-40B4-BE49-F238E27FC236}">
                <a16:creationId xmlns:a16="http://schemas.microsoft.com/office/drawing/2014/main" id="{8BF97F52-DE2B-4800-B56E-951ADF0D2890}"/>
              </a:ext>
            </a:extLst>
          </p:cNvPr>
          <p:cNvSpPr txBox="1">
            <a:spLocks/>
          </p:cNvSpPr>
          <p:nvPr/>
        </p:nvSpPr>
        <p:spPr>
          <a:xfrm>
            <a:off x="584662" y="5526379"/>
            <a:ext cx="6293690" cy="51115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GB" sz="1200">
              <a:solidFill>
                <a:srgbClr val="B78B1E"/>
              </a:solidFill>
              <a:latin typeface="Poppins SemiBold" panose="00000700000000000000" pitchFamily="2" charset="0"/>
              <a:cs typeface="Poppins SemiBold" panose="00000700000000000000" pitchFamily="2" charset="0"/>
            </a:endParaRPr>
          </a:p>
          <a:p>
            <a:pPr marL="0" indent="0">
              <a:buNone/>
            </a:pPr>
            <a:endParaRPr lang="en-GB" sz="1800">
              <a:solidFill>
                <a:srgbClr val="B78B1E"/>
              </a:solidFill>
              <a:latin typeface="Poppins SemiBold" panose="00000700000000000000" pitchFamily="2" charset="0"/>
              <a:cs typeface="Poppins SemiBold" panose="00000700000000000000" pitchFamily="2" charset="0"/>
            </a:endParaRPr>
          </a:p>
        </p:txBody>
      </p:sp>
      <p:sp>
        <p:nvSpPr>
          <p:cNvPr id="2" name="Text Placeholder 1">
            <a:extLst>
              <a:ext uri="{FF2B5EF4-FFF2-40B4-BE49-F238E27FC236}">
                <a16:creationId xmlns:a16="http://schemas.microsoft.com/office/drawing/2014/main" id="{F7AAADC8-3C84-350C-95B3-18A845A33140}"/>
              </a:ext>
            </a:extLst>
          </p:cNvPr>
          <p:cNvSpPr txBox="1">
            <a:spLocks/>
          </p:cNvSpPr>
          <p:nvPr/>
        </p:nvSpPr>
        <p:spPr>
          <a:xfrm>
            <a:off x="737062" y="5678779"/>
            <a:ext cx="6293690" cy="51115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200" dirty="0">
                <a:solidFill>
                  <a:srgbClr val="B78B1E"/>
                </a:solidFill>
                <a:latin typeface="Poppins SemiBold" panose="00000700000000000000" pitchFamily="2" charset="0"/>
                <a:cs typeface="Poppins SemiBold" panose="00000700000000000000" pitchFamily="2" charset="0"/>
                <a:hlinkClick r:id="rId3"/>
              </a:rPr>
              <a:t>https://www.ncsc.gov.uk/board-toolkit</a:t>
            </a:r>
            <a:endParaRPr lang="en-GB" sz="1200" dirty="0">
              <a:solidFill>
                <a:srgbClr val="B78B1E"/>
              </a:solidFill>
              <a:latin typeface="Poppins SemiBold" panose="00000700000000000000" pitchFamily="2" charset="0"/>
              <a:cs typeface="Poppins SemiBold" panose="00000700000000000000" pitchFamily="2" charset="0"/>
            </a:endParaRPr>
          </a:p>
          <a:p>
            <a:pPr marL="0" indent="0">
              <a:buNone/>
            </a:pPr>
            <a:endParaRPr lang="en-GB" sz="1800" dirty="0">
              <a:solidFill>
                <a:srgbClr val="B78B1E"/>
              </a:solidFill>
              <a:latin typeface="Poppins SemiBold" panose="00000700000000000000" pitchFamily="2" charset="0"/>
              <a:cs typeface="Poppins SemiBold" panose="00000700000000000000" pitchFamily="2" charset="0"/>
            </a:endParaRPr>
          </a:p>
        </p:txBody>
      </p:sp>
    </p:spTree>
    <p:extLst>
      <p:ext uri="{BB962C8B-B14F-4D97-AF65-F5344CB8AC3E}">
        <p14:creationId xmlns:p14="http://schemas.microsoft.com/office/powerpoint/2010/main" val="197359311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15.8|12.8|45.6|25.2|12.7"/>
</p:tagLst>
</file>

<file path=ppt/tags/tag2.xml><?xml version="1.0" encoding="utf-8"?>
<p:tagLst xmlns:a="http://schemas.openxmlformats.org/drawingml/2006/main" xmlns:r="http://schemas.openxmlformats.org/officeDocument/2006/relationships" xmlns:p="http://schemas.openxmlformats.org/presentationml/2006/main">
  <p:tag name="TIMING" val="|15.8|12.8|45.6|25.2|12.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38D1DB696E29C4890AFC8CE6F1F52A8" ma:contentTypeVersion="3" ma:contentTypeDescription="Create a new document." ma:contentTypeScope="" ma:versionID="bb5871e0a248113abff784417fc88882">
  <xsd:schema xmlns:xsd="http://www.w3.org/2001/XMLSchema" xmlns:xs="http://www.w3.org/2001/XMLSchema" xmlns:p="http://schemas.microsoft.com/office/2006/metadata/properties" xmlns:ns2="0ac1a4ba-81e3-44a4-9cc3-b6c258e147e8" targetNamespace="http://schemas.microsoft.com/office/2006/metadata/properties" ma:root="true" ma:fieldsID="cdb4c4c6994b836c95e5895f2eae4251" ns2:_="">
    <xsd:import namespace="0ac1a4ba-81e3-44a4-9cc3-b6c258e147e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c1a4ba-81e3-44a4-9cc3-b6c258e147e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Receiver>
    <Name>Microsoft.Office.RecordsManagement.PolicyFeatures.ExpirationEventReceiver</Name>
    <Synchronization>Synchronous</Synchronization>
    <Type>10001</Type>
    <SequenceNumber>101</SequenceNumber>
    <Url/>
    <Assembly>Microsoft.Office.Policy, Version=16.0.0.0, Culture=neutral, PublicKeyToken=71e9bce111e9429c</Assembly>
    <Class>Microsoft.Office.RecordsManagement.Internal.UpdateExpireDate</Class>
    <Data/>
    <Filter/>
  </Receiver>
  <Receiver>
    <Name>Microsoft.Office.RecordsManagement.PolicyFeatures.ExpirationEventReceiver</Name>
    <Synchronization>Synchronous</Synchronization>
    <Type>10002</Type>
    <SequenceNumber>102</SequenceNumber>
    <Url/>
    <Assembly>Microsoft.Office.Policy, Version=16.0.0.0, Culture=neutral, PublicKeyToken=71e9bce111e9429c</Assembly>
    <Class>Microsoft.Office.RecordsManagement.Internal.UpdateExpireDate</Class>
    <Data/>
    <Filter/>
  </Receiver>
  <Receiver>
    <Name>Microsoft.Office.RecordsManagement.PolicyFeatures.ExpirationEventReceiver</Name>
    <Synchronization>Synchronous</Synchronization>
    <Type>10004</Type>
    <SequenceNumber>103</SequenceNumber>
    <Url/>
    <Assembly>Microsoft.Office.Policy, Version=16.0.0.0, Culture=neutral, PublicKeyToken=71e9bce111e9429c</Assembly>
    <Class>Microsoft.Office.RecordsManagement.Internal.UpdateExpireDate</Class>
    <Data/>
    <Filter/>
  </Receiver>
  <Receiver>
    <Name>Microsoft.Office.RecordsManagement.PolicyFeatures.ExpirationEventReceiver</Name>
    <Synchronization>Synchronous</Synchronization>
    <Type>10006</Type>
    <SequenceNumber>104</SequenceNumber>
    <Url/>
    <Assembly>Microsoft.Office.Policy, Version=16.0.0.0, Culture=neutral, PublicKeyToken=71e9bce111e9429c</Assembly>
    <Class>Microsoft.Office.RecordsManagement.Internal.UpdateExpireDate</Class>
    <Data/>
    <Filter/>
  </Receiver>
  <Receiver>
    <Name>Microsoft.Office.RecordsManagement.PolicyFeatures.ExpirationEventReceiver</Name>
    <Synchronization>Synchronous</Synchronization>
    <Type>10009</Type>
    <SequenceNumber>105</SequenceNumber>
    <Url/>
    <Assembly>Microsoft.Office.Policy, Version=16.0.0.0, Culture=neutral, PublicKeyToken=71e9bce111e9429c</Assembly>
    <Class>Microsoft.Office.RecordsManagement.Internal.UpdateExpireDate</Class>
    <Data/>
    <Filter/>
  </Receiver>
  <Receiver>
    <Name>Policy Auditing</Name>
    <Synchronization>Synchronous</Synchronization>
    <Type>10001</Type>
    <SequenceNumber>1100</SequenceNumber>
    <Url/>
    <Assembly>Microsoft.Office.Policy, Version=16.0.0.0, Culture=neutral, PublicKeyToken=71e9bce111e9429c</Assembly>
    <Class>Microsoft.Office.RecordsManagement.Internal.AuditHandler</Class>
    <Data/>
    <Filter/>
  </Receiver>
  <Receiver>
    <Name>Policy Auditing</Name>
    <Synchronization>Synchronous</Synchronization>
    <Type>10002</Type>
    <SequenceNumber>1101</SequenceNumber>
    <Url/>
    <Assembly>Microsoft.Office.Policy, Version=16.0.0.0, Culture=neutral, PublicKeyToken=71e9bce111e9429c</Assembly>
    <Class>Microsoft.Office.RecordsManagement.Internal.AuditHandler</Class>
    <Data/>
    <Filter/>
  </Receiver>
  <Receiver>
    <Name>Policy Auditing</Name>
    <Synchronization>Synchronous</Synchronization>
    <Type>10004</Type>
    <SequenceNumber>1102</SequenceNumber>
    <Url/>
    <Assembly>Microsoft.Office.Policy, Version=16.0.0.0, Culture=neutral, PublicKeyToken=71e9bce111e9429c</Assembly>
    <Class>Microsoft.Office.RecordsManagement.Internal.AuditHandler</Class>
    <Data/>
    <Filter/>
  </Receiver>
  <Receiver>
    <Name>Policy Auditing</Name>
    <Synchronization>Synchronous</Synchronization>
    <Type>10006</Type>
    <SequenceNumber>1103</SequenceNumber>
    <Url/>
    <Assembly>Microsoft.Office.Policy, Version=16.0.0.0, Culture=neutral, PublicKeyToken=71e9bce111e9429c</Assembly>
    <Class>Microsoft.Office.RecordsManagement.Internal.AuditHandler</Class>
    <Data/>
    <Filter/>
  </Receiver>
</spe:Receivers>
</file>

<file path=customXml/item5.xml><?xml version="1.0" encoding="utf-8"?>
<?mso-contentType ?>
<customXsn xmlns="http://schemas.microsoft.com/office/2006/metadata/customXsn">
  <xsnLocation/>
  <cached>True</cached>
  <openByDefault>True</openByDefault>
  <xsnScope/>
</customXsn>
</file>

<file path=customXml/item6.xml><?xml version="1.0" encoding="utf-8"?>
<ct:contentTypeSchema xmlns:ct="http://schemas.microsoft.com/office/2006/metadata/contentType" xmlns:ma="http://schemas.microsoft.com/office/2006/metadata/properties/metaAttributes" ct:_="" ma:_="" ma:contentTypeName="Business administration" ma:contentTypeID="0x010100D87388DB0C0E544B9EF3700046109C5B00EA90102AC290AA458F0889720A60A5D3" ma:contentTypeVersion="163" ma:contentTypeDescription="A general content type for day to day business" ma:contentTypeScope="" ma:versionID="b15c12c7b6d913c3913f803b8cc8bef5">
  <xsd:schema xmlns:xsd="http://www.w3.org/2001/XMLSchema" xmlns:xs="http://www.w3.org/2001/XMLSchema" xmlns:p="http://schemas.microsoft.com/office/2006/metadata/properties" xmlns:ns1="http://schemas.microsoft.com/sharepoint/v3" xmlns:ns2="54469ad9-f102-4260-8ab5-a66a0b12967e" xmlns:ns3="99bd4ccf-07a6-44b6-8b1e-bc81e5cc5676" targetNamespace="http://schemas.microsoft.com/office/2006/metadata/properties" ma:root="true" ma:fieldsID="29e038eef0e272d9f3d1296605b04188" ns1:_="" ns2:_="" ns3:_="">
    <xsd:import namespace="http://schemas.microsoft.com/sharepoint/v3"/>
    <xsd:import namespace="54469ad9-f102-4260-8ab5-a66a0b12967e"/>
    <xsd:import namespace="99bd4ccf-07a6-44b6-8b1e-bc81e5cc5676"/>
    <xsd:element name="properties">
      <xsd:complexType>
        <xsd:sequence>
          <xsd:element name="documentManagement">
            <xsd:complexType>
              <xsd:all>
                <xsd:element ref="ns2:_dlc_DocId" minOccurs="0"/>
                <xsd:element ref="ns2:_dlc_DocIdUrl" minOccurs="0"/>
                <xsd:element ref="ns2:_dlc_DocIdPersistId" minOccurs="0"/>
                <xsd:element ref="ns1:_dlc_Exempt" minOccurs="0"/>
                <xsd:element ref="ns1:_dlc_ExpireDateSaved" minOccurs="0"/>
                <xsd:element ref="ns1:_dlc_ExpireDate" minOccurs="0"/>
                <xsd:element ref="ns3:MediaServiceMetadata" minOccurs="0"/>
                <xsd:element ref="ns3:MediaServiceFastMetadata" minOccurs="0"/>
                <xsd:element ref="ns3:MediaServiceEventHashCode" minOccurs="0"/>
                <xsd:element ref="ns3:MediaServiceGenerationTime" minOccurs="0"/>
                <xsd:element ref="ns3:MediaServiceOCR" minOccurs="0"/>
                <xsd:element ref="ns3:MediaServiceDateTaken" minOccurs="0"/>
                <xsd:element ref="ns3:MediaServiceAutoKeyPoints" minOccurs="0"/>
                <xsd:element ref="ns3:MediaServiceKeyPoints" minOccurs="0"/>
                <xsd:element ref="ns3:MediaLengthInSeconds" minOccurs="0"/>
                <xsd:element ref="ns3:lcf76f155ced4ddcb4097134ff3c332f"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dlc_Exempt" ma:index="11" nillable="true" ma:displayName="Exempt from Policy" ma:description="" ma:hidden="true" ma:internalName="_dlc_Exempt" ma:readOnly="true">
      <xsd:simpleType>
        <xsd:restriction base="dms:Unknown"/>
      </xsd:simpleType>
    </xsd:element>
    <xsd:element name="_dlc_ExpireDateSaved" ma:index="12" nillable="true" ma:displayName="Original Expiration Date" ma:description="" ma:hidden="true" ma:internalName="_dlc_ExpireDateSaved" ma:readOnly="true">
      <xsd:simpleType>
        <xsd:restriction base="dms:DateTime"/>
      </xsd:simpleType>
    </xsd:element>
    <xsd:element name="_dlc_ExpireDate" ma:index="13" nillable="true" ma:displayName="Expiration Date" ma:description="" ma:hidden="true" ma:indexed="true" ma:internalName="_dlc_ExpireDat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54469ad9-f102-4260-8ab5-a66a0b12967e"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dexed="true"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99bd4ccf-07a6-44b6-8b1e-bc81e5cc5676" elementFormDefault="qualified">
    <xsd:import namespace="http://schemas.microsoft.com/office/2006/documentManagement/types"/>
    <xsd:import namespace="http://schemas.microsoft.com/office/infopath/2007/PartnerControls"/>
    <xsd:element name="MediaServiceMetadata" ma:index="15" nillable="true" ma:displayName="MediaServiceMetadata" ma:description="" ma:hidden="true" ma:internalName="MediaServiceMetadata" ma:readOnly="true">
      <xsd:simpleType>
        <xsd:restriction base="dms:Note"/>
      </xsd:simpleType>
    </xsd:element>
    <xsd:element name="MediaServiceFastMetadata" ma:index="16" nillable="true" ma:displayName="MediaServiceFastMetadata" ma:description="" ma:hidden="true" ma:internalName="MediaServiceFastMetadata" ma:readOnly="true">
      <xsd:simpleType>
        <xsd:restriction base="dms:Note"/>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DateTaken" ma:index="20" nillable="true" ma:displayName="MediaServiceDateTaken" ma:hidden="true" ma:internalName="MediaServiceDateTake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MediaLengthInSeconds" ma:index="23" nillable="true" ma:displayName="MediaLengthInSeconds" ma:hidden="true" ma:internalName="MediaLengthInSeconds" ma:readOnly="true">
      <xsd:simpleType>
        <xsd:restriction base="dms:Unknown"/>
      </xsd:simpleType>
    </xsd:element>
    <xsd:element name="lcf76f155ced4ddcb4097134ff3c332f" ma:index="25" nillable="true" ma:taxonomy="true" ma:internalName="lcf76f155ced4ddcb4097134ff3c332f" ma:taxonomyFieldName="MediaServiceImageTags" ma:displayName="Image Tags" ma:readOnly="false" ma:fieldId="{5cf76f15-5ced-4ddc-b409-7134ff3c332f}" ma:taxonomyMulti="true" ma:sspId="0debb78e-c36f-4e17-8b24-15495bc4f905"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8DC9B33-385C-45EF-8AC5-4E289BD07606}">
  <ds:schemaRefs>
    <ds:schemaRef ds:uri="http://schemas.microsoft.com/sharepoint/v3/contenttype/forms"/>
  </ds:schemaRefs>
</ds:datastoreItem>
</file>

<file path=customXml/itemProps2.xml><?xml version="1.0" encoding="utf-8"?>
<ds:datastoreItem xmlns:ds="http://schemas.openxmlformats.org/officeDocument/2006/customXml" ds:itemID="{C1C4B6BA-C88C-46A5-9F32-94AA5C00AFE5}">
  <ds:schemaRefs>
    <ds:schemaRef ds:uri="http://schemas.microsoft.com/office/2006/metadata/properties"/>
    <ds:schemaRef ds:uri="http://schemas.microsoft.com/office/infopath/2007/PartnerControls"/>
    <ds:schemaRef ds:uri="54469ad9-f102-4260-8ab5-a66a0b12967e"/>
    <ds:schemaRef ds:uri="99bd4ccf-07a6-44b6-8b1e-bc81e5cc5676"/>
    <ds:schemaRef ds:uri="http://schemas.microsoft.com/sharepoint/v3"/>
  </ds:schemaRefs>
</ds:datastoreItem>
</file>

<file path=customXml/itemProps3.xml><?xml version="1.0" encoding="utf-8"?>
<ds:datastoreItem xmlns:ds="http://schemas.openxmlformats.org/officeDocument/2006/customXml" ds:itemID="{A1333192-31A2-48F5-BAF8-58E35B9D95EE}"/>
</file>

<file path=customXml/itemProps4.xml><?xml version="1.0" encoding="utf-8"?>
<ds:datastoreItem xmlns:ds="http://schemas.openxmlformats.org/officeDocument/2006/customXml" ds:itemID="{24722FC9-0D47-487D-B0AB-C8F2985645F0}">
  <ds:schemaRefs>
    <ds:schemaRef ds:uri="http://schemas.microsoft.com/sharepoint/events"/>
  </ds:schemaRefs>
</ds:datastoreItem>
</file>

<file path=customXml/itemProps5.xml><?xml version="1.0" encoding="utf-8"?>
<ds:datastoreItem xmlns:ds="http://schemas.openxmlformats.org/officeDocument/2006/customXml" ds:itemID="{E802DAD7-8F5A-4375-B595-25E254872784}">
  <ds:schemaRefs>
    <ds:schemaRef ds:uri="http://schemas.microsoft.com/office/2006/metadata/customXsn"/>
  </ds:schemaRefs>
</ds:datastoreItem>
</file>

<file path=customXml/itemProps6.xml><?xml version="1.0" encoding="utf-8"?>
<ds:datastoreItem xmlns:ds="http://schemas.openxmlformats.org/officeDocument/2006/customXml" ds:itemID="{AA0B6F38-901B-4639-87BF-CEDA2E20B55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54469ad9-f102-4260-8ab5-a66a0b12967e"/>
    <ds:schemaRef ds:uri="99bd4ccf-07a6-44b6-8b1e-bc81e5cc567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3232</Words>
  <Application>Microsoft Office PowerPoint</Application>
  <PresentationFormat>Widescreen</PresentationFormat>
  <Paragraphs>212</Paragraphs>
  <Slides>12</Slides>
  <Notes>12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12</vt:i4>
      </vt:variant>
    </vt:vector>
  </HeadingPairs>
  <TitlesOfParts>
    <vt:vector size="21" baseType="lpstr">
      <vt:lpstr>Arial</vt:lpstr>
      <vt:lpstr>Calibri</vt:lpstr>
      <vt:lpstr>Calibri Light</vt:lpstr>
      <vt:lpstr>Poppins</vt:lpstr>
      <vt:lpstr>Poppins Light</vt:lpstr>
      <vt:lpstr>Poppins SemiBold</vt:lpstr>
      <vt:lpstr>Symbol</vt:lpstr>
      <vt:lpstr>Office Theme</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1</cp:revision>
  <dcterms:created xsi:type="dcterms:W3CDTF">2023-03-27T08:58:34Z</dcterms:created>
  <dcterms:modified xsi:type="dcterms:W3CDTF">2023-10-23T11:51:23Z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0x010100138D1DB696E29C4890AFC8CE6F1F52A8</vt:lpwstr>
  </property>
  <property fmtid="{D5CDD505-2E9C-101B-9397-08002B2CF9AE}" pid="3" name="_dlc_DocIdItemGuid">
    <vt:lpwstr>3d27bb49-3350-4dfb-8b5b-1376ff64d803</vt:lpwstr>
  </property>
  <property fmtid="{D5CDD505-2E9C-101B-9397-08002B2CF9AE}" pid="4" name="_dlc_policyId">
    <vt:lpwstr>0x010100D87388DB0C0E544B9EF3700046109C5B|1208973698</vt:lpwstr>
  </property>
  <property fmtid="{D5CDD505-2E9C-101B-9397-08002B2CF9AE}" pid="5" name="MediaServiceImageTags">
    <vt:lpwstr/>
  </property>
  <property fmtid="{D5CDD505-2E9C-101B-9397-08002B2CF9AE}" pid="6" name="TaxCatchAll">
    <vt:lpwstr/>
  </property>
  <property fmtid="{D5CDD505-2E9C-101B-9397-08002B2CF9AE}" pid="7" name="NCSCS_x0020_Team">
    <vt:lpwstr/>
  </property>
  <property fmtid="{D5CDD505-2E9C-101B-9397-08002B2CF9AE}" pid="8" name="ItemRetentionFormula">
    <vt:lpwstr>&lt;formula id="Microsoft.Office.RecordsManagement.PolicyFeatures.Expiration.Formula.BuiltIn"&gt;&lt;number&gt;2&lt;/number&gt;&lt;property&gt;Modified&lt;/property&gt;&lt;propertyId&gt;28cf69c5-fa48-462a-b5cd-27b6f9d2bd5f&lt;/propertyId&gt;&lt;period&gt;years&lt;/period&gt;&lt;/formula&gt;</vt:lpwstr>
  </property>
  <property fmtid="{D5CDD505-2E9C-101B-9397-08002B2CF9AE}" pid="9" name="i2a9d56797544f3d9c3c8414e16f8390">
    <vt:lpwstr/>
  </property>
  <property fmtid="{D5CDD505-2E9C-101B-9397-08002B2CF9AE}" pid="10" name="NCSCS Team">
    <vt:lpwstr/>
  </property>
</Properties>
</file>