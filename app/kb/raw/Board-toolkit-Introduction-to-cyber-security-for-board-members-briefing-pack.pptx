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 id="2147483663" r:id="rId5"/>
  </p:sldMasterIdLst>
  <p:notesMasterIdLst>
    <p:notesMasterId r:id="rId17"/>
  </p:notesMasterIdLst>
  <p:sldIdLst>
    <p:sldId id="256" r:id="rId6"/>
    <p:sldId id="289" r:id="rId7"/>
    <p:sldId id="258" r:id="rId8"/>
    <p:sldId id="259" r:id="rId9"/>
    <p:sldId id="260" r:id="rId10"/>
    <p:sldId id="290" r:id="rId11"/>
    <p:sldId id="263" r:id="rId12"/>
    <p:sldId id="268" r:id="rId13"/>
    <p:sldId id="264" r:id="rId14"/>
    <p:sldId id="265"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AA95264-CB26-4274-8728-D149901E5186}">
          <p14:sldIdLst>
            <p14:sldId id="256"/>
            <p14:sldId id="289"/>
            <p14:sldId id="258"/>
            <p14:sldId id="259"/>
            <p14:sldId id="260"/>
          </p14:sldIdLst>
        </p14:section>
        <p14:section name="British Library Case Study" id="{E0898D43-542E-4200-A961-8AC25A7EBEAE}">
          <p14:sldIdLst>
            <p14:sldId id="290"/>
            <p14:sldId id="263"/>
          </p14:sldIdLst>
        </p14:section>
        <p14:section name="Cyber security and boards" id="{BC8A118E-1BEB-4D6C-8835-36098D0E4231}">
          <p14:sldIdLst>
            <p14:sldId id="268"/>
            <p14:sldId id="264"/>
            <p14:sldId id="265"/>
            <p14:sldId id="2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8B1E"/>
    <a:srgbClr val="0D2650"/>
    <a:srgbClr val="000000"/>
    <a:srgbClr val="21305A"/>
    <a:srgbClr val="123D97"/>
    <a:srgbClr val="124097"/>
    <a:srgbClr val="51587C"/>
    <a:srgbClr val="021D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FE5AAB-42CE-43EC-9506-0FE42C71A400}" v="1" dt="2024-11-25T13:51:24.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076" autoAdjust="0"/>
  </p:normalViewPr>
  <p:slideViewPr>
    <p:cSldViewPr snapToGrid="0">
      <p:cViewPr varScale="1">
        <p:scale>
          <a:sx n="109" d="100"/>
          <a:sy n="109" d="100"/>
        </p:scale>
        <p:origin x="2188" y="8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9" d="100"/>
          <a:sy n="119" d="100"/>
        </p:scale>
        <p:origin x="4992" y="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D80951-F195-4618-96D3-ABC4CBC57D2E}" type="datetimeFigureOut">
              <a:rPr lang="en-GB" smtClean="0"/>
              <a:t>25/11/2024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2E62C-A7F3-4060-9555-0E1F16BA06F1}" type="slidenum">
              <a:rPr lang="en-GB" smtClean="0"/>
              <a:t>‹#›</a:t>
            </a:fld>
            <a:endParaRPr lang="en-GB"/>
          </a:p>
        </p:txBody>
      </p:sp>
    </p:spTree>
    <p:extLst>
      <p:ext uri="{BB962C8B-B14F-4D97-AF65-F5344CB8AC3E}">
        <p14:creationId xmlns:p14="http://schemas.microsoft.com/office/powerpoint/2010/main" val="697585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bl.uk/home/british-library-cyber-incident-review-8-march-2024.pdf"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341313"/>
            <a:ext cx="5486400" cy="3086100"/>
          </a:xfrm>
        </p:spPr>
      </p:sp>
      <p:sp>
        <p:nvSpPr>
          <p:cNvPr id="3" name="Notes Placeholder 2"/>
          <p:cNvSpPr>
            <a:spLocks noGrp="1"/>
          </p:cNvSpPr>
          <p:nvPr>
            <p:ph type="body" idx="1"/>
          </p:nvPr>
        </p:nvSpPr>
        <p:spPr>
          <a:xfrm>
            <a:off x="685800" y="3588589"/>
            <a:ext cx="5486400" cy="4412411"/>
          </a:xfrm>
        </p:spPr>
        <p:txBody>
          <a:bodyPr/>
          <a:lstStyle/>
          <a:p>
            <a:pPr algn="l" rtl="0" fontAlgn="base"/>
            <a:endParaRPr lang="en-GB" sz="1400" b="0" i="0" dirty="0">
              <a:solidFill>
                <a:srgbClr val="000000"/>
              </a:solidFill>
              <a:effectLst/>
            </a:endParaRPr>
          </a:p>
          <a:p>
            <a:pPr algn="l" rtl="0" fontAlgn="base"/>
            <a:r>
              <a:rPr lang="en-GB" b="0" i="0" dirty="0">
                <a:solidFill>
                  <a:srgbClr val="000000"/>
                </a:solidFill>
                <a:effectLst/>
              </a:rPr>
              <a:t>This presentation gives a brief introduction to cyber security for board members who don’t have much background in the topic or who perhaps aren’t sure how much they </a:t>
            </a:r>
            <a:r>
              <a:rPr lang="en-GB" b="0" i="1" dirty="0">
                <a:solidFill>
                  <a:srgbClr val="000000"/>
                </a:solidFill>
                <a:effectLst/>
              </a:rPr>
              <a:t>do</a:t>
            </a:r>
            <a:r>
              <a:rPr lang="en-GB" b="0" i="0" dirty="0">
                <a:solidFill>
                  <a:srgbClr val="000000"/>
                </a:solidFill>
                <a:effectLst/>
              </a:rPr>
              <a:t> know. </a:t>
            </a:r>
          </a:p>
          <a:p>
            <a:pPr algn="l" rtl="0" fontAlgn="base"/>
            <a:r>
              <a:rPr lang="en-GB" b="0" i="0" dirty="0">
                <a:solidFill>
                  <a:srgbClr val="000000"/>
                </a:solidFill>
                <a:effectLst/>
              </a:rPr>
              <a:t> </a:t>
            </a:r>
          </a:p>
          <a:p>
            <a:pPr algn="l" rtl="0" fontAlgn="base"/>
            <a:r>
              <a:rPr lang="en-GB" b="0" i="0" dirty="0">
                <a:solidFill>
                  <a:srgbClr val="000000"/>
                </a:solidFill>
                <a:effectLst/>
              </a:rPr>
              <a:t>We’ll explain what cyber security is and dispel some common myths. There’s a brief case study of a cyber incident to help bring the information to life.  </a:t>
            </a:r>
          </a:p>
          <a:p>
            <a:pPr algn="l" rtl="0" fontAlgn="base"/>
            <a:endParaRPr lang="en-GB" b="0" i="0" dirty="0">
              <a:solidFill>
                <a:srgbClr val="000000"/>
              </a:solidFill>
              <a:effectLst/>
            </a:endParaRPr>
          </a:p>
          <a:p>
            <a:pPr algn="l" rtl="0" fontAlgn="base"/>
            <a:r>
              <a:rPr lang="en-GB" b="0" i="0" dirty="0">
                <a:solidFill>
                  <a:srgbClr val="000000"/>
                </a:solidFill>
                <a:effectLst/>
              </a:rPr>
              <a:t>We also look at some headline figures about how cyber security is being tackled across a range of organisations. </a:t>
            </a:r>
          </a:p>
          <a:p>
            <a:endParaRPr lang="en-GB" dirty="0"/>
          </a:p>
        </p:txBody>
      </p:sp>
      <p:sp>
        <p:nvSpPr>
          <p:cNvPr id="4" name="Slide Number Placeholder 3"/>
          <p:cNvSpPr>
            <a:spLocks noGrp="1"/>
          </p:cNvSpPr>
          <p:nvPr>
            <p:ph type="sldNum" sz="quarter" idx="5"/>
          </p:nvPr>
        </p:nvSpPr>
        <p:spPr/>
        <p:txBody>
          <a:bodyPr/>
          <a:lstStyle/>
          <a:p>
            <a:fld id="{F1B2E62C-A7F3-4060-9555-0E1F16BA06F1}" type="slidenum">
              <a:rPr lang="en-GB" smtClean="0"/>
              <a:t>1</a:t>
            </a:fld>
            <a:endParaRPr lang="en-GB"/>
          </a:p>
        </p:txBody>
      </p:sp>
    </p:spTree>
    <p:extLst>
      <p:ext uri="{BB962C8B-B14F-4D97-AF65-F5344CB8AC3E}">
        <p14:creationId xmlns:p14="http://schemas.microsoft.com/office/powerpoint/2010/main" val="1929586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GB" b="0" i="0" dirty="0">
                <a:solidFill>
                  <a:srgbClr val="000000"/>
                </a:solidFill>
                <a:effectLst/>
              </a:rPr>
              <a:t>To set the scene, it’s helpful to understand what the National Cyber Security Centre is and what we do. </a:t>
            </a:r>
          </a:p>
          <a:p>
            <a:pPr algn="l" rtl="0" fontAlgn="base"/>
            <a:r>
              <a:rPr lang="en-GB" b="0" i="0" dirty="0">
                <a:solidFill>
                  <a:srgbClr val="000000"/>
                </a:solidFill>
                <a:effectLst/>
              </a:rPr>
              <a:t> </a:t>
            </a:r>
          </a:p>
          <a:p>
            <a:pPr algn="l" rtl="0" fontAlgn="base"/>
            <a:r>
              <a:rPr lang="en-GB" b="0" i="0" dirty="0">
                <a:solidFill>
                  <a:srgbClr val="000000"/>
                </a:solidFill>
                <a:effectLst/>
              </a:rPr>
              <a:t>The NCSC was set up in October 2016 bringing together various parts of government.  </a:t>
            </a:r>
          </a:p>
          <a:p>
            <a:pPr algn="l" rtl="0" fontAlgn="base"/>
            <a:endParaRPr lang="en-GB" b="0" i="0" dirty="0">
              <a:solidFill>
                <a:srgbClr val="000000"/>
              </a:solidFill>
              <a:effectLst/>
            </a:endParaRPr>
          </a:p>
          <a:p>
            <a:pPr algn="l" rtl="0" fontAlgn="base"/>
            <a:r>
              <a:rPr lang="en-GB" b="0" i="0" dirty="0">
                <a:solidFill>
                  <a:srgbClr val="000000"/>
                </a:solidFill>
                <a:effectLst/>
              </a:rPr>
              <a:t>We’re not a regulator but the UK’s technical experts in cyber security. </a:t>
            </a:r>
          </a:p>
          <a:p>
            <a:pPr algn="l" rtl="0" fontAlgn="base"/>
            <a:r>
              <a:rPr lang="en-GB" b="0" i="0" dirty="0">
                <a:solidFill>
                  <a:srgbClr val="000000"/>
                </a:solidFill>
                <a:effectLst/>
              </a:rPr>
              <a:t>As you’ll see from our logo at the top of the slide, we’re a part of GCHQ. </a:t>
            </a:r>
          </a:p>
          <a:p>
            <a:pPr algn="l" rtl="0" fontAlgn="base"/>
            <a:r>
              <a:rPr lang="en-GB" b="0" i="0" dirty="0">
                <a:solidFill>
                  <a:srgbClr val="000000"/>
                </a:solidFill>
                <a:effectLst/>
              </a:rPr>
              <a:t> </a:t>
            </a:r>
          </a:p>
          <a:p>
            <a:pPr algn="l" rtl="0" fontAlgn="base"/>
            <a:r>
              <a:rPr lang="en-GB" b="0" i="0" dirty="0">
                <a:solidFill>
                  <a:srgbClr val="000000"/>
                </a:solidFill>
                <a:effectLst/>
              </a:rPr>
              <a:t>NCSC’s strapline is ‘</a:t>
            </a:r>
            <a:r>
              <a:rPr lang="en-GB" b="0" i="1" dirty="0">
                <a:solidFill>
                  <a:srgbClr val="000000"/>
                </a:solidFill>
                <a:effectLst/>
              </a:rPr>
              <a:t>helping to make the UK the safest place to live and work online</a:t>
            </a:r>
            <a:r>
              <a:rPr lang="en-GB" b="0" i="0" dirty="0">
                <a:solidFill>
                  <a:srgbClr val="000000"/>
                </a:solidFill>
                <a:effectLst/>
              </a:rPr>
              <a:t>’ and this defines everything we do. </a:t>
            </a:r>
          </a:p>
          <a:p>
            <a:pPr algn="l" rtl="0" fontAlgn="base"/>
            <a:endParaRPr lang="en-GB" dirty="0">
              <a:solidFill>
                <a:srgbClr val="000000"/>
              </a:solidFill>
            </a:endParaRPr>
          </a:p>
          <a:p>
            <a:pPr algn="l" rtl="0" fontAlgn="base"/>
            <a:r>
              <a:rPr lang="en-GB" b="0" i="0" dirty="0">
                <a:solidFill>
                  <a:srgbClr val="000000"/>
                </a:solidFill>
                <a:effectLst/>
              </a:rPr>
              <a:t>Our website at www.ncsc.gov.uk is full of information and guidance aimed at audiences from the general public to cyber security professionals. </a:t>
            </a:r>
          </a:p>
          <a:p>
            <a:endParaRPr lang="en-GB" dirty="0"/>
          </a:p>
        </p:txBody>
      </p:sp>
      <p:sp>
        <p:nvSpPr>
          <p:cNvPr id="4" name="Slide Number Placeholder 3"/>
          <p:cNvSpPr>
            <a:spLocks noGrp="1"/>
          </p:cNvSpPr>
          <p:nvPr>
            <p:ph type="sldNum" sz="quarter" idx="5"/>
          </p:nvPr>
        </p:nvSpPr>
        <p:spPr/>
        <p:txBody>
          <a:bodyPr/>
          <a:lstStyle/>
          <a:p>
            <a:fld id="{F1B2E62C-A7F3-4060-9555-0E1F16BA06F1}" type="slidenum">
              <a:rPr lang="en-GB" smtClean="0"/>
              <a:t>2</a:t>
            </a:fld>
            <a:endParaRPr lang="en-GB"/>
          </a:p>
        </p:txBody>
      </p:sp>
    </p:spTree>
    <p:extLst>
      <p:ext uri="{BB962C8B-B14F-4D97-AF65-F5344CB8AC3E}">
        <p14:creationId xmlns:p14="http://schemas.microsoft.com/office/powerpoint/2010/main" val="3727211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GB" b="0" i="0" dirty="0">
                <a:solidFill>
                  <a:srgbClr val="000000"/>
                </a:solidFill>
                <a:effectLst/>
              </a:rPr>
              <a:t>We recognise that some board members may not feel confident about their knowledge of cyber security.  </a:t>
            </a:r>
          </a:p>
          <a:p>
            <a:pPr algn="l" rtl="0" fontAlgn="base"/>
            <a:endParaRPr lang="en-GB" b="0" i="0" dirty="0">
              <a:solidFill>
                <a:srgbClr val="000000"/>
              </a:solidFill>
              <a:effectLst/>
            </a:endParaRPr>
          </a:p>
          <a:p>
            <a:pPr algn="l" rtl="0" fontAlgn="base"/>
            <a:r>
              <a:rPr lang="en-GB" b="0" i="0" dirty="0">
                <a:solidFill>
                  <a:srgbClr val="000000"/>
                </a:solidFill>
                <a:effectLst/>
              </a:rPr>
              <a:t>Indeed, the very term </a:t>
            </a:r>
            <a:r>
              <a:rPr lang="en-GB" b="0" i="1" dirty="0">
                <a:solidFill>
                  <a:srgbClr val="000000"/>
                </a:solidFill>
                <a:effectLst/>
              </a:rPr>
              <a:t>'cyber security'</a:t>
            </a:r>
            <a:r>
              <a:rPr lang="en-GB" b="0" i="0" dirty="0">
                <a:solidFill>
                  <a:srgbClr val="000000"/>
                </a:solidFill>
                <a:effectLst/>
              </a:rPr>
              <a:t> isn't always well understood. So for starters, here are some of the many words associated with the topic.   </a:t>
            </a:r>
          </a:p>
          <a:p>
            <a:endParaRPr lang="en-GB" dirty="0"/>
          </a:p>
        </p:txBody>
      </p:sp>
      <p:sp>
        <p:nvSpPr>
          <p:cNvPr id="4" name="Slide Number Placeholder 3"/>
          <p:cNvSpPr>
            <a:spLocks noGrp="1"/>
          </p:cNvSpPr>
          <p:nvPr>
            <p:ph type="sldNum" sz="quarter" idx="5"/>
          </p:nvPr>
        </p:nvSpPr>
        <p:spPr/>
        <p:txBody>
          <a:bodyPr/>
          <a:lstStyle/>
          <a:p>
            <a:fld id="{F1B2E62C-A7F3-4060-9555-0E1F16BA06F1}" type="slidenum">
              <a:rPr lang="en-GB" smtClean="0"/>
              <a:t>3</a:t>
            </a:fld>
            <a:endParaRPr lang="en-GB"/>
          </a:p>
        </p:txBody>
      </p:sp>
    </p:spTree>
    <p:extLst>
      <p:ext uri="{BB962C8B-B14F-4D97-AF65-F5344CB8AC3E}">
        <p14:creationId xmlns:p14="http://schemas.microsoft.com/office/powerpoint/2010/main" val="1869233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GB" b="0" i="0" dirty="0">
                <a:solidFill>
                  <a:srgbClr val="000000"/>
                </a:solidFill>
                <a:effectLst/>
              </a:rPr>
              <a:t>There are different definitions of cyber security but let’s look at the one from NCSC’s website: (see https://www.ncsc.gov.uk/section/about-ncsc/what-is-cyber-security )</a:t>
            </a:r>
          </a:p>
          <a:p>
            <a:pPr algn="l" rtl="0" fontAlgn="base"/>
            <a:endParaRPr lang="en-GB" b="0" i="0" dirty="0">
              <a:solidFill>
                <a:srgbClr val="000000"/>
              </a:solidFill>
              <a:effectLst/>
            </a:endParaRPr>
          </a:p>
          <a:p>
            <a:pPr algn="l" rtl="0" fontAlgn="base"/>
            <a:r>
              <a:rPr lang="en-GB" b="0" i="1" dirty="0">
                <a:solidFill>
                  <a:srgbClr val="000000"/>
                </a:solidFill>
                <a:effectLst/>
              </a:rPr>
              <a:t>“Cyber security is how individuals and organisations reduce the risk of cyber attack.</a:t>
            </a:r>
            <a:r>
              <a:rPr lang="en-GB" b="0" i="0" dirty="0">
                <a:solidFill>
                  <a:srgbClr val="000000"/>
                </a:solidFill>
                <a:effectLst/>
              </a:rPr>
              <a:t> </a:t>
            </a:r>
          </a:p>
          <a:p>
            <a:pPr algn="l" rtl="0" fontAlgn="base"/>
            <a:endParaRPr lang="en-GB" b="0" i="0" dirty="0">
              <a:solidFill>
                <a:srgbClr val="000000"/>
              </a:solidFill>
              <a:effectLst/>
            </a:endParaRPr>
          </a:p>
          <a:p>
            <a:pPr algn="l" rtl="0" fontAlgn="base"/>
            <a:r>
              <a:rPr lang="en-GB" b="0" i="1" dirty="0">
                <a:solidFill>
                  <a:srgbClr val="000000"/>
                </a:solidFill>
                <a:effectLst/>
              </a:rPr>
              <a:t>Cyber security's core function is to protect the </a:t>
            </a:r>
            <a:r>
              <a:rPr lang="en-GB" b="1" i="1" dirty="0">
                <a:solidFill>
                  <a:srgbClr val="000000"/>
                </a:solidFill>
                <a:effectLst/>
              </a:rPr>
              <a:t>devices</a:t>
            </a:r>
            <a:r>
              <a:rPr lang="en-GB" b="0" i="1" dirty="0">
                <a:solidFill>
                  <a:srgbClr val="000000"/>
                </a:solidFill>
                <a:effectLst/>
              </a:rPr>
              <a:t> we all use and the </a:t>
            </a:r>
            <a:r>
              <a:rPr lang="en-GB" b="1" i="1" dirty="0">
                <a:solidFill>
                  <a:srgbClr val="000000"/>
                </a:solidFill>
                <a:effectLst/>
              </a:rPr>
              <a:t>services</a:t>
            </a:r>
            <a:r>
              <a:rPr lang="en-GB" b="0" i="1" dirty="0">
                <a:solidFill>
                  <a:srgbClr val="000000"/>
                </a:solidFill>
                <a:effectLst/>
              </a:rPr>
              <a:t> we access - both online and at work - from theft or damage.</a:t>
            </a:r>
            <a:r>
              <a:rPr lang="en-GB" b="0" i="0" dirty="0">
                <a:solidFill>
                  <a:srgbClr val="000000"/>
                </a:solidFill>
                <a:effectLst/>
              </a:rPr>
              <a:t> </a:t>
            </a:r>
          </a:p>
          <a:p>
            <a:pPr algn="l" rtl="0" fontAlgn="base"/>
            <a:endParaRPr lang="en-GB" b="0" i="0" dirty="0">
              <a:solidFill>
                <a:srgbClr val="000000"/>
              </a:solidFill>
              <a:effectLst/>
            </a:endParaRPr>
          </a:p>
          <a:p>
            <a:pPr algn="l" rtl="0" fontAlgn="base"/>
            <a:r>
              <a:rPr lang="en-GB" b="0" i="1" dirty="0">
                <a:solidFill>
                  <a:srgbClr val="000000"/>
                </a:solidFill>
                <a:effectLst/>
              </a:rPr>
              <a:t>It's also about preventing unauthorised access to the vast amounts of personal information we store on these devices, and online”.</a:t>
            </a:r>
            <a:r>
              <a:rPr lang="en-GB" b="0" i="0" dirty="0">
                <a:solidFill>
                  <a:srgbClr val="000000"/>
                </a:solidFill>
                <a:effectLst/>
              </a:rPr>
              <a:t> </a:t>
            </a:r>
          </a:p>
          <a:p>
            <a:endParaRPr lang="en-GB" dirty="0"/>
          </a:p>
        </p:txBody>
      </p:sp>
      <p:sp>
        <p:nvSpPr>
          <p:cNvPr id="4" name="Slide Number Placeholder 3"/>
          <p:cNvSpPr>
            <a:spLocks noGrp="1"/>
          </p:cNvSpPr>
          <p:nvPr>
            <p:ph type="sldNum" sz="quarter" idx="5"/>
          </p:nvPr>
        </p:nvSpPr>
        <p:spPr/>
        <p:txBody>
          <a:bodyPr/>
          <a:lstStyle/>
          <a:p>
            <a:fld id="{F1B2E62C-A7F3-4060-9555-0E1F16BA06F1}" type="slidenum">
              <a:rPr lang="en-GB" smtClean="0"/>
              <a:t>4</a:t>
            </a:fld>
            <a:endParaRPr lang="en-GB"/>
          </a:p>
        </p:txBody>
      </p:sp>
    </p:spTree>
    <p:extLst>
      <p:ext uri="{BB962C8B-B14F-4D97-AF65-F5344CB8AC3E}">
        <p14:creationId xmlns:p14="http://schemas.microsoft.com/office/powerpoint/2010/main" val="2774826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246063"/>
            <a:ext cx="5486400" cy="3086100"/>
          </a:xfrm>
        </p:spPr>
      </p:sp>
      <p:sp>
        <p:nvSpPr>
          <p:cNvPr id="3" name="Notes Placeholder 2"/>
          <p:cNvSpPr>
            <a:spLocks noGrp="1"/>
          </p:cNvSpPr>
          <p:nvPr>
            <p:ph type="body" idx="1"/>
          </p:nvPr>
        </p:nvSpPr>
        <p:spPr>
          <a:xfrm>
            <a:off x="664234" y="3408513"/>
            <a:ext cx="5693434" cy="5571586"/>
          </a:xfrm>
        </p:spPr>
        <p:txBody>
          <a:bodyPr/>
          <a:lstStyle/>
          <a:p>
            <a:pPr algn="l" rtl="0" fontAlgn="base"/>
            <a:r>
              <a:rPr lang="en-GB" b="0" i="0" dirty="0">
                <a:solidFill>
                  <a:srgbClr val="000000"/>
                </a:solidFill>
                <a:effectLst/>
              </a:rPr>
              <a:t>There are some common myths about cyber security that we’d like to dispel because these can really hold people back from engaging with the topic.  </a:t>
            </a:r>
          </a:p>
          <a:p>
            <a:pPr algn="l" rtl="0" fontAlgn="base"/>
            <a:r>
              <a:rPr lang="en-GB" b="0" i="0" dirty="0">
                <a:solidFill>
                  <a:srgbClr val="000000"/>
                </a:solidFill>
                <a:effectLst/>
              </a:rPr>
              <a:t> </a:t>
            </a:r>
          </a:p>
          <a:p>
            <a:pPr algn="l" rtl="0" fontAlgn="base"/>
            <a:r>
              <a:rPr lang="en-GB" b="1" i="0" dirty="0">
                <a:solidFill>
                  <a:srgbClr val="000000"/>
                </a:solidFill>
                <a:effectLst/>
              </a:rPr>
              <a:t>1. Cyber security is too complex for most people to understand.</a:t>
            </a:r>
            <a:r>
              <a:rPr lang="en-GB" b="0" i="0" dirty="0">
                <a:solidFill>
                  <a:srgbClr val="000000"/>
                </a:solidFill>
                <a:effectLst/>
              </a:rPr>
              <a:t> </a:t>
            </a:r>
          </a:p>
          <a:p>
            <a:pPr algn="l" rtl="0" fontAlgn="base"/>
            <a:r>
              <a:rPr lang="en-GB" b="0" i="0" dirty="0">
                <a:solidFill>
                  <a:srgbClr val="000000"/>
                </a:solidFill>
                <a:effectLst/>
              </a:rPr>
              <a:t>The reality is that you don't need to be a technical expert to make informed cyber security decisions.  </a:t>
            </a:r>
          </a:p>
          <a:p>
            <a:pPr algn="l" rtl="0" fontAlgn="base"/>
            <a:r>
              <a:rPr lang="en-GB" b="0" i="0" dirty="0">
                <a:solidFill>
                  <a:srgbClr val="000000"/>
                </a:solidFill>
                <a:effectLst/>
              </a:rPr>
              <a:t>After all, we make general security decisions every day without understanding all the details.  </a:t>
            </a:r>
          </a:p>
          <a:p>
            <a:pPr algn="l" rtl="0" fontAlgn="base"/>
            <a:r>
              <a:rPr lang="en-GB" b="0" i="0" dirty="0">
                <a:solidFill>
                  <a:srgbClr val="000000"/>
                </a:solidFill>
                <a:effectLst/>
              </a:rPr>
              <a:t>In our home life, for example, we don’t need to know how a house alarm works to decide whether to put it on when we go out. </a:t>
            </a:r>
          </a:p>
          <a:p>
            <a:pPr algn="l" rtl="0" fontAlgn="base"/>
            <a:r>
              <a:rPr lang="en-GB" b="0" i="0" dirty="0">
                <a:solidFill>
                  <a:srgbClr val="000000"/>
                </a:solidFill>
                <a:effectLst/>
              </a:rPr>
              <a:t>And boards regularly make financial decisions without needing to know the details of every account or invoice.  This principle extends to cyber security: the board should rely on its technical experts to provide the insight they need to then make informed decisions about managing cyber risk.   </a:t>
            </a:r>
          </a:p>
          <a:p>
            <a:pPr algn="l" rtl="0" fontAlgn="base"/>
            <a:r>
              <a:rPr lang="en-GB" b="0" i="0" dirty="0">
                <a:solidFill>
                  <a:srgbClr val="000000"/>
                </a:solidFill>
                <a:effectLst/>
              </a:rPr>
              <a:t> </a:t>
            </a:r>
          </a:p>
          <a:p>
            <a:pPr algn="l" rtl="0" fontAlgn="base"/>
            <a:r>
              <a:rPr lang="en-GB" b="1" i="0" dirty="0">
                <a:solidFill>
                  <a:srgbClr val="000000"/>
                </a:solidFill>
                <a:effectLst/>
              </a:rPr>
              <a:t>2. Cyber attacks are sophisticated:  there’s little anyone can do to stop them.</a:t>
            </a:r>
            <a:r>
              <a:rPr lang="en-GB" b="0" i="0" dirty="0">
                <a:solidFill>
                  <a:srgbClr val="000000"/>
                </a:solidFill>
                <a:effectLst/>
              </a:rPr>
              <a:t> </a:t>
            </a:r>
          </a:p>
          <a:p>
            <a:pPr algn="l" rtl="0" fontAlgn="base"/>
            <a:r>
              <a:rPr lang="en-GB" b="0" i="0" dirty="0">
                <a:solidFill>
                  <a:srgbClr val="000000"/>
                </a:solidFill>
                <a:effectLst/>
              </a:rPr>
              <a:t>In fact, the majority of attacks are still based upon well-known techniques such as phishing emails for example, many of which can be defended against, so taking a methodical approach to cyber security and enacting relatively small changes can greatly reduce an organisation’s risk.  </a:t>
            </a:r>
          </a:p>
          <a:p>
            <a:pPr algn="l" rtl="0" fontAlgn="base"/>
            <a:r>
              <a:rPr lang="en-GB" b="0" i="0" dirty="0">
                <a:solidFill>
                  <a:srgbClr val="000000"/>
                </a:solidFill>
                <a:effectLst/>
              </a:rPr>
              <a:t>That said, some threats </a:t>
            </a:r>
            <a:r>
              <a:rPr lang="en-GB" b="0" i="1" dirty="0">
                <a:solidFill>
                  <a:srgbClr val="000000"/>
                </a:solidFill>
                <a:effectLst/>
              </a:rPr>
              <a:t>can</a:t>
            </a:r>
            <a:r>
              <a:rPr lang="en-GB" b="0" i="0" dirty="0">
                <a:solidFill>
                  <a:srgbClr val="000000"/>
                </a:solidFill>
                <a:effectLst/>
              </a:rPr>
              <a:t> be very sophisticated, perhaps using advanced methods to break into extremely well defended networks, but we normally only see this level of expertise and tenacity in attacks by nation states. </a:t>
            </a:r>
          </a:p>
          <a:p>
            <a:pPr algn="l" rtl="0" fontAlgn="base"/>
            <a:r>
              <a:rPr lang="en-GB" b="0" i="0" dirty="0">
                <a:solidFill>
                  <a:srgbClr val="000000"/>
                </a:solidFill>
                <a:effectLst/>
              </a:rPr>
              <a:t> </a:t>
            </a:r>
          </a:p>
          <a:p>
            <a:pPr algn="l" rtl="0" fontAlgn="base"/>
            <a:r>
              <a:rPr lang="en-GB" b="1" i="0" dirty="0">
                <a:solidFill>
                  <a:srgbClr val="000000"/>
                </a:solidFill>
                <a:effectLst/>
              </a:rPr>
              <a:t>3. Cyber attacks are highly targeted and people assume that their organisation is unlikely to be of interest to attackers.</a:t>
            </a:r>
            <a:r>
              <a:rPr lang="en-GB" b="0" i="0" dirty="0">
                <a:solidFill>
                  <a:srgbClr val="000000"/>
                </a:solidFill>
                <a:effectLst/>
              </a:rPr>
              <a:t> </a:t>
            </a:r>
          </a:p>
          <a:p>
            <a:pPr algn="l" rtl="0" fontAlgn="base"/>
            <a:r>
              <a:rPr lang="en-GB" b="0" i="0" dirty="0">
                <a:solidFill>
                  <a:srgbClr val="000000"/>
                </a:solidFill>
                <a:effectLst/>
              </a:rPr>
              <a:t>Actually, the majority of cyber attacks are opportunistic and </a:t>
            </a:r>
            <a:r>
              <a:rPr lang="en-GB" b="0" i="1" dirty="0">
                <a:solidFill>
                  <a:srgbClr val="000000"/>
                </a:solidFill>
                <a:effectLst/>
              </a:rPr>
              <a:t>untargeted</a:t>
            </a:r>
            <a:r>
              <a:rPr lang="en-GB" b="0" i="0" dirty="0">
                <a:solidFill>
                  <a:srgbClr val="000000"/>
                </a:solidFill>
                <a:effectLst/>
              </a:rPr>
              <a:t>, with the perpetrator seeking to take advantage of a vulnerability in a system without being particularly interested in whose system it is.  </a:t>
            </a:r>
          </a:p>
          <a:p>
            <a:pPr algn="l" rtl="0" fontAlgn="base"/>
            <a:r>
              <a:rPr lang="en-GB" b="0" i="0" dirty="0">
                <a:solidFill>
                  <a:srgbClr val="000000"/>
                </a:solidFill>
                <a:effectLst/>
              </a:rPr>
              <a:t>The WannaCry ransomware attacks in May 2017 are a good example of this. They had a huge impact on organisations across the globe, including on parts of the NHS. The attack worked by exploiting a weakness in Microsoft operating systems that needed patching, but not all users had done so, some because they were using systems that were too old. </a:t>
            </a:r>
          </a:p>
          <a:p>
            <a:pPr algn="l" rtl="0" fontAlgn="base"/>
            <a:r>
              <a:rPr lang="en-GB" b="0" i="0" dirty="0">
                <a:solidFill>
                  <a:srgbClr val="000000"/>
                </a:solidFill>
                <a:effectLst/>
              </a:rPr>
              <a:t>This shows that </a:t>
            </a:r>
            <a:r>
              <a:rPr lang="en-GB" b="0" i="1" dirty="0">
                <a:solidFill>
                  <a:srgbClr val="000000"/>
                </a:solidFill>
                <a:effectLst/>
              </a:rPr>
              <a:t>untargeted</a:t>
            </a:r>
            <a:r>
              <a:rPr lang="en-GB" b="0" i="0" dirty="0">
                <a:solidFill>
                  <a:srgbClr val="000000"/>
                </a:solidFill>
                <a:effectLst/>
              </a:rPr>
              <a:t> attacks can be just as damaging as targeted ones. And it’s worth noting that untargeted attacks are unlikely to stop any time soon because every organisation has some value to an attacker even if that is simply the money it might pay if faced with a ransomware demand.  </a:t>
            </a:r>
          </a:p>
          <a:p>
            <a:pPr algn="l" rtl="0" fontAlgn="base"/>
            <a:endParaRPr lang="en-GB" dirty="0">
              <a:cs typeface="Calibri" panose="020F0502020204030204"/>
            </a:endParaRPr>
          </a:p>
          <a:p>
            <a:r>
              <a:rPr lang="en-GB" i="1" dirty="0">
                <a:cs typeface="Calibri" panose="020F0502020204030204"/>
              </a:rPr>
              <a:t>(Note: There is also this brief video on WannaCry that might help: </a:t>
            </a:r>
            <a:r>
              <a:rPr lang="en-GB" i="1" dirty="0"/>
              <a:t>https://youtu.be/uahiEldI7YA)</a:t>
            </a:r>
            <a:endParaRPr lang="en-GB" i="1" dirty="0">
              <a:cs typeface="Calibri" panose="020F0502020204030204"/>
            </a:endParaRPr>
          </a:p>
        </p:txBody>
      </p:sp>
      <p:sp>
        <p:nvSpPr>
          <p:cNvPr id="4" name="Slide Number Placeholder 3"/>
          <p:cNvSpPr>
            <a:spLocks noGrp="1"/>
          </p:cNvSpPr>
          <p:nvPr>
            <p:ph type="sldNum" sz="quarter" idx="5"/>
          </p:nvPr>
        </p:nvSpPr>
        <p:spPr/>
        <p:txBody>
          <a:bodyPr/>
          <a:lstStyle/>
          <a:p>
            <a:fld id="{F1B2E62C-A7F3-4060-9555-0E1F16BA06F1}" type="slidenum">
              <a:rPr lang="en-GB" smtClean="0"/>
              <a:t>5</a:t>
            </a:fld>
            <a:endParaRPr lang="en-GB"/>
          </a:p>
        </p:txBody>
      </p:sp>
    </p:spTree>
    <p:extLst>
      <p:ext uri="{BB962C8B-B14F-4D97-AF65-F5344CB8AC3E}">
        <p14:creationId xmlns:p14="http://schemas.microsoft.com/office/powerpoint/2010/main" val="2740119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7475"/>
            <a:ext cx="5486400" cy="3086100"/>
          </a:xfrm>
        </p:spPr>
      </p:sp>
      <p:sp>
        <p:nvSpPr>
          <p:cNvPr id="3" name="Notes Placeholder 2"/>
          <p:cNvSpPr>
            <a:spLocks noGrp="1"/>
          </p:cNvSpPr>
          <p:nvPr>
            <p:ph type="body" idx="1"/>
          </p:nvPr>
        </p:nvSpPr>
        <p:spPr>
          <a:xfrm>
            <a:off x="685800" y="3303917"/>
            <a:ext cx="5486400" cy="5381295"/>
          </a:xfrm>
        </p:spPr>
        <p:txBody>
          <a:bodyPr/>
          <a:lstStyle/>
          <a:p>
            <a:r>
              <a:rPr lang="en-GB" dirty="0"/>
              <a:t>That’s some of the background to cyber security. Let’s now look at an example of a real cyber incident and its impact. </a:t>
            </a:r>
            <a:endParaRPr lang="en-US" dirty="0"/>
          </a:p>
          <a:p>
            <a:endParaRPr lang="en-GB" dirty="0">
              <a:ea typeface="Calibri"/>
              <a:cs typeface="Calibri"/>
            </a:endParaRPr>
          </a:p>
          <a:p>
            <a:r>
              <a:rPr lang="en-GB" dirty="0"/>
              <a:t>On October 28, 2023, the British Library was hit by a significant ransomware attack. The </a:t>
            </a:r>
            <a:r>
              <a:rPr lang="en-GB" dirty="0" err="1"/>
              <a:t>Rhysida</a:t>
            </a:r>
            <a:r>
              <a:rPr lang="en-GB" dirty="0"/>
              <a:t> ransomware gang claimed responsibility for the attack, which compromised the majority of the Library's online systems. Data was stolen, servers were encrypted or destroyed, and all users were locked out of the network. </a:t>
            </a:r>
            <a:r>
              <a:rPr lang="en-GB" b="0" dirty="0"/>
              <a:t>Th</a:t>
            </a:r>
            <a:r>
              <a:rPr lang="en-GB" dirty="0"/>
              <a:t>e outage affected their website, online systems and services, as well as some onsite services.</a:t>
            </a:r>
          </a:p>
          <a:p>
            <a:endParaRPr lang="en-GB" dirty="0">
              <a:ea typeface="Calibri"/>
              <a:cs typeface="Calibri"/>
            </a:endParaRPr>
          </a:p>
          <a:p>
            <a:r>
              <a:rPr lang="en-GB" dirty="0"/>
              <a:t>The ICO and other relevant regulatory and law enforcement bodies were notified and the British Library communicated with users and staff about the disclosure of their personal data. NCSC provided advice on protecting affected individuals' data.</a:t>
            </a:r>
            <a:endParaRPr lang="en-GB" dirty="0">
              <a:cs typeface="Calibri"/>
            </a:endParaRPr>
          </a:p>
          <a:p>
            <a:endParaRPr lang="en-GB" dirty="0">
              <a:ea typeface="Calibri"/>
              <a:cs typeface="Calibri"/>
            </a:endParaRPr>
          </a:p>
          <a:p>
            <a:r>
              <a:rPr lang="en-GB" dirty="0">
                <a:ea typeface="Calibri"/>
                <a:cs typeface="Calibri"/>
              </a:rPr>
              <a:t>What was the impact on the British Library?</a:t>
            </a:r>
          </a:p>
          <a:p>
            <a:endParaRPr lang="en-GB" dirty="0">
              <a:ea typeface="Calibri"/>
              <a:cs typeface="Calibri"/>
            </a:endParaRPr>
          </a:p>
          <a:p>
            <a:pPr marL="171450" indent="-171450">
              <a:buFont typeface="Arial"/>
              <a:buChar char="•"/>
            </a:pPr>
            <a:r>
              <a:rPr lang="en-GB" dirty="0">
                <a:ea typeface="Calibri"/>
                <a:cs typeface="Calibri"/>
              </a:rPr>
              <a:t>The costs are unconfirmed but expected to fall well into seven figures</a:t>
            </a:r>
            <a:endParaRPr lang="en-GB" dirty="0"/>
          </a:p>
          <a:p>
            <a:pPr marL="171450" indent="-171450">
              <a:buFont typeface="Arial"/>
              <a:buChar char="•"/>
            </a:pPr>
            <a:r>
              <a:rPr lang="en-GB" dirty="0">
                <a:ea typeface="Calibri"/>
                <a:cs typeface="Calibri"/>
              </a:rPr>
              <a:t>The computerised catalogue was offline for more than 2 months</a:t>
            </a:r>
            <a:endParaRPr lang="en-GB" dirty="0"/>
          </a:p>
          <a:p>
            <a:pPr marL="171450" indent="-171450">
              <a:buFont typeface="Arial"/>
              <a:buChar char="•"/>
            </a:pPr>
            <a:r>
              <a:rPr lang="en-GB" dirty="0"/>
              <a:t>Approximately 50% of the total physical collection was inaccessible months later.</a:t>
            </a:r>
            <a:endParaRPr lang="en-GB" dirty="0">
              <a:ea typeface="Calibri"/>
              <a:cs typeface="Calibri"/>
            </a:endParaRPr>
          </a:p>
          <a:p>
            <a:pPr marL="171450" indent="-171450">
              <a:buFont typeface="Arial"/>
              <a:buChar char="•"/>
            </a:pPr>
            <a:r>
              <a:rPr lang="en-GB" dirty="0"/>
              <a:t>The enquiries system and chat services were severely disrupted.</a:t>
            </a:r>
            <a:endParaRPr lang="en-GB" dirty="0">
              <a:cs typeface="Calibri"/>
            </a:endParaRPr>
          </a:p>
          <a:p>
            <a:pPr marL="171450" indent="-171450">
              <a:buFont typeface="Arial"/>
              <a:buChar char="•"/>
            </a:pPr>
            <a:r>
              <a:rPr lang="en-GB" dirty="0"/>
              <a:t>Digitisation activities were put on hold, impacting partnership projects and commercial income.</a:t>
            </a:r>
          </a:p>
          <a:p>
            <a:pPr marL="171450" indent="-171450">
              <a:buFont typeface="Arial"/>
              <a:buChar char="•"/>
            </a:pPr>
            <a:r>
              <a:rPr lang="en-GB" dirty="0"/>
              <a:t>Staff members access to the collections was severely limited.</a:t>
            </a:r>
            <a:endParaRPr lang="en-GB" dirty="0">
              <a:ea typeface="Calibri"/>
              <a:cs typeface="Calibri"/>
            </a:endParaRPr>
          </a:p>
          <a:p>
            <a:pPr marL="171450" indent="-171450">
              <a:buFont typeface="Arial"/>
              <a:buChar char="•"/>
            </a:pPr>
            <a:endParaRPr lang="en-GB" dirty="0">
              <a:ea typeface="Calibri"/>
              <a:cs typeface="Calibri"/>
            </a:endParaRPr>
          </a:p>
          <a:p>
            <a:r>
              <a:rPr lang="en-GB" dirty="0"/>
              <a:t>The British Library have kindly published a paper detailing the cyber-attack to aid other organisations in their preparation and protection against such attacks. You can download here: </a:t>
            </a:r>
            <a:r>
              <a:rPr lang="en-GB" dirty="0">
                <a:hlinkClick r:id="rId3"/>
              </a:rPr>
              <a:t>british-library-cyber-incident-review-8-march-2024.pdf (bl.uk)</a:t>
            </a:r>
          </a:p>
          <a:p>
            <a:endParaRPr lang="en-GB" dirty="0">
              <a:ea typeface="Calibri"/>
              <a:cs typeface="Calibri"/>
            </a:endParaRPr>
          </a:p>
          <a:p>
            <a:endParaRPr lang="en-GB" dirty="0">
              <a:ea typeface="Calibri"/>
              <a:cs typeface="Calibri"/>
            </a:endParaRPr>
          </a:p>
          <a:p>
            <a:endParaRPr lang="en-GB"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F1B2E62C-A7F3-4060-9555-0E1F16BA06F1}" type="slidenum">
              <a:rPr lang="en-GB" smtClean="0"/>
              <a:t>6</a:t>
            </a:fld>
            <a:endParaRPr lang="en-GB"/>
          </a:p>
        </p:txBody>
      </p:sp>
    </p:spTree>
    <p:extLst>
      <p:ext uri="{BB962C8B-B14F-4D97-AF65-F5344CB8AC3E}">
        <p14:creationId xmlns:p14="http://schemas.microsoft.com/office/powerpoint/2010/main" val="559080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361317" cy="4284664"/>
          </a:xfrm>
        </p:spPr>
        <p:txBody>
          <a:bodyPr/>
          <a:lstStyle/>
          <a:p>
            <a:pPr fontAlgn="base"/>
            <a:r>
              <a:rPr lang="en-GB" dirty="0">
                <a:solidFill>
                  <a:srgbClr val="000000"/>
                </a:solidFill>
                <a:cs typeface="Calibri"/>
              </a:rPr>
              <a:t>Sir Roy Keating the Chief Executive of the British Library said:</a:t>
            </a:r>
          </a:p>
          <a:p>
            <a:endParaRPr lang="en-GB" dirty="0"/>
          </a:p>
          <a:p>
            <a:r>
              <a:rPr lang="en-GB" dirty="0"/>
              <a:t>'It felt like it was an act of vandalism as well as theft.</a:t>
            </a:r>
          </a:p>
          <a:p>
            <a:r>
              <a:rPr lang="en-GB" dirty="0"/>
              <a:t>We have significant lessons to learn about matters such as our historic reliance on a complex legacy infrastructure, which affected our ability to restore services as quickly as we would have wished, and the varying effectiveness of different security measures across our digital estate."</a:t>
            </a:r>
            <a:endParaRPr lang="en-GB" dirty="0">
              <a:cs typeface="Calibri" panose="020F0502020204030204"/>
            </a:endParaRPr>
          </a:p>
          <a:p>
            <a:endParaRPr lang="en-GB" dirty="0">
              <a:cs typeface="Calibri" panose="020F0502020204030204"/>
            </a:endParaRPr>
          </a:p>
          <a:p>
            <a:r>
              <a:rPr lang="en-GB" dirty="0">
                <a:cs typeface="Calibri" panose="020F0502020204030204"/>
              </a:rPr>
              <a:t>All boards, can learn from this and should take away the following:</a:t>
            </a:r>
          </a:p>
          <a:p>
            <a:endParaRPr lang="en-GB" dirty="0">
              <a:cs typeface="Calibri" panose="020F0502020204030204"/>
            </a:endParaRPr>
          </a:p>
          <a:p>
            <a:pPr marL="285750" indent="-285750">
              <a:buFont typeface="Arial"/>
              <a:buChar char="•"/>
            </a:pPr>
            <a:r>
              <a:rPr lang="en-GB" dirty="0"/>
              <a:t>Develop a heightened awareness of the evolving cybersecurity landscape and the potential risks faced by the organisation</a:t>
            </a:r>
            <a:endParaRPr lang="en-GB" dirty="0">
              <a:cs typeface="Calibri"/>
            </a:endParaRPr>
          </a:p>
          <a:p>
            <a:pPr marL="285750" indent="-285750">
              <a:buFont typeface="Arial"/>
              <a:buChar char="•"/>
            </a:pPr>
            <a:r>
              <a:rPr lang="en-GB" dirty="0"/>
              <a:t>Adopt effective risk management strategies and board oversight to ensure the organisation's cybersecurity resilience.</a:t>
            </a:r>
            <a:endParaRPr lang="en-GB" dirty="0">
              <a:cs typeface="Calibri"/>
            </a:endParaRPr>
          </a:p>
          <a:p>
            <a:pPr marL="285750" indent="-285750">
              <a:buFont typeface="Arial"/>
              <a:buChar char="•"/>
            </a:pPr>
            <a:r>
              <a:rPr lang="en-GB" dirty="0"/>
              <a:t>Boards should make it a priority to have a regularly tested incident management plan in place, involving relevant internal and external stakeholders, including board members, to effectively handle cybersecurity incidents. </a:t>
            </a:r>
          </a:p>
          <a:p>
            <a:pPr marL="285750" indent="-285750">
              <a:buFont typeface="Arial"/>
              <a:buChar char="•"/>
            </a:pPr>
            <a:r>
              <a:rPr lang="en-GB" dirty="0">
                <a:cs typeface="Calibri"/>
              </a:rPr>
              <a:t>It is essential to take into account not only the individual risks but also the cumulative risks that may arise from a cyber-attack. This comprehensive assessment will enable a better understanding of the potential impacts and help in devising effective strategies to mitigate and manage the overall risks associated with </a:t>
            </a:r>
            <a:r>
              <a:rPr lang="en-GB">
                <a:cs typeface="Calibri"/>
              </a:rPr>
              <a:t>the cyber-attack</a:t>
            </a:r>
            <a:r>
              <a:rPr lang="en-GB" dirty="0">
                <a:cs typeface="Calibri"/>
              </a:rPr>
              <a:t>.</a:t>
            </a:r>
          </a:p>
          <a:p>
            <a:endParaRPr lang="en-GB" dirty="0">
              <a:cs typeface="Calibri"/>
            </a:endParaRPr>
          </a:p>
        </p:txBody>
      </p:sp>
      <p:sp>
        <p:nvSpPr>
          <p:cNvPr id="4" name="Slide Number Placeholder 3"/>
          <p:cNvSpPr>
            <a:spLocks noGrp="1"/>
          </p:cNvSpPr>
          <p:nvPr>
            <p:ph type="sldNum" sz="quarter" idx="5"/>
          </p:nvPr>
        </p:nvSpPr>
        <p:spPr/>
        <p:txBody>
          <a:bodyPr/>
          <a:lstStyle/>
          <a:p>
            <a:fld id="{F1B2E62C-A7F3-4060-9555-0E1F16BA06F1}" type="slidenum">
              <a:rPr lang="en-GB" smtClean="0"/>
              <a:t>7</a:t>
            </a:fld>
            <a:endParaRPr lang="en-GB"/>
          </a:p>
        </p:txBody>
      </p:sp>
    </p:spTree>
    <p:extLst>
      <p:ext uri="{BB962C8B-B14F-4D97-AF65-F5344CB8AC3E}">
        <p14:creationId xmlns:p14="http://schemas.microsoft.com/office/powerpoint/2010/main" val="220880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06450" y="228600"/>
            <a:ext cx="5486400" cy="3086100"/>
          </a:xfrm>
        </p:spPr>
      </p:sp>
      <p:sp>
        <p:nvSpPr>
          <p:cNvPr id="3" name="Notes Placeholder 2"/>
          <p:cNvSpPr>
            <a:spLocks noGrp="1"/>
          </p:cNvSpPr>
          <p:nvPr>
            <p:ph type="body" idx="1"/>
          </p:nvPr>
        </p:nvSpPr>
        <p:spPr>
          <a:xfrm>
            <a:off x="504525" y="3107667"/>
            <a:ext cx="6090249" cy="5443268"/>
          </a:xfrm>
        </p:spPr>
        <p:txBody>
          <a:bodyPr/>
          <a:lstStyle/>
          <a:p>
            <a:pPr algn="l" rtl="0" fontAlgn="base"/>
            <a:endParaRPr lang="en-GB" sz="1800" b="0" i="0" dirty="0">
              <a:solidFill>
                <a:srgbClr val="000000"/>
              </a:solidFill>
              <a:effectLst/>
              <a:latin typeface="Calibri" panose="020F0502020204030204" pitchFamily="34" charset="0"/>
            </a:endParaRPr>
          </a:p>
          <a:p>
            <a:pPr algn="l" rtl="0" fontAlgn="base"/>
            <a:r>
              <a:rPr lang="en-GB" b="0" i="0" dirty="0">
                <a:solidFill>
                  <a:srgbClr val="000000"/>
                </a:solidFill>
                <a:effectLst/>
                <a:latin typeface="Calibri" panose="020F0502020204030204" pitchFamily="34" charset="0"/>
              </a:rPr>
              <a:t>To put it plainly, if your organisation is connected to the internet then it is exposed to cyber risk. And</a:t>
            </a:r>
            <a:r>
              <a:rPr lang="en-GB" b="1" i="0" dirty="0">
                <a:solidFill>
                  <a:srgbClr val="000000"/>
                </a:solidFill>
                <a:effectLst/>
                <a:latin typeface="Calibri" panose="020F0502020204030204" pitchFamily="34" charset="0"/>
              </a:rPr>
              <a:t> </a:t>
            </a:r>
            <a:r>
              <a:rPr lang="en-GB" b="0" i="0" dirty="0">
                <a:solidFill>
                  <a:srgbClr val="000000"/>
                </a:solidFill>
                <a:effectLst/>
                <a:latin typeface="Calibri" panose="020F0502020204030204" pitchFamily="34" charset="0"/>
              </a:rPr>
              <a:t>regulations such as GDPR make it clear that cyber security is not the responsibility of an </a:t>
            </a:r>
            <a:r>
              <a:rPr lang="en-GB" b="0" i="1" dirty="0">
                <a:solidFill>
                  <a:srgbClr val="000000"/>
                </a:solidFill>
                <a:effectLst/>
                <a:latin typeface="Calibri" panose="020F0502020204030204" pitchFamily="34" charset="0"/>
              </a:rPr>
              <a:t>individual</a:t>
            </a:r>
            <a:r>
              <a:rPr lang="en-GB" b="0" i="0" dirty="0">
                <a:solidFill>
                  <a:srgbClr val="000000"/>
                </a:solidFill>
                <a:effectLst/>
                <a:latin typeface="Calibri" panose="020F0502020204030204" pitchFamily="34" charset="0"/>
              </a:rPr>
              <a:t> but of the whole organisation.  </a:t>
            </a:r>
          </a:p>
          <a:p>
            <a:pPr algn="l" rtl="0" fontAlgn="base"/>
            <a:r>
              <a:rPr lang="en-GB" b="0" i="0" dirty="0">
                <a:solidFill>
                  <a:srgbClr val="000000"/>
                </a:solidFill>
                <a:effectLst/>
                <a:latin typeface="Calibri" panose="020F0502020204030204" pitchFamily="34" charset="0"/>
              </a:rPr>
              <a:t>This means that the board of directors, as the effective governing body of a company, has </a:t>
            </a:r>
            <a:r>
              <a:rPr lang="en-GB" b="0" i="1" dirty="0">
                <a:solidFill>
                  <a:srgbClr val="000000"/>
                </a:solidFill>
                <a:effectLst/>
                <a:latin typeface="Calibri" panose="020F0502020204030204" pitchFamily="34" charset="0"/>
              </a:rPr>
              <a:t>collective</a:t>
            </a:r>
            <a:r>
              <a:rPr lang="en-GB" b="0" i="0" dirty="0">
                <a:solidFill>
                  <a:srgbClr val="000000"/>
                </a:solidFill>
                <a:effectLst/>
                <a:latin typeface="Calibri" panose="020F0502020204030204" pitchFamily="34" charset="0"/>
              </a:rPr>
              <a:t> </a:t>
            </a:r>
            <a:r>
              <a:rPr lang="en-GB" b="0" i="0" dirty="0" err="1">
                <a:solidFill>
                  <a:srgbClr val="000000"/>
                </a:solidFill>
                <a:effectLst/>
                <a:latin typeface="Calibri" panose="020F0502020204030204" pitchFamily="34" charset="0"/>
              </a:rPr>
              <a:t>accountabilty</a:t>
            </a:r>
            <a:r>
              <a:rPr lang="en-GB" b="0" i="0" dirty="0">
                <a:solidFill>
                  <a:srgbClr val="000000"/>
                </a:solidFill>
                <a:effectLst/>
                <a:latin typeface="Calibri" panose="020F0502020204030204" pitchFamily="34" charset="0"/>
              </a:rPr>
              <a:t> for cyber security. </a:t>
            </a:r>
          </a:p>
          <a:p>
            <a:pPr algn="l" rtl="0" fontAlgn="base"/>
            <a:endParaRPr lang="en-GB" b="0" i="0" dirty="0">
              <a:solidFill>
                <a:srgbClr val="000000"/>
              </a:solidFill>
              <a:effectLst/>
              <a:latin typeface="Calibri" panose="020F0502020204030204" pitchFamily="34" charset="0"/>
            </a:endParaRPr>
          </a:p>
          <a:p>
            <a:pPr algn="l" rtl="0" fontAlgn="base"/>
            <a:r>
              <a:rPr lang="en-GB" b="0" i="0" dirty="0">
                <a:solidFill>
                  <a:srgbClr val="000000"/>
                </a:solidFill>
                <a:effectLst/>
                <a:latin typeface="Calibri" panose="020F0502020204030204" pitchFamily="34" charset="0"/>
              </a:rPr>
              <a:t> Beyond that, there are three inter-related reasons that board members need to take cyber security seriously.  </a:t>
            </a:r>
          </a:p>
          <a:p>
            <a:pPr algn="l" rtl="0" fontAlgn="base"/>
            <a:r>
              <a:rPr lang="en-GB" b="0" i="0" dirty="0">
                <a:solidFill>
                  <a:srgbClr val="000000"/>
                </a:solidFill>
                <a:effectLst/>
                <a:latin typeface="Calibri" panose="020F0502020204030204" pitchFamily="34" charset="0"/>
              </a:rPr>
              <a:t> </a:t>
            </a:r>
          </a:p>
          <a:p>
            <a:pPr algn="l" rtl="0" fontAlgn="base"/>
            <a:r>
              <a:rPr lang="en-GB" b="1" i="0" dirty="0">
                <a:solidFill>
                  <a:srgbClr val="000000"/>
                </a:solidFill>
                <a:effectLst/>
                <a:latin typeface="Calibri" panose="020F0502020204030204" pitchFamily="34" charset="0"/>
              </a:rPr>
              <a:t>1. Nearly all organisations depend on digital technology to function.</a:t>
            </a:r>
            <a:r>
              <a:rPr lang="en-GB" b="0" i="0" dirty="0">
                <a:solidFill>
                  <a:srgbClr val="000000"/>
                </a:solidFill>
                <a:effectLst/>
                <a:latin typeface="Calibri" panose="020F0502020204030204" pitchFamily="34" charset="0"/>
              </a:rPr>
              <a:t> </a:t>
            </a:r>
          </a:p>
          <a:p>
            <a:pPr algn="l" rtl="0" fontAlgn="base"/>
            <a:r>
              <a:rPr lang="en-GB" b="0" i="0" dirty="0">
                <a:solidFill>
                  <a:srgbClr val="000000"/>
                </a:solidFill>
                <a:effectLst/>
                <a:latin typeface="Calibri" panose="020F0502020204030204" pitchFamily="34" charset="0"/>
              </a:rPr>
              <a:t>It’s worth considering how well your organisation could operate if, for example, it lost access to all the data that's held electronically, or if computers and other networked devices simply couldn't connect to the internet.   </a:t>
            </a:r>
          </a:p>
          <a:p>
            <a:pPr algn="l" rtl="0" fontAlgn="base"/>
            <a:r>
              <a:rPr lang="en-GB" b="0" i="0" dirty="0">
                <a:solidFill>
                  <a:srgbClr val="000000"/>
                </a:solidFill>
                <a:effectLst/>
                <a:latin typeface="Calibri" panose="020F0502020204030204" pitchFamily="34" charset="0"/>
              </a:rPr>
              <a:t> </a:t>
            </a:r>
          </a:p>
          <a:p>
            <a:pPr algn="l" rtl="0" fontAlgn="base"/>
            <a:r>
              <a:rPr lang="en-GB" b="1" i="0" dirty="0">
                <a:solidFill>
                  <a:srgbClr val="000000"/>
                </a:solidFill>
                <a:effectLst/>
                <a:latin typeface="Calibri" panose="020F0502020204030204" pitchFamily="34" charset="0"/>
              </a:rPr>
              <a:t>2. The potential cost of remedying a cyber incident </a:t>
            </a:r>
            <a:r>
              <a:rPr lang="en-GB" b="0" i="0" dirty="0">
                <a:solidFill>
                  <a:srgbClr val="000000"/>
                </a:solidFill>
                <a:effectLst/>
                <a:latin typeface="Calibri" panose="020F0502020204030204" pitchFamily="34" charset="0"/>
              </a:rPr>
              <a:t> </a:t>
            </a:r>
          </a:p>
          <a:p>
            <a:pPr algn="l" rtl="0" fontAlgn="base"/>
            <a:r>
              <a:rPr lang="en-GB" b="0" i="0" dirty="0">
                <a:solidFill>
                  <a:srgbClr val="000000"/>
                </a:solidFill>
                <a:effectLst/>
                <a:latin typeface="Calibri"/>
                <a:cs typeface="Calibri"/>
              </a:rPr>
              <a:t>There are different facets to this. There is often a cost in terms of </a:t>
            </a:r>
            <a:r>
              <a:rPr lang="en-GB" b="0" i="1" dirty="0">
                <a:solidFill>
                  <a:srgbClr val="000000"/>
                </a:solidFill>
                <a:effectLst/>
                <a:latin typeface="Calibri"/>
                <a:cs typeface="Calibri"/>
              </a:rPr>
              <a:t>lost business </a:t>
            </a:r>
            <a:r>
              <a:rPr lang="en-GB" b="0" i="0" dirty="0">
                <a:solidFill>
                  <a:srgbClr val="000000"/>
                </a:solidFill>
                <a:effectLst/>
                <a:latin typeface="Calibri"/>
                <a:cs typeface="Calibri"/>
              </a:rPr>
              <a:t>but there’s also the financial impact of having to </a:t>
            </a:r>
            <a:r>
              <a:rPr lang="en-GB" b="0" i="1" dirty="0">
                <a:solidFill>
                  <a:srgbClr val="000000"/>
                </a:solidFill>
                <a:effectLst/>
                <a:latin typeface="Calibri"/>
                <a:cs typeface="Calibri"/>
              </a:rPr>
              <a:t>repair and clean up </a:t>
            </a:r>
            <a:r>
              <a:rPr lang="en-GB" b="0" i="0" dirty="0">
                <a:solidFill>
                  <a:srgbClr val="000000"/>
                </a:solidFill>
                <a:effectLst/>
                <a:latin typeface="Calibri"/>
                <a:cs typeface="Calibri"/>
              </a:rPr>
              <a:t>after a cyber incident. This cost varies significantly but in general, the larger the organisation, the larger the bill.  If there has been a data breach, then there’s also the risk of a significant fine from the ICO. </a:t>
            </a:r>
            <a:r>
              <a:rPr lang="en-GB" b="0" i="0" dirty="0">
                <a:solidFill>
                  <a:srgbClr val="000000"/>
                </a:solidFill>
                <a:effectLst/>
                <a:latin typeface="Calibri" panose="020F0502020204030204" pitchFamily="34" charset="0"/>
              </a:rPr>
              <a:t> </a:t>
            </a:r>
          </a:p>
          <a:p>
            <a:pPr algn="l" rtl="0" fontAlgn="base"/>
            <a:r>
              <a:rPr lang="en-GB" b="0" i="0" dirty="0">
                <a:solidFill>
                  <a:srgbClr val="000000"/>
                </a:solidFill>
                <a:effectLst/>
                <a:latin typeface="Calibri" panose="020F0502020204030204" pitchFamily="34" charset="0"/>
              </a:rPr>
              <a:t> </a:t>
            </a:r>
          </a:p>
          <a:p>
            <a:pPr algn="l" rtl="0" fontAlgn="base"/>
            <a:r>
              <a:rPr lang="en-GB" b="1" i="0" dirty="0">
                <a:solidFill>
                  <a:srgbClr val="000000"/>
                </a:solidFill>
                <a:effectLst/>
                <a:latin typeface="Calibri" panose="020F0502020204030204" pitchFamily="34" charset="0"/>
              </a:rPr>
              <a:t>3. The risk of reputational damage</a:t>
            </a:r>
            <a:r>
              <a:rPr lang="en-GB" b="0" i="0" dirty="0">
                <a:solidFill>
                  <a:srgbClr val="000000"/>
                </a:solidFill>
                <a:effectLst/>
                <a:latin typeface="Calibri" panose="020F0502020204030204" pitchFamily="34" charset="0"/>
              </a:rPr>
              <a:t> </a:t>
            </a:r>
          </a:p>
          <a:p>
            <a:pPr algn="l" rtl="0" fontAlgn="base"/>
            <a:r>
              <a:rPr lang="en-GB" b="0" i="0" dirty="0">
                <a:solidFill>
                  <a:srgbClr val="000000"/>
                </a:solidFill>
                <a:effectLst/>
                <a:latin typeface="Calibri" panose="020F0502020204030204" pitchFamily="34" charset="0"/>
              </a:rPr>
              <a:t>It’s worth asking a few questions here such as:  </a:t>
            </a:r>
          </a:p>
          <a:p>
            <a:pPr marL="285750" indent="-285750" algn="l" rtl="0" fontAlgn="base">
              <a:buFont typeface="Arial" panose="020B0604020202020204" pitchFamily="34" charset="0"/>
              <a:buChar char="•"/>
            </a:pPr>
            <a:r>
              <a:rPr lang="en-GB" b="0" i="0" dirty="0">
                <a:solidFill>
                  <a:srgbClr val="000000"/>
                </a:solidFill>
                <a:effectLst/>
                <a:latin typeface="Calibri" panose="020F0502020204030204" pitchFamily="34" charset="0"/>
              </a:rPr>
              <a:t>Would customers  still use you if your services had been offline for a significant period of time?</a:t>
            </a:r>
          </a:p>
          <a:p>
            <a:pPr marL="171450" indent="-171450" algn="l" rtl="0" fontAlgn="base">
              <a:buFont typeface="Arial" panose="020B0604020202020204" pitchFamily="34" charset="0"/>
              <a:buChar char="•"/>
            </a:pPr>
            <a:r>
              <a:rPr lang="en-GB" b="0" i="0" dirty="0">
                <a:solidFill>
                  <a:srgbClr val="000000"/>
                </a:solidFill>
                <a:effectLst/>
                <a:latin typeface="Calibri" panose="020F0502020204030204" pitchFamily="34" charset="0"/>
              </a:rPr>
              <a:t>   Would they continue to choose you over your competitors if you had had a well-publicised data breach?  </a:t>
            </a:r>
          </a:p>
          <a:p>
            <a:pPr marL="285750" indent="-285750" algn="l" rtl="0" fontAlgn="base">
              <a:buFont typeface="Arial" panose="020B0604020202020204" pitchFamily="34" charset="0"/>
              <a:buChar char="•"/>
            </a:pPr>
            <a:r>
              <a:rPr lang="en-GB" b="0" i="0" dirty="0">
                <a:solidFill>
                  <a:srgbClr val="000000"/>
                </a:solidFill>
                <a:effectLst/>
                <a:latin typeface="Calibri" panose="020F0502020204030204" pitchFamily="34" charset="0"/>
              </a:rPr>
              <a:t>Would a major incident affect relationships with those in your supply chain?</a:t>
            </a:r>
          </a:p>
          <a:p>
            <a:pPr algn="l" rtl="0" fontAlgn="base"/>
            <a:endParaRPr lang="en-GB" b="0" i="0" dirty="0">
              <a:solidFill>
                <a:srgbClr val="000000"/>
              </a:solidFill>
              <a:effectLst/>
              <a:latin typeface="Calibri" panose="020F0502020204030204" pitchFamily="34" charset="0"/>
            </a:endParaRPr>
          </a:p>
          <a:p>
            <a:pPr algn="l" rtl="0" fontAlgn="base"/>
            <a:r>
              <a:rPr lang="en-GB" b="0" i="0" dirty="0">
                <a:solidFill>
                  <a:srgbClr val="000000"/>
                </a:solidFill>
                <a:effectLst/>
                <a:latin typeface="Calibri" panose="020F0502020204030204" pitchFamily="34" charset="0"/>
              </a:rPr>
              <a:t>Taken together it’s clear that </a:t>
            </a:r>
            <a:r>
              <a:rPr lang="en-GB" b="1" i="0" dirty="0">
                <a:solidFill>
                  <a:srgbClr val="000000"/>
                </a:solidFill>
                <a:effectLst/>
                <a:latin typeface="Calibri" panose="020F0502020204030204" pitchFamily="34" charset="0"/>
              </a:rPr>
              <a:t>cyber security is </a:t>
            </a:r>
            <a:r>
              <a:rPr lang="en-GB" b="1" i="1" dirty="0">
                <a:solidFill>
                  <a:srgbClr val="000000"/>
                </a:solidFill>
                <a:effectLst/>
                <a:latin typeface="Calibri" panose="020F0502020204030204" pitchFamily="34" charset="0"/>
              </a:rPr>
              <a:t>essential </a:t>
            </a:r>
            <a:r>
              <a:rPr lang="en-GB" b="1" i="0" dirty="0">
                <a:solidFill>
                  <a:srgbClr val="000000"/>
                </a:solidFill>
                <a:effectLst/>
                <a:latin typeface="Calibri" panose="020F0502020204030204" pitchFamily="34" charset="0"/>
              </a:rPr>
              <a:t>and needs to be understood as an </a:t>
            </a:r>
            <a:r>
              <a:rPr lang="en-GB" b="1" i="1" dirty="0">
                <a:solidFill>
                  <a:srgbClr val="000000"/>
                </a:solidFill>
                <a:effectLst/>
                <a:latin typeface="Calibri" panose="020F0502020204030204" pitchFamily="34" charset="0"/>
              </a:rPr>
              <a:t>enabler </a:t>
            </a:r>
            <a:r>
              <a:rPr lang="en-GB" b="0" i="0" dirty="0">
                <a:solidFill>
                  <a:srgbClr val="000000"/>
                </a:solidFill>
                <a:effectLst/>
                <a:latin typeface="Calibri" panose="020F0502020204030204" pitchFamily="34" charset="0"/>
              </a:rPr>
              <a:t>as it enables</a:t>
            </a:r>
            <a:r>
              <a:rPr lang="en-GB" b="0" i="1" dirty="0">
                <a:solidFill>
                  <a:srgbClr val="000000"/>
                </a:solidFill>
                <a:effectLst/>
                <a:latin typeface="Calibri" panose="020F0502020204030204" pitchFamily="34" charset="0"/>
              </a:rPr>
              <a:t> </a:t>
            </a:r>
            <a:r>
              <a:rPr lang="en-GB" b="0" i="0" dirty="0">
                <a:solidFill>
                  <a:srgbClr val="000000"/>
                </a:solidFill>
                <a:effectLst/>
                <a:latin typeface="Calibri" panose="020F0502020204030204" pitchFamily="34" charset="0"/>
              </a:rPr>
              <a:t>organisations to function. </a:t>
            </a:r>
          </a:p>
          <a:p>
            <a:pPr algn="l" rtl="0" fontAlgn="base"/>
            <a:r>
              <a:rPr lang="en-GB" b="0" i="0" dirty="0">
                <a:solidFill>
                  <a:srgbClr val="000000"/>
                </a:solidFill>
                <a:effectLst/>
                <a:latin typeface="Calibri" panose="020F0502020204030204" pitchFamily="34" charset="0"/>
              </a:rPr>
              <a:t> </a:t>
            </a:r>
          </a:p>
          <a:p>
            <a:pPr algn="l" rtl="0" fontAlgn="base"/>
            <a:r>
              <a:rPr lang="en-GB" b="0" i="0" dirty="0">
                <a:solidFill>
                  <a:srgbClr val="000000"/>
                </a:solidFill>
                <a:effectLst/>
                <a:latin typeface="Calibri" panose="020F0502020204030204" pitchFamily="34" charset="0"/>
              </a:rPr>
              <a:t>In other words, cyber security: </a:t>
            </a:r>
          </a:p>
          <a:p>
            <a:pPr marL="285750" indent="-285750" algn="l" rtl="0" fontAlgn="base">
              <a:buFont typeface="Arial" panose="020B0604020202020204" pitchFamily="34" charset="0"/>
              <a:buChar char="•"/>
            </a:pPr>
            <a:r>
              <a:rPr lang="en-GB" b="0" i="0" dirty="0">
                <a:solidFill>
                  <a:srgbClr val="000000"/>
                </a:solidFill>
                <a:effectLst/>
                <a:latin typeface="Calibri" panose="020F0502020204030204" pitchFamily="34" charset="0"/>
              </a:rPr>
              <a:t>isn’t something that can be considered ‘just an IT issue’ </a:t>
            </a:r>
          </a:p>
          <a:p>
            <a:pPr marL="285750" indent="-285750" algn="l" rtl="0" fontAlgn="base">
              <a:buFont typeface="Arial" panose="020B0604020202020204" pitchFamily="34" charset="0"/>
              <a:buChar char="•"/>
            </a:pPr>
            <a:r>
              <a:rPr lang="en-GB" b="0" i="0" dirty="0">
                <a:solidFill>
                  <a:srgbClr val="000000"/>
                </a:solidFill>
                <a:effectLst/>
                <a:latin typeface="Calibri" panose="020F0502020204030204" pitchFamily="34" charset="0"/>
              </a:rPr>
              <a:t>It’s not a ‘nice-to-have’, perhaps something that can be indefinitely parked</a:t>
            </a:r>
          </a:p>
          <a:p>
            <a:pPr marL="285750" indent="-285750" algn="l" rtl="0" fontAlgn="base">
              <a:buFont typeface="Arial" panose="020B0604020202020204" pitchFamily="34" charset="0"/>
              <a:buChar char="•"/>
            </a:pPr>
            <a:r>
              <a:rPr lang="en-GB" b="0" i="0" dirty="0">
                <a:solidFill>
                  <a:srgbClr val="000000"/>
                </a:solidFill>
                <a:effectLst/>
                <a:latin typeface="Calibri" panose="020F0502020204030204" pitchFamily="34" charset="0"/>
              </a:rPr>
              <a:t>Isn’t something that any one board member can assume is being looked at by someone else</a:t>
            </a:r>
          </a:p>
          <a:p>
            <a:endParaRPr lang="en-GB" dirty="0"/>
          </a:p>
        </p:txBody>
      </p:sp>
      <p:sp>
        <p:nvSpPr>
          <p:cNvPr id="4" name="Slide Number Placeholder 3"/>
          <p:cNvSpPr>
            <a:spLocks noGrp="1"/>
          </p:cNvSpPr>
          <p:nvPr>
            <p:ph type="sldNum" sz="quarter" idx="5"/>
          </p:nvPr>
        </p:nvSpPr>
        <p:spPr/>
        <p:txBody>
          <a:bodyPr/>
          <a:lstStyle/>
          <a:p>
            <a:fld id="{F1B2E62C-A7F3-4060-9555-0E1F16BA06F1}" type="slidenum">
              <a:rPr lang="en-GB" smtClean="0"/>
              <a:t>8</a:t>
            </a:fld>
            <a:endParaRPr lang="en-GB"/>
          </a:p>
        </p:txBody>
      </p:sp>
    </p:spTree>
    <p:extLst>
      <p:ext uri="{BB962C8B-B14F-4D97-AF65-F5344CB8AC3E}">
        <p14:creationId xmlns:p14="http://schemas.microsoft.com/office/powerpoint/2010/main" val="2802298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09575"/>
            <a:ext cx="5486400" cy="3086100"/>
          </a:xfrm>
        </p:spPr>
      </p:sp>
      <p:sp>
        <p:nvSpPr>
          <p:cNvPr id="3" name="Notes Placeholder 2"/>
          <p:cNvSpPr>
            <a:spLocks noGrp="1"/>
          </p:cNvSpPr>
          <p:nvPr>
            <p:ph type="body" idx="1"/>
          </p:nvPr>
        </p:nvSpPr>
        <p:spPr>
          <a:xfrm>
            <a:off x="577970" y="3648974"/>
            <a:ext cx="5594230" cy="4352026"/>
          </a:xfrm>
        </p:spPr>
        <p:txBody>
          <a:bodyPr/>
          <a:lstStyle/>
          <a:p>
            <a:pPr algn="l" rtl="0" fontAlgn="base"/>
            <a:r>
              <a:rPr lang="en-GB" b="0" i="0" dirty="0">
                <a:solidFill>
                  <a:srgbClr val="000000"/>
                </a:solidFill>
                <a:effectLst/>
              </a:rPr>
              <a:t>So how are boards across the UK addressing these challenges? </a:t>
            </a:r>
          </a:p>
          <a:p>
            <a:pPr algn="l" rtl="0" fontAlgn="base"/>
            <a:r>
              <a:rPr lang="en-GB" b="0" i="0" dirty="0">
                <a:solidFill>
                  <a:srgbClr val="000000"/>
                </a:solidFill>
                <a:effectLst/>
              </a:rPr>
              <a:t> </a:t>
            </a:r>
          </a:p>
          <a:p>
            <a:pPr algn="l" rtl="0" fontAlgn="base"/>
            <a:r>
              <a:rPr lang="en-GB" b="0" i="0" dirty="0">
                <a:solidFill>
                  <a:srgbClr val="000000"/>
                </a:solidFill>
                <a:effectLst/>
              </a:rPr>
              <a:t>Every year the Department of Science Innovation and Technology (DSIT) runs a detailed survey of organisations’ approaches to cyber security and their experience of cyber incidents</a:t>
            </a:r>
            <a:r>
              <a:rPr lang="en-GB" b="0" i="0" baseline="30000" dirty="0">
                <a:solidFill>
                  <a:srgbClr val="000000"/>
                </a:solidFill>
                <a:effectLst/>
              </a:rPr>
              <a:t>.</a:t>
            </a:r>
            <a:r>
              <a:rPr lang="en-GB" b="0" i="0" dirty="0">
                <a:solidFill>
                  <a:srgbClr val="000000"/>
                </a:solidFill>
                <a:effectLst/>
              </a:rPr>
              <a:t>   </a:t>
            </a:r>
          </a:p>
          <a:p>
            <a:pPr algn="l" rtl="0" fontAlgn="base"/>
            <a:endParaRPr lang="en-GB" b="1" i="0" dirty="0">
              <a:solidFill>
                <a:srgbClr val="000000"/>
              </a:solidFill>
              <a:effectLst/>
            </a:endParaRPr>
          </a:p>
          <a:p>
            <a:pPr algn="l" rtl="0" fontAlgn="base"/>
            <a:r>
              <a:rPr lang="en-GB" b="1" i="0" dirty="0">
                <a:solidFill>
                  <a:srgbClr val="000000"/>
                </a:solidFill>
                <a:effectLst/>
              </a:rPr>
              <a:t>This table </a:t>
            </a:r>
            <a:r>
              <a:rPr lang="en-GB" b="0" i="0" dirty="0">
                <a:solidFill>
                  <a:srgbClr val="000000"/>
                </a:solidFill>
                <a:effectLst/>
              </a:rPr>
              <a:t>from the 2024 report shows the percentage of organisations with a board member or trustee with cyber responsibilities.</a:t>
            </a:r>
          </a:p>
          <a:p>
            <a:pPr algn="l" rtl="0" fontAlgn="base"/>
            <a:endParaRPr lang="en-GB" b="0" i="0" dirty="0">
              <a:solidFill>
                <a:srgbClr val="000000"/>
              </a:solidFill>
              <a:effectLst/>
            </a:endParaRPr>
          </a:p>
          <a:p>
            <a:r>
              <a:rPr lang="en-GB" dirty="0"/>
              <a:t>Three in ten businesses (30%) have board members or trustees taking explicit responsibility for cyber security as part of their job.  Board-level responsibility is much more common in larger businesses, where the management board is likely to be larger. Around two-thirds of large businesses (63%) have a board member responsible for cyber security.</a:t>
            </a:r>
          </a:p>
          <a:p>
            <a:endParaRPr lang="en-GB" dirty="0"/>
          </a:p>
          <a:p>
            <a:r>
              <a:rPr lang="en-GB" b="0" i="0" dirty="0">
                <a:solidFill>
                  <a:srgbClr val="0B0C0C"/>
                </a:solidFill>
                <a:effectLst/>
              </a:rPr>
              <a:t>Large businesses are also more likely to have a formal cyber security strategy. With 66% large business and 58% medium businesses having </a:t>
            </a:r>
            <a:r>
              <a:rPr lang="en-GB" dirty="0">
                <a:solidFill>
                  <a:srgbClr val="0B0C0C"/>
                </a:solidFill>
              </a:rPr>
              <a:t>one in place</a:t>
            </a:r>
            <a:r>
              <a:rPr lang="en-GB" b="0" i="0" dirty="0">
                <a:solidFill>
                  <a:srgbClr val="0B0C0C"/>
                </a:solidFill>
                <a:effectLst/>
              </a:rPr>
              <a:t>.</a:t>
            </a:r>
            <a:endParaRPr lang="en-GB" dirty="0"/>
          </a:p>
        </p:txBody>
      </p:sp>
      <p:sp>
        <p:nvSpPr>
          <p:cNvPr id="4" name="Slide Number Placeholder 3"/>
          <p:cNvSpPr>
            <a:spLocks noGrp="1"/>
          </p:cNvSpPr>
          <p:nvPr>
            <p:ph type="sldNum" sz="quarter" idx="5"/>
          </p:nvPr>
        </p:nvSpPr>
        <p:spPr/>
        <p:txBody>
          <a:bodyPr/>
          <a:lstStyle/>
          <a:p>
            <a:fld id="{F1B2E62C-A7F3-4060-9555-0E1F16BA06F1}" type="slidenum">
              <a:rPr lang="en-GB" smtClean="0"/>
              <a:t>9</a:t>
            </a:fld>
            <a:endParaRPr lang="en-GB"/>
          </a:p>
        </p:txBody>
      </p:sp>
    </p:spTree>
    <p:extLst>
      <p:ext uri="{BB962C8B-B14F-4D97-AF65-F5344CB8AC3E}">
        <p14:creationId xmlns:p14="http://schemas.microsoft.com/office/powerpoint/2010/main" val="1698921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409575"/>
            <a:ext cx="5486400" cy="3086100"/>
          </a:xfrm>
        </p:spPr>
      </p:sp>
      <p:sp>
        <p:nvSpPr>
          <p:cNvPr id="3" name="Notes Placeholder 2"/>
          <p:cNvSpPr>
            <a:spLocks noGrp="1"/>
          </p:cNvSpPr>
          <p:nvPr>
            <p:ph type="body" idx="1"/>
          </p:nvPr>
        </p:nvSpPr>
        <p:spPr>
          <a:xfrm>
            <a:off x="590550" y="3588589"/>
            <a:ext cx="5581650" cy="4412411"/>
          </a:xfrm>
        </p:spPr>
        <p:txBody>
          <a:bodyPr/>
          <a:lstStyle/>
          <a:p>
            <a:pPr algn="l" rtl="0" fontAlgn="base"/>
            <a:r>
              <a:rPr lang="en-GB" b="0" i="0" dirty="0">
                <a:solidFill>
                  <a:srgbClr val="000000"/>
                </a:solidFill>
                <a:effectLst/>
              </a:rPr>
              <a:t>The survey also looked at data breaches or attacks.  Half of businesses (50%) report having experienced a cyber security breach or attack in the last 12 months</a:t>
            </a:r>
          </a:p>
          <a:p>
            <a:pPr algn="l" rtl="0" fontAlgn="base"/>
            <a:endParaRPr lang="en-GB" b="0" i="0" dirty="0">
              <a:solidFill>
                <a:srgbClr val="000000"/>
              </a:solidFill>
              <a:effectLst/>
            </a:endParaRPr>
          </a:p>
          <a:p>
            <a:pPr algn="l" rtl="0" fontAlgn="base"/>
            <a:r>
              <a:rPr lang="en-GB" b="1" i="1" dirty="0">
                <a:solidFill>
                  <a:srgbClr val="000000"/>
                </a:solidFill>
                <a:effectLst/>
              </a:rPr>
              <a:t>It’s also interesting to look at the types of incident experienced.</a:t>
            </a:r>
            <a:endParaRPr lang="en-GB" b="0" i="0" dirty="0">
              <a:solidFill>
                <a:srgbClr val="000000"/>
              </a:solidFill>
              <a:effectLst/>
            </a:endParaRPr>
          </a:p>
          <a:p>
            <a:pPr algn="l" rtl="0" fontAlgn="base"/>
            <a:endParaRPr lang="en-GB" b="0" i="0" dirty="0">
              <a:solidFill>
                <a:srgbClr val="000000"/>
              </a:solidFill>
              <a:effectLst/>
            </a:endParaRPr>
          </a:p>
          <a:p>
            <a:pPr algn="l" rtl="0" fontAlgn="base"/>
            <a:r>
              <a:rPr lang="en-GB" b="0" i="0" dirty="0">
                <a:solidFill>
                  <a:srgbClr val="000000"/>
                </a:solidFill>
                <a:effectLst/>
              </a:rPr>
              <a:t>Among the organisations identifying breaches or attacks, just under half (46% of these businesses) say they have only experienced phishing attacks and no other kinds of breaches or attacks. Among organisations identifying any breaches or attacks, medium and large organisations are more likely to report:</a:t>
            </a:r>
          </a:p>
          <a:p>
            <a:pPr algn="l" rtl="0" fontAlgn="base"/>
            <a:endParaRPr lang="en-GB" b="0" i="0" dirty="0">
              <a:solidFill>
                <a:srgbClr val="000000"/>
              </a:solidFill>
              <a:effectLst/>
            </a:endParaRPr>
          </a:p>
          <a:p>
            <a:pPr marL="285750" indent="-285750" algn="l" rtl="0" fontAlgn="base">
              <a:buFont typeface="Arial" panose="020B0604020202020204" pitchFamily="34" charset="0"/>
              <a:buChar char="•"/>
            </a:pPr>
            <a:r>
              <a:rPr lang="en-GB" b="0" i="0" dirty="0">
                <a:solidFill>
                  <a:srgbClr val="000000"/>
                </a:solidFill>
                <a:effectLst/>
              </a:rPr>
              <a:t>phishing attacks (91% of large businesses and 88% of medium businesses vs 84% overall) </a:t>
            </a:r>
          </a:p>
          <a:p>
            <a:pPr marL="285750" indent="-285750" algn="l" rtl="0" fontAlgn="base">
              <a:buFont typeface="Arial" panose="020B0604020202020204" pitchFamily="34" charset="0"/>
              <a:buChar char="•"/>
            </a:pPr>
            <a:r>
              <a:rPr lang="en-GB" b="0" i="0" dirty="0">
                <a:solidFill>
                  <a:srgbClr val="000000"/>
                </a:solidFill>
                <a:effectLst/>
              </a:rPr>
              <a:t>impersonation (80% and 67% respectively, vs. 35% overall)</a:t>
            </a:r>
          </a:p>
          <a:p>
            <a:pPr marL="285750" indent="-285750" algn="l" rtl="0" fontAlgn="base">
              <a:buFont typeface="Arial" panose="020B0604020202020204" pitchFamily="34" charset="0"/>
              <a:buChar char="•"/>
            </a:pPr>
            <a:r>
              <a:rPr lang="en-GB" b="0" i="0" dirty="0">
                <a:solidFill>
                  <a:srgbClr val="000000"/>
                </a:solidFill>
                <a:effectLst/>
              </a:rPr>
              <a:t>malware (40% of large businesses, vs. 17% overall)</a:t>
            </a:r>
          </a:p>
          <a:p>
            <a:pPr marL="285750" indent="-285750" algn="l" rtl="0" fontAlgn="base">
              <a:buFont typeface="Arial" panose="020B0604020202020204" pitchFamily="34" charset="0"/>
              <a:buChar char="•"/>
            </a:pPr>
            <a:r>
              <a:rPr lang="en-GB" b="0" i="0" dirty="0">
                <a:solidFill>
                  <a:srgbClr val="000000"/>
                </a:solidFill>
                <a:effectLst/>
              </a:rPr>
              <a:t>unauthorised access by people within the organisation (14% of large businesses, vs. 1% overall)</a:t>
            </a:r>
          </a:p>
          <a:p>
            <a:pPr marL="285750" indent="-285750" algn="l" rtl="0" fontAlgn="base">
              <a:buFont typeface="Arial" panose="020B0604020202020204" pitchFamily="34" charset="0"/>
              <a:buChar char="•"/>
            </a:pPr>
            <a:r>
              <a:rPr lang="en-GB" b="0" i="0" dirty="0">
                <a:solidFill>
                  <a:srgbClr val="000000"/>
                </a:solidFill>
                <a:effectLst/>
              </a:rPr>
              <a:t>unauthorised access by people outside the organisation (7% of large businesses, vs. 1% overall) </a:t>
            </a:r>
          </a:p>
          <a:p>
            <a:endParaRPr lang="en-GB" dirty="0"/>
          </a:p>
        </p:txBody>
      </p:sp>
      <p:sp>
        <p:nvSpPr>
          <p:cNvPr id="4" name="Slide Number Placeholder 3"/>
          <p:cNvSpPr>
            <a:spLocks noGrp="1"/>
          </p:cNvSpPr>
          <p:nvPr>
            <p:ph type="sldNum" sz="quarter" idx="5"/>
          </p:nvPr>
        </p:nvSpPr>
        <p:spPr/>
        <p:txBody>
          <a:bodyPr/>
          <a:lstStyle/>
          <a:p>
            <a:fld id="{F1B2E62C-A7F3-4060-9555-0E1F16BA06F1}" type="slidenum">
              <a:rPr lang="en-GB" smtClean="0"/>
              <a:t>10</a:t>
            </a:fld>
            <a:endParaRPr lang="en-GB"/>
          </a:p>
        </p:txBody>
      </p:sp>
    </p:spTree>
    <p:extLst>
      <p:ext uri="{BB962C8B-B14F-4D97-AF65-F5344CB8AC3E}">
        <p14:creationId xmlns:p14="http://schemas.microsoft.com/office/powerpoint/2010/main" val="2724553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GB" b="0" i="0" dirty="0">
                <a:solidFill>
                  <a:srgbClr val="000000"/>
                </a:solidFill>
                <a:effectLst/>
              </a:rPr>
              <a:t>Wherever your organisation is on its cyber security journey, the NCSC’s </a:t>
            </a:r>
            <a:r>
              <a:rPr lang="en-GB" b="0" i="1" dirty="0">
                <a:solidFill>
                  <a:srgbClr val="000000"/>
                </a:solidFill>
                <a:effectLst/>
              </a:rPr>
              <a:t>Cyber Security Toolkit for Boards </a:t>
            </a:r>
            <a:r>
              <a:rPr lang="en-GB" b="0" i="0" dirty="0">
                <a:solidFill>
                  <a:srgbClr val="000000"/>
                </a:solidFill>
                <a:effectLst/>
              </a:rPr>
              <a:t>can help board members get to grips with the topic. It’s available online, just search for ‘NCSC Board Toolkit’. We’ve also got another presentation that introduces the toolkit and how it can be used.  Boards have a crucial role to play in ensuring the resilience of the organisation and the toolkit provides them with the tools and resources to </a:t>
            </a:r>
            <a:r>
              <a:rPr lang="en-GB" b="0" i="0">
                <a:solidFill>
                  <a:srgbClr val="000000"/>
                </a:solidFill>
                <a:effectLst/>
              </a:rPr>
              <a:t>enable them to </a:t>
            </a:r>
            <a:r>
              <a:rPr lang="en-GB" b="0" i="0" dirty="0">
                <a:solidFill>
                  <a:srgbClr val="000000"/>
                </a:solidFill>
                <a:effectLst/>
              </a:rPr>
              <a:t>govern cyber risk more effectively.</a:t>
            </a:r>
            <a:endParaRPr lang="en-GB" dirty="0"/>
          </a:p>
        </p:txBody>
      </p:sp>
      <p:sp>
        <p:nvSpPr>
          <p:cNvPr id="4" name="Slide Number Placeholder 3"/>
          <p:cNvSpPr>
            <a:spLocks noGrp="1"/>
          </p:cNvSpPr>
          <p:nvPr>
            <p:ph type="sldNum" sz="quarter" idx="5"/>
          </p:nvPr>
        </p:nvSpPr>
        <p:spPr/>
        <p:txBody>
          <a:bodyPr/>
          <a:lstStyle/>
          <a:p>
            <a:fld id="{F1B2E62C-A7F3-4060-9555-0E1F16BA06F1}" type="slidenum">
              <a:rPr lang="en-GB" smtClean="0"/>
              <a:t>11</a:t>
            </a:fld>
            <a:endParaRPr lang="en-GB"/>
          </a:p>
        </p:txBody>
      </p:sp>
    </p:spTree>
    <p:extLst>
      <p:ext uri="{BB962C8B-B14F-4D97-AF65-F5344CB8AC3E}">
        <p14:creationId xmlns:p14="http://schemas.microsoft.com/office/powerpoint/2010/main" val="13691678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17" name="Picture 16" descr="A picture containing night sky&#10;&#10;Description automatically generated">
            <a:extLst>
              <a:ext uri="{FF2B5EF4-FFF2-40B4-BE49-F238E27FC236}">
                <a16:creationId xmlns:a16="http://schemas.microsoft.com/office/drawing/2014/main" id="{7BDD3417-07CD-498A-8572-E8BD8827D0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7171" y="-309265"/>
            <a:ext cx="3797669" cy="1948283"/>
          </a:xfrm>
          <a:prstGeom prst="rect">
            <a:avLst/>
          </a:prstGeom>
        </p:spPr>
      </p:pic>
      <p:sp>
        <p:nvSpPr>
          <p:cNvPr id="22" name="Rectangle 21">
            <a:extLst>
              <a:ext uri="{FF2B5EF4-FFF2-40B4-BE49-F238E27FC236}">
                <a16:creationId xmlns:a16="http://schemas.microsoft.com/office/drawing/2014/main" id="{1524CBDD-1675-4E92-BC97-1BBB30FFF447}"/>
              </a:ext>
            </a:extLst>
          </p:cNvPr>
          <p:cNvSpPr/>
          <p:nvPr userDrawn="1"/>
        </p:nvSpPr>
        <p:spPr>
          <a:xfrm flipV="1">
            <a:off x="474663" y="1861170"/>
            <a:ext cx="11160124" cy="45719"/>
          </a:xfrm>
          <a:prstGeom prst="rect">
            <a:avLst/>
          </a:prstGeom>
          <a:solidFill>
            <a:srgbClr val="021D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24">
            <a:extLst>
              <a:ext uri="{FF2B5EF4-FFF2-40B4-BE49-F238E27FC236}">
                <a16:creationId xmlns:a16="http://schemas.microsoft.com/office/drawing/2014/main" id="{9AACA347-A921-4450-B894-46339396D029}"/>
              </a:ext>
            </a:extLst>
          </p:cNvPr>
          <p:cNvSpPr>
            <a:spLocks noGrp="1"/>
          </p:cNvSpPr>
          <p:nvPr>
            <p:ph type="body" sz="quarter" idx="13"/>
          </p:nvPr>
        </p:nvSpPr>
        <p:spPr>
          <a:xfrm>
            <a:off x="474663" y="1389363"/>
            <a:ext cx="10367962" cy="517525"/>
          </a:xfrm>
        </p:spPr>
        <p:txBody>
          <a:bodyPr/>
          <a:lstStyle>
            <a:lvl1pPr marL="0" indent="0">
              <a:buNone/>
              <a:defRPr>
                <a:solidFill>
                  <a:srgbClr val="021D49"/>
                </a:solidFill>
                <a:latin typeface="Poppins SemiBold" panose="00000700000000000000" pitchFamily="2" charset="0"/>
                <a:cs typeface="Poppins SemiBold" panose="00000700000000000000" pitchFamily="2" charset="0"/>
              </a:defRPr>
            </a:lvl1pPr>
          </a:lstStyle>
          <a:p>
            <a:pPr lvl="0"/>
            <a:endParaRPr lang="en-GB" dirty="0"/>
          </a:p>
        </p:txBody>
      </p:sp>
      <p:pic>
        <p:nvPicPr>
          <p:cNvPr id="27" name="Graphic 26">
            <a:extLst>
              <a:ext uri="{FF2B5EF4-FFF2-40B4-BE49-F238E27FC236}">
                <a16:creationId xmlns:a16="http://schemas.microsoft.com/office/drawing/2014/main" id="{C5D56503-BD68-4381-A5C7-53F9E5606F3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77587" y="400903"/>
            <a:ext cx="457200" cy="457200"/>
          </a:xfrm>
          <a:prstGeom prst="rect">
            <a:avLst/>
          </a:prstGeom>
        </p:spPr>
      </p:pic>
      <p:cxnSp>
        <p:nvCxnSpPr>
          <p:cNvPr id="32" name="Straight Connector 31">
            <a:extLst>
              <a:ext uri="{FF2B5EF4-FFF2-40B4-BE49-F238E27FC236}">
                <a16:creationId xmlns:a16="http://schemas.microsoft.com/office/drawing/2014/main" id="{FD91CA65-B770-48F4-B66E-3C0752FF4CEF}"/>
              </a:ext>
            </a:extLst>
          </p:cNvPr>
          <p:cNvCxnSpPr/>
          <p:nvPr userDrawn="1"/>
        </p:nvCxnSpPr>
        <p:spPr>
          <a:xfrm>
            <a:off x="474663" y="6456305"/>
            <a:ext cx="11160124" cy="0"/>
          </a:xfrm>
          <a:prstGeom prst="line">
            <a:avLst/>
          </a:prstGeom>
          <a:ln>
            <a:solidFill>
              <a:srgbClr val="021D49"/>
            </a:solidFill>
          </a:ln>
        </p:spPr>
        <p:style>
          <a:lnRef idx="1">
            <a:schemeClr val="accent1"/>
          </a:lnRef>
          <a:fillRef idx="0">
            <a:schemeClr val="accent1"/>
          </a:fillRef>
          <a:effectRef idx="0">
            <a:schemeClr val="accent1"/>
          </a:effectRef>
          <a:fontRef idx="minor">
            <a:schemeClr val="tx1"/>
          </a:fontRef>
        </p:style>
      </p:cxnSp>
      <p:sp>
        <p:nvSpPr>
          <p:cNvPr id="48" name="Text Placeholder 47">
            <a:extLst>
              <a:ext uri="{FF2B5EF4-FFF2-40B4-BE49-F238E27FC236}">
                <a16:creationId xmlns:a16="http://schemas.microsoft.com/office/drawing/2014/main" id="{0740BED8-5823-4F7D-8521-1A67817EB271}"/>
              </a:ext>
            </a:extLst>
          </p:cNvPr>
          <p:cNvSpPr>
            <a:spLocks noGrp="1"/>
          </p:cNvSpPr>
          <p:nvPr>
            <p:ph type="body" sz="quarter" idx="15"/>
          </p:nvPr>
        </p:nvSpPr>
        <p:spPr>
          <a:xfrm>
            <a:off x="474663" y="2151063"/>
            <a:ext cx="5387975" cy="4137025"/>
          </a:xfrm>
        </p:spPr>
        <p:txBody>
          <a:bodyPr>
            <a:normAutofit/>
          </a:bodyPr>
          <a:lstStyle>
            <a:lvl1pPr>
              <a:defRPr sz="1600">
                <a:solidFill>
                  <a:srgbClr val="021D49"/>
                </a:solidFill>
                <a:latin typeface="Poppins Light" panose="00000400000000000000" pitchFamily="2" charset="0"/>
                <a:cs typeface="Poppins Light" panose="00000400000000000000" pitchFamily="2" charset="0"/>
              </a:defRPr>
            </a:lvl1pPr>
            <a:lvl2pPr>
              <a:defRPr sz="1400">
                <a:solidFill>
                  <a:srgbClr val="021D49"/>
                </a:solidFill>
                <a:latin typeface="Poppins Light" panose="00000400000000000000" pitchFamily="2" charset="0"/>
                <a:cs typeface="Poppins Light" panose="00000400000000000000" pitchFamily="2" charset="0"/>
              </a:defRPr>
            </a:lvl2pPr>
            <a:lvl3pPr>
              <a:defRPr sz="1200">
                <a:solidFill>
                  <a:srgbClr val="021D49"/>
                </a:solidFill>
                <a:latin typeface="Poppins Light" panose="00000400000000000000" pitchFamily="2" charset="0"/>
                <a:cs typeface="Poppins Light" panose="00000400000000000000" pitchFamily="2" charset="0"/>
              </a:defRPr>
            </a:lvl3pPr>
            <a:lvl4pPr>
              <a:defRPr sz="1100">
                <a:solidFill>
                  <a:srgbClr val="021D49"/>
                </a:solidFill>
                <a:latin typeface="Poppins Light" panose="00000400000000000000" pitchFamily="2" charset="0"/>
                <a:cs typeface="Poppins Light" panose="00000400000000000000" pitchFamily="2" charset="0"/>
              </a:defRPr>
            </a:lvl4pPr>
            <a:lvl5pPr>
              <a:defRPr sz="1100">
                <a:solidFill>
                  <a:srgbClr val="021D49"/>
                </a:solidFill>
                <a:latin typeface="Poppins Light" panose="00000400000000000000" pitchFamily="2" charset="0"/>
                <a:cs typeface="Poppins Light" panose="000004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441629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17" name="Picture 16" descr="A picture containing night sky&#10;&#10;Description automatically generated">
            <a:extLst>
              <a:ext uri="{FF2B5EF4-FFF2-40B4-BE49-F238E27FC236}">
                <a16:creationId xmlns:a16="http://schemas.microsoft.com/office/drawing/2014/main" id="{7BDD3417-07CD-498A-8572-E8BD8827D0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7171" y="-309265"/>
            <a:ext cx="3797669" cy="1948283"/>
          </a:xfrm>
          <a:prstGeom prst="rect">
            <a:avLst/>
          </a:prstGeom>
        </p:spPr>
      </p:pic>
      <p:sp>
        <p:nvSpPr>
          <p:cNvPr id="22" name="Rectangle 21">
            <a:extLst>
              <a:ext uri="{FF2B5EF4-FFF2-40B4-BE49-F238E27FC236}">
                <a16:creationId xmlns:a16="http://schemas.microsoft.com/office/drawing/2014/main" id="{1524CBDD-1675-4E92-BC97-1BBB30FFF447}"/>
              </a:ext>
            </a:extLst>
          </p:cNvPr>
          <p:cNvSpPr/>
          <p:nvPr userDrawn="1"/>
        </p:nvSpPr>
        <p:spPr>
          <a:xfrm flipV="1">
            <a:off x="474663" y="1861170"/>
            <a:ext cx="11160124" cy="45719"/>
          </a:xfrm>
          <a:prstGeom prst="rect">
            <a:avLst/>
          </a:prstGeom>
          <a:solidFill>
            <a:srgbClr val="021D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24">
            <a:extLst>
              <a:ext uri="{FF2B5EF4-FFF2-40B4-BE49-F238E27FC236}">
                <a16:creationId xmlns:a16="http://schemas.microsoft.com/office/drawing/2014/main" id="{9AACA347-A921-4450-B894-46339396D029}"/>
              </a:ext>
            </a:extLst>
          </p:cNvPr>
          <p:cNvSpPr>
            <a:spLocks noGrp="1"/>
          </p:cNvSpPr>
          <p:nvPr>
            <p:ph type="body" sz="quarter" idx="13"/>
          </p:nvPr>
        </p:nvSpPr>
        <p:spPr>
          <a:xfrm>
            <a:off x="474663" y="1389363"/>
            <a:ext cx="10367962" cy="517525"/>
          </a:xfrm>
        </p:spPr>
        <p:txBody>
          <a:bodyPr/>
          <a:lstStyle>
            <a:lvl1pPr marL="0" indent="0">
              <a:buNone/>
              <a:defRPr>
                <a:solidFill>
                  <a:srgbClr val="021D49"/>
                </a:solidFill>
                <a:latin typeface="Poppins SemiBold" panose="00000700000000000000" pitchFamily="2" charset="0"/>
                <a:cs typeface="Poppins SemiBold" panose="00000700000000000000" pitchFamily="2" charset="0"/>
              </a:defRPr>
            </a:lvl1pPr>
          </a:lstStyle>
          <a:p>
            <a:pPr lvl="0"/>
            <a:endParaRPr lang="en-GB" dirty="0"/>
          </a:p>
        </p:txBody>
      </p:sp>
      <p:pic>
        <p:nvPicPr>
          <p:cNvPr id="27" name="Graphic 26">
            <a:extLst>
              <a:ext uri="{FF2B5EF4-FFF2-40B4-BE49-F238E27FC236}">
                <a16:creationId xmlns:a16="http://schemas.microsoft.com/office/drawing/2014/main" id="{C5D56503-BD68-4381-A5C7-53F9E5606F3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77587" y="400903"/>
            <a:ext cx="457200" cy="457200"/>
          </a:xfrm>
          <a:prstGeom prst="rect">
            <a:avLst/>
          </a:prstGeom>
        </p:spPr>
      </p:pic>
      <p:cxnSp>
        <p:nvCxnSpPr>
          <p:cNvPr id="32" name="Straight Connector 31">
            <a:extLst>
              <a:ext uri="{FF2B5EF4-FFF2-40B4-BE49-F238E27FC236}">
                <a16:creationId xmlns:a16="http://schemas.microsoft.com/office/drawing/2014/main" id="{FD91CA65-B770-48F4-B66E-3C0752FF4CEF}"/>
              </a:ext>
            </a:extLst>
          </p:cNvPr>
          <p:cNvCxnSpPr/>
          <p:nvPr userDrawn="1"/>
        </p:nvCxnSpPr>
        <p:spPr>
          <a:xfrm>
            <a:off x="474663" y="6456305"/>
            <a:ext cx="11160124" cy="0"/>
          </a:xfrm>
          <a:prstGeom prst="line">
            <a:avLst/>
          </a:prstGeom>
          <a:ln>
            <a:solidFill>
              <a:srgbClr val="021D49"/>
            </a:solidFill>
          </a:ln>
        </p:spPr>
        <p:style>
          <a:lnRef idx="1">
            <a:schemeClr val="accent1"/>
          </a:lnRef>
          <a:fillRef idx="0">
            <a:schemeClr val="accent1"/>
          </a:fillRef>
          <a:effectRef idx="0">
            <a:schemeClr val="accent1"/>
          </a:effectRef>
          <a:fontRef idx="minor">
            <a:schemeClr val="tx1"/>
          </a:fontRef>
        </p:style>
      </p:cxnSp>
      <p:sp>
        <p:nvSpPr>
          <p:cNvPr id="9" name="Text Placeholder 47">
            <a:extLst>
              <a:ext uri="{FF2B5EF4-FFF2-40B4-BE49-F238E27FC236}">
                <a16:creationId xmlns:a16="http://schemas.microsoft.com/office/drawing/2014/main" id="{76833870-02FD-4032-9C6B-CBAB696BFE3A}"/>
              </a:ext>
            </a:extLst>
          </p:cNvPr>
          <p:cNvSpPr>
            <a:spLocks noGrp="1"/>
          </p:cNvSpPr>
          <p:nvPr>
            <p:ph type="body" sz="quarter" idx="15"/>
          </p:nvPr>
        </p:nvSpPr>
        <p:spPr>
          <a:xfrm>
            <a:off x="474663" y="2151063"/>
            <a:ext cx="5387975" cy="4137025"/>
          </a:xfrm>
        </p:spPr>
        <p:txBody>
          <a:bodyPr>
            <a:normAutofit/>
          </a:bodyPr>
          <a:lstStyle>
            <a:lvl1pPr>
              <a:defRPr sz="1600">
                <a:solidFill>
                  <a:srgbClr val="021D49"/>
                </a:solidFill>
                <a:latin typeface="Poppins Light" panose="00000400000000000000" pitchFamily="2" charset="0"/>
                <a:cs typeface="Poppins Light" panose="00000400000000000000" pitchFamily="2" charset="0"/>
              </a:defRPr>
            </a:lvl1pPr>
            <a:lvl2pPr>
              <a:defRPr sz="1400">
                <a:solidFill>
                  <a:srgbClr val="021D49"/>
                </a:solidFill>
                <a:latin typeface="Poppins Light" panose="00000400000000000000" pitchFamily="2" charset="0"/>
                <a:cs typeface="Poppins Light" panose="00000400000000000000" pitchFamily="2" charset="0"/>
              </a:defRPr>
            </a:lvl2pPr>
            <a:lvl3pPr>
              <a:defRPr sz="1200">
                <a:solidFill>
                  <a:srgbClr val="021D49"/>
                </a:solidFill>
                <a:latin typeface="Poppins Light" panose="00000400000000000000" pitchFamily="2" charset="0"/>
                <a:cs typeface="Poppins Light" panose="00000400000000000000" pitchFamily="2" charset="0"/>
              </a:defRPr>
            </a:lvl3pPr>
            <a:lvl4pPr>
              <a:defRPr sz="1100">
                <a:solidFill>
                  <a:srgbClr val="021D49"/>
                </a:solidFill>
                <a:latin typeface="Poppins Light" panose="00000400000000000000" pitchFamily="2" charset="0"/>
                <a:cs typeface="Poppins Light" panose="00000400000000000000" pitchFamily="2" charset="0"/>
              </a:defRPr>
            </a:lvl4pPr>
            <a:lvl5pPr>
              <a:defRPr sz="1100">
                <a:solidFill>
                  <a:srgbClr val="021D49"/>
                </a:solidFill>
                <a:latin typeface="Poppins Light" panose="00000400000000000000" pitchFamily="2" charset="0"/>
                <a:cs typeface="Poppins Light" panose="000004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605954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23DECA6-93F0-4AA5-B976-6B871C393A0F}"/>
              </a:ext>
            </a:extLst>
          </p:cNvPr>
          <p:cNvSpPr/>
          <p:nvPr userDrawn="1"/>
        </p:nvSpPr>
        <p:spPr>
          <a:xfrm>
            <a:off x="0" y="0"/>
            <a:ext cx="12192000" cy="6858000"/>
          </a:xfrm>
          <a:prstGeom prst="rect">
            <a:avLst/>
          </a:prstGeom>
          <a:solidFill>
            <a:srgbClr val="021D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descr="A picture containing text&#10;&#10;Description automatically generated">
            <a:extLst>
              <a:ext uri="{FF2B5EF4-FFF2-40B4-BE49-F238E27FC236}">
                <a16:creationId xmlns:a16="http://schemas.microsoft.com/office/drawing/2014/main" id="{9AC49D4A-3E6B-4CA7-9EDB-A8B52BCD60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3724" y="-307497"/>
            <a:ext cx="3794222" cy="1946515"/>
          </a:xfrm>
          <a:prstGeom prst="rect">
            <a:avLst/>
          </a:prstGeom>
        </p:spPr>
      </p:pic>
      <p:pic>
        <p:nvPicPr>
          <p:cNvPr id="21" name="Graphic 20">
            <a:extLst>
              <a:ext uri="{FF2B5EF4-FFF2-40B4-BE49-F238E27FC236}">
                <a16:creationId xmlns:a16="http://schemas.microsoft.com/office/drawing/2014/main" id="{C10327B9-D4F8-40E8-8589-BC1EB045DE4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77587" y="400903"/>
            <a:ext cx="457200" cy="457200"/>
          </a:xfrm>
          <a:prstGeom prst="rect">
            <a:avLst/>
          </a:prstGeom>
        </p:spPr>
      </p:pic>
      <p:sp>
        <p:nvSpPr>
          <p:cNvPr id="23" name="Rectangle 22">
            <a:extLst>
              <a:ext uri="{FF2B5EF4-FFF2-40B4-BE49-F238E27FC236}">
                <a16:creationId xmlns:a16="http://schemas.microsoft.com/office/drawing/2014/main" id="{3FB9DD12-DFFC-48C3-8D0D-494106D8DE23}"/>
              </a:ext>
            </a:extLst>
          </p:cNvPr>
          <p:cNvSpPr/>
          <p:nvPr userDrawn="1"/>
        </p:nvSpPr>
        <p:spPr>
          <a:xfrm flipV="1">
            <a:off x="474663" y="1861170"/>
            <a:ext cx="11160124"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9334B953-DE6E-43E6-99AD-CF6C4DDB8877}"/>
              </a:ext>
            </a:extLst>
          </p:cNvPr>
          <p:cNvCxnSpPr/>
          <p:nvPr userDrawn="1"/>
        </p:nvCxnSpPr>
        <p:spPr>
          <a:xfrm>
            <a:off x="474663" y="6456305"/>
            <a:ext cx="111601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 Placeholder 24">
            <a:extLst>
              <a:ext uri="{FF2B5EF4-FFF2-40B4-BE49-F238E27FC236}">
                <a16:creationId xmlns:a16="http://schemas.microsoft.com/office/drawing/2014/main" id="{8AAE0DCC-B8D6-4ECA-B96A-B95B76F09A25}"/>
              </a:ext>
            </a:extLst>
          </p:cNvPr>
          <p:cNvSpPr>
            <a:spLocks noGrp="1"/>
          </p:cNvSpPr>
          <p:nvPr>
            <p:ph type="body" sz="quarter" idx="13"/>
          </p:nvPr>
        </p:nvSpPr>
        <p:spPr>
          <a:xfrm>
            <a:off x="474663" y="1389363"/>
            <a:ext cx="10367962" cy="517525"/>
          </a:xfrm>
        </p:spPr>
        <p:txBody>
          <a:bodyPr/>
          <a:lstStyle>
            <a:lvl1pPr marL="0" indent="0">
              <a:buNone/>
              <a:defRPr>
                <a:solidFill>
                  <a:schemeClr val="bg1"/>
                </a:solidFill>
                <a:latin typeface="Poppins SemiBold" panose="00000700000000000000" pitchFamily="2" charset="0"/>
                <a:cs typeface="Poppins SemiBold" panose="00000700000000000000" pitchFamily="2" charset="0"/>
              </a:defRPr>
            </a:lvl1pPr>
          </a:lstStyle>
          <a:p>
            <a:pPr lvl="0"/>
            <a:endParaRPr lang="en-GB" dirty="0"/>
          </a:p>
        </p:txBody>
      </p:sp>
      <p:sp>
        <p:nvSpPr>
          <p:cNvPr id="27" name="Text Placeholder 47">
            <a:extLst>
              <a:ext uri="{FF2B5EF4-FFF2-40B4-BE49-F238E27FC236}">
                <a16:creationId xmlns:a16="http://schemas.microsoft.com/office/drawing/2014/main" id="{9DB97242-74C4-42D5-821A-6933CD1AA0F2}"/>
              </a:ext>
            </a:extLst>
          </p:cNvPr>
          <p:cNvSpPr>
            <a:spLocks noGrp="1"/>
          </p:cNvSpPr>
          <p:nvPr>
            <p:ph type="body" sz="quarter" idx="15"/>
          </p:nvPr>
        </p:nvSpPr>
        <p:spPr>
          <a:xfrm>
            <a:off x="474663" y="2151063"/>
            <a:ext cx="5387975" cy="4137025"/>
          </a:xfrm>
        </p:spPr>
        <p:txBody>
          <a:bodyPr>
            <a:normAutofit/>
          </a:bodyPr>
          <a:lstStyle>
            <a:lvl1pPr>
              <a:defRPr sz="1600">
                <a:solidFill>
                  <a:schemeClr val="bg1"/>
                </a:solidFill>
                <a:latin typeface="Poppins Light" panose="00000400000000000000" pitchFamily="2" charset="0"/>
                <a:cs typeface="Poppins Light" panose="00000400000000000000" pitchFamily="2" charset="0"/>
              </a:defRPr>
            </a:lvl1pPr>
            <a:lvl2pPr>
              <a:defRPr sz="1400">
                <a:solidFill>
                  <a:schemeClr val="bg1"/>
                </a:solidFill>
                <a:latin typeface="Poppins Light" panose="00000400000000000000" pitchFamily="2" charset="0"/>
                <a:cs typeface="Poppins Light" panose="00000400000000000000" pitchFamily="2" charset="0"/>
              </a:defRPr>
            </a:lvl2pPr>
            <a:lvl3pPr>
              <a:defRPr sz="1200">
                <a:solidFill>
                  <a:schemeClr val="bg1"/>
                </a:solidFill>
                <a:latin typeface="Poppins Light" panose="00000400000000000000" pitchFamily="2" charset="0"/>
                <a:cs typeface="Poppins Light" panose="00000400000000000000" pitchFamily="2" charset="0"/>
              </a:defRPr>
            </a:lvl3pPr>
            <a:lvl4pPr>
              <a:defRPr sz="1100">
                <a:solidFill>
                  <a:schemeClr val="bg1"/>
                </a:solidFill>
                <a:latin typeface="Poppins Light" panose="00000400000000000000" pitchFamily="2" charset="0"/>
                <a:cs typeface="Poppins Light" panose="00000400000000000000" pitchFamily="2" charset="0"/>
              </a:defRPr>
            </a:lvl4pPr>
            <a:lvl5pPr>
              <a:defRPr sz="1100">
                <a:solidFill>
                  <a:schemeClr val="bg1"/>
                </a:solidFill>
                <a:latin typeface="Poppins Light" panose="00000400000000000000" pitchFamily="2" charset="0"/>
                <a:cs typeface="Poppins Light" panose="000004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59509719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591D45-C02B-4E5E-B10E-739D1B922684}"/>
              </a:ext>
            </a:extLst>
          </p:cNvPr>
          <p:cNvSpPr/>
          <p:nvPr userDrawn="1"/>
        </p:nvSpPr>
        <p:spPr>
          <a:xfrm>
            <a:off x="10571" y="0"/>
            <a:ext cx="12192000" cy="6858000"/>
          </a:xfrm>
          <a:prstGeom prst="rect">
            <a:avLst/>
          </a:prstGeom>
          <a:solidFill>
            <a:srgbClr val="021D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descr="A picture containing text&#10;&#10;Description automatically generated">
            <a:extLst>
              <a:ext uri="{FF2B5EF4-FFF2-40B4-BE49-F238E27FC236}">
                <a16:creationId xmlns:a16="http://schemas.microsoft.com/office/drawing/2014/main" id="{CDA08EA9-2434-474B-A1F8-AB407FD81B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3724" y="-307497"/>
            <a:ext cx="3794222" cy="1946515"/>
          </a:xfrm>
          <a:prstGeom prst="rect">
            <a:avLst/>
          </a:prstGeom>
        </p:spPr>
      </p:pic>
      <p:pic>
        <p:nvPicPr>
          <p:cNvPr id="44" name="Graphic 43">
            <a:extLst>
              <a:ext uri="{FF2B5EF4-FFF2-40B4-BE49-F238E27FC236}">
                <a16:creationId xmlns:a16="http://schemas.microsoft.com/office/drawing/2014/main" id="{AFCDDB79-00C7-404C-BCC5-E466CFA8CDD4}"/>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0020"/>
          <a:stretch/>
        </p:blipFill>
        <p:spPr>
          <a:xfrm>
            <a:off x="10571" y="1462037"/>
            <a:ext cx="11439891" cy="5921988"/>
          </a:xfrm>
          <a:prstGeom prst="rect">
            <a:avLst/>
          </a:prstGeom>
        </p:spPr>
      </p:pic>
    </p:spTree>
    <p:extLst>
      <p:ext uri="{BB962C8B-B14F-4D97-AF65-F5344CB8AC3E}">
        <p14:creationId xmlns:p14="http://schemas.microsoft.com/office/powerpoint/2010/main" val="1112288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17" name="Picture 16" descr="A picture containing night sky&#10;&#10;Description automatically generated">
            <a:extLst>
              <a:ext uri="{FF2B5EF4-FFF2-40B4-BE49-F238E27FC236}">
                <a16:creationId xmlns:a16="http://schemas.microsoft.com/office/drawing/2014/main" id="{7BDD3417-07CD-498A-8572-E8BD8827D0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7171" y="-309265"/>
            <a:ext cx="3797669" cy="1948283"/>
          </a:xfrm>
          <a:prstGeom prst="rect">
            <a:avLst/>
          </a:prstGeom>
        </p:spPr>
      </p:pic>
      <p:sp>
        <p:nvSpPr>
          <p:cNvPr id="22" name="Rectangle 21">
            <a:extLst>
              <a:ext uri="{FF2B5EF4-FFF2-40B4-BE49-F238E27FC236}">
                <a16:creationId xmlns:a16="http://schemas.microsoft.com/office/drawing/2014/main" id="{1524CBDD-1675-4E92-BC97-1BBB30FFF447}"/>
              </a:ext>
            </a:extLst>
          </p:cNvPr>
          <p:cNvSpPr/>
          <p:nvPr userDrawn="1"/>
        </p:nvSpPr>
        <p:spPr>
          <a:xfrm flipV="1">
            <a:off x="474663" y="1861170"/>
            <a:ext cx="11160124" cy="45719"/>
          </a:xfrm>
          <a:prstGeom prst="rect">
            <a:avLst/>
          </a:prstGeom>
          <a:solidFill>
            <a:srgbClr val="021D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24">
            <a:extLst>
              <a:ext uri="{FF2B5EF4-FFF2-40B4-BE49-F238E27FC236}">
                <a16:creationId xmlns:a16="http://schemas.microsoft.com/office/drawing/2014/main" id="{9AACA347-A921-4450-B894-46339396D029}"/>
              </a:ext>
            </a:extLst>
          </p:cNvPr>
          <p:cNvSpPr>
            <a:spLocks noGrp="1"/>
          </p:cNvSpPr>
          <p:nvPr>
            <p:ph type="body" sz="quarter" idx="13"/>
          </p:nvPr>
        </p:nvSpPr>
        <p:spPr>
          <a:xfrm>
            <a:off x="474663" y="1389363"/>
            <a:ext cx="10367962" cy="517525"/>
          </a:xfrm>
        </p:spPr>
        <p:txBody>
          <a:bodyPr/>
          <a:lstStyle>
            <a:lvl1pPr marL="0" indent="0">
              <a:buNone/>
              <a:defRPr>
                <a:solidFill>
                  <a:srgbClr val="021D49"/>
                </a:solidFill>
                <a:latin typeface="Poppins SemiBold" panose="00000700000000000000" pitchFamily="2" charset="0"/>
                <a:cs typeface="Poppins SemiBold" panose="00000700000000000000" pitchFamily="2" charset="0"/>
              </a:defRPr>
            </a:lvl1pPr>
          </a:lstStyle>
          <a:p>
            <a:pPr lvl="0"/>
            <a:endParaRPr lang="en-GB"/>
          </a:p>
        </p:txBody>
      </p:sp>
      <p:pic>
        <p:nvPicPr>
          <p:cNvPr id="27" name="Graphic 26">
            <a:extLst>
              <a:ext uri="{FF2B5EF4-FFF2-40B4-BE49-F238E27FC236}">
                <a16:creationId xmlns:a16="http://schemas.microsoft.com/office/drawing/2014/main" id="{C5D56503-BD68-4381-A5C7-53F9E5606F3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77587" y="400903"/>
            <a:ext cx="457200" cy="457200"/>
          </a:xfrm>
          <a:prstGeom prst="rect">
            <a:avLst/>
          </a:prstGeom>
        </p:spPr>
      </p:pic>
      <p:cxnSp>
        <p:nvCxnSpPr>
          <p:cNvPr id="32" name="Straight Connector 31">
            <a:extLst>
              <a:ext uri="{FF2B5EF4-FFF2-40B4-BE49-F238E27FC236}">
                <a16:creationId xmlns:a16="http://schemas.microsoft.com/office/drawing/2014/main" id="{FD91CA65-B770-48F4-B66E-3C0752FF4CEF}"/>
              </a:ext>
            </a:extLst>
          </p:cNvPr>
          <p:cNvCxnSpPr/>
          <p:nvPr userDrawn="1"/>
        </p:nvCxnSpPr>
        <p:spPr>
          <a:xfrm>
            <a:off x="474663" y="6456305"/>
            <a:ext cx="11160124" cy="0"/>
          </a:xfrm>
          <a:prstGeom prst="line">
            <a:avLst/>
          </a:prstGeom>
          <a:ln>
            <a:solidFill>
              <a:srgbClr val="021D49"/>
            </a:solidFill>
          </a:ln>
        </p:spPr>
        <p:style>
          <a:lnRef idx="1">
            <a:schemeClr val="accent1"/>
          </a:lnRef>
          <a:fillRef idx="0">
            <a:schemeClr val="accent1"/>
          </a:fillRef>
          <a:effectRef idx="0">
            <a:schemeClr val="accent1"/>
          </a:effectRef>
          <a:fontRef idx="minor">
            <a:schemeClr val="tx1"/>
          </a:fontRef>
        </p:style>
      </p:cxnSp>
      <p:sp>
        <p:nvSpPr>
          <p:cNvPr id="48" name="Text Placeholder 47">
            <a:extLst>
              <a:ext uri="{FF2B5EF4-FFF2-40B4-BE49-F238E27FC236}">
                <a16:creationId xmlns:a16="http://schemas.microsoft.com/office/drawing/2014/main" id="{0740BED8-5823-4F7D-8521-1A67817EB271}"/>
              </a:ext>
            </a:extLst>
          </p:cNvPr>
          <p:cNvSpPr>
            <a:spLocks noGrp="1"/>
          </p:cNvSpPr>
          <p:nvPr>
            <p:ph type="body" sz="quarter" idx="15"/>
          </p:nvPr>
        </p:nvSpPr>
        <p:spPr>
          <a:xfrm>
            <a:off x="474663" y="2151063"/>
            <a:ext cx="5387975" cy="4137025"/>
          </a:xfrm>
        </p:spPr>
        <p:txBody>
          <a:bodyPr>
            <a:normAutofit/>
          </a:bodyPr>
          <a:lstStyle>
            <a:lvl1pPr>
              <a:defRPr sz="1600">
                <a:solidFill>
                  <a:srgbClr val="021D49"/>
                </a:solidFill>
                <a:latin typeface="Poppins Light" panose="00000400000000000000" pitchFamily="2" charset="0"/>
                <a:cs typeface="Poppins Light" panose="00000400000000000000" pitchFamily="2" charset="0"/>
              </a:defRPr>
            </a:lvl1pPr>
            <a:lvl2pPr>
              <a:defRPr sz="1400">
                <a:solidFill>
                  <a:srgbClr val="021D49"/>
                </a:solidFill>
                <a:latin typeface="Poppins Light" panose="00000400000000000000" pitchFamily="2" charset="0"/>
                <a:cs typeface="Poppins Light" panose="00000400000000000000" pitchFamily="2" charset="0"/>
              </a:defRPr>
            </a:lvl2pPr>
            <a:lvl3pPr>
              <a:defRPr sz="1200">
                <a:solidFill>
                  <a:srgbClr val="021D49"/>
                </a:solidFill>
                <a:latin typeface="Poppins Light" panose="00000400000000000000" pitchFamily="2" charset="0"/>
                <a:cs typeface="Poppins Light" panose="00000400000000000000" pitchFamily="2" charset="0"/>
              </a:defRPr>
            </a:lvl3pPr>
            <a:lvl4pPr>
              <a:defRPr sz="1100">
                <a:solidFill>
                  <a:srgbClr val="021D49"/>
                </a:solidFill>
                <a:latin typeface="Poppins Light" panose="00000400000000000000" pitchFamily="2" charset="0"/>
                <a:cs typeface="Poppins Light" panose="00000400000000000000" pitchFamily="2" charset="0"/>
              </a:defRPr>
            </a:lvl4pPr>
            <a:lvl5pPr>
              <a:defRPr sz="1100">
                <a:solidFill>
                  <a:srgbClr val="021D49"/>
                </a:solidFill>
                <a:latin typeface="Poppins Light" panose="00000400000000000000" pitchFamily="2" charset="0"/>
                <a:cs typeface="Poppins Light" panose="000004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41629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17" name="Picture 16" descr="A picture containing night sky&#10;&#10;Description automatically generated">
            <a:extLst>
              <a:ext uri="{FF2B5EF4-FFF2-40B4-BE49-F238E27FC236}">
                <a16:creationId xmlns:a16="http://schemas.microsoft.com/office/drawing/2014/main" id="{7BDD3417-07CD-498A-8572-E8BD8827D0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7171" y="-309265"/>
            <a:ext cx="3797669" cy="1948283"/>
          </a:xfrm>
          <a:prstGeom prst="rect">
            <a:avLst/>
          </a:prstGeom>
        </p:spPr>
      </p:pic>
      <p:sp>
        <p:nvSpPr>
          <p:cNvPr id="22" name="Rectangle 21">
            <a:extLst>
              <a:ext uri="{FF2B5EF4-FFF2-40B4-BE49-F238E27FC236}">
                <a16:creationId xmlns:a16="http://schemas.microsoft.com/office/drawing/2014/main" id="{1524CBDD-1675-4E92-BC97-1BBB30FFF447}"/>
              </a:ext>
            </a:extLst>
          </p:cNvPr>
          <p:cNvSpPr/>
          <p:nvPr userDrawn="1"/>
        </p:nvSpPr>
        <p:spPr>
          <a:xfrm flipV="1">
            <a:off x="474663" y="1861170"/>
            <a:ext cx="11160124" cy="45719"/>
          </a:xfrm>
          <a:prstGeom prst="rect">
            <a:avLst/>
          </a:prstGeom>
          <a:solidFill>
            <a:srgbClr val="021D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24">
            <a:extLst>
              <a:ext uri="{FF2B5EF4-FFF2-40B4-BE49-F238E27FC236}">
                <a16:creationId xmlns:a16="http://schemas.microsoft.com/office/drawing/2014/main" id="{9AACA347-A921-4450-B894-46339396D029}"/>
              </a:ext>
            </a:extLst>
          </p:cNvPr>
          <p:cNvSpPr>
            <a:spLocks noGrp="1"/>
          </p:cNvSpPr>
          <p:nvPr>
            <p:ph type="body" sz="quarter" idx="13"/>
          </p:nvPr>
        </p:nvSpPr>
        <p:spPr>
          <a:xfrm>
            <a:off x="474663" y="1389363"/>
            <a:ext cx="10367962" cy="517525"/>
          </a:xfrm>
        </p:spPr>
        <p:txBody>
          <a:bodyPr/>
          <a:lstStyle>
            <a:lvl1pPr marL="0" indent="0">
              <a:buNone/>
              <a:defRPr>
                <a:solidFill>
                  <a:srgbClr val="021D49"/>
                </a:solidFill>
                <a:latin typeface="Poppins SemiBold" panose="00000700000000000000" pitchFamily="2" charset="0"/>
                <a:cs typeface="Poppins SemiBold" panose="00000700000000000000" pitchFamily="2" charset="0"/>
              </a:defRPr>
            </a:lvl1pPr>
          </a:lstStyle>
          <a:p>
            <a:pPr lvl="0"/>
            <a:endParaRPr lang="en-GB"/>
          </a:p>
        </p:txBody>
      </p:sp>
      <p:pic>
        <p:nvPicPr>
          <p:cNvPr id="27" name="Graphic 26">
            <a:extLst>
              <a:ext uri="{FF2B5EF4-FFF2-40B4-BE49-F238E27FC236}">
                <a16:creationId xmlns:a16="http://schemas.microsoft.com/office/drawing/2014/main" id="{C5D56503-BD68-4381-A5C7-53F9E5606F3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77587" y="400903"/>
            <a:ext cx="457200" cy="457200"/>
          </a:xfrm>
          <a:prstGeom prst="rect">
            <a:avLst/>
          </a:prstGeom>
        </p:spPr>
      </p:pic>
      <p:cxnSp>
        <p:nvCxnSpPr>
          <p:cNvPr id="32" name="Straight Connector 31">
            <a:extLst>
              <a:ext uri="{FF2B5EF4-FFF2-40B4-BE49-F238E27FC236}">
                <a16:creationId xmlns:a16="http://schemas.microsoft.com/office/drawing/2014/main" id="{FD91CA65-B770-48F4-B66E-3C0752FF4CEF}"/>
              </a:ext>
            </a:extLst>
          </p:cNvPr>
          <p:cNvCxnSpPr/>
          <p:nvPr userDrawn="1"/>
        </p:nvCxnSpPr>
        <p:spPr>
          <a:xfrm>
            <a:off x="474663" y="6456305"/>
            <a:ext cx="11160124" cy="0"/>
          </a:xfrm>
          <a:prstGeom prst="line">
            <a:avLst/>
          </a:prstGeom>
          <a:ln>
            <a:solidFill>
              <a:srgbClr val="021D49"/>
            </a:solidFill>
          </a:ln>
        </p:spPr>
        <p:style>
          <a:lnRef idx="1">
            <a:schemeClr val="accent1"/>
          </a:lnRef>
          <a:fillRef idx="0">
            <a:schemeClr val="accent1"/>
          </a:fillRef>
          <a:effectRef idx="0">
            <a:schemeClr val="accent1"/>
          </a:effectRef>
          <a:fontRef idx="minor">
            <a:schemeClr val="tx1"/>
          </a:fontRef>
        </p:style>
      </p:cxnSp>
      <p:sp>
        <p:nvSpPr>
          <p:cNvPr id="9" name="Text Placeholder 47">
            <a:extLst>
              <a:ext uri="{FF2B5EF4-FFF2-40B4-BE49-F238E27FC236}">
                <a16:creationId xmlns:a16="http://schemas.microsoft.com/office/drawing/2014/main" id="{76833870-02FD-4032-9C6B-CBAB696BFE3A}"/>
              </a:ext>
            </a:extLst>
          </p:cNvPr>
          <p:cNvSpPr>
            <a:spLocks noGrp="1"/>
          </p:cNvSpPr>
          <p:nvPr>
            <p:ph type="body" sz="quarter" idx="15"/>
          </p:nvPr>
        </p:nvSpPr>
        <p:spPr>
          <a:xfrm>
            <a:off x="474663" y="2151063"/>
            <a:ext cx="5387975" cy="4137025"/>
          </a:xfrm>
        </p:spPr>
        <p:txBody>
          <a:bodyPr>
            <a:normAutofit/>
          </a:bodyPr>
          <a:lstStyle>
            <a:lvl1pPr>
              <a:defRPr sz="1600">
                <a:solidFill>
                  <a:srgbClr val="021D49"/>
                </a:solidFill>
                <a:latin typeface="Poppins Light" panose="00000400000000000000" pitchFamily="2" charset="0"/>
                <a:cs typeface="Poppins Light" panose="00000400000000000000" pitchFamily="2" charset="0"/>
              </a:defRPr>
            </a:lvl1pPr>
            <a:lvl2pPr>
              <a:defRPr sz="1400">
                <a:solidFill>
                  <a:srgbClr val="021D49"/>
                </a:solidFill>
                <a:latin typeface="Poppins Light" panose="00000400000000000000" pitchFamily="2" charset="0"/>
                <a:cs typeface="Poppins Light" panose="00000400000000000000" pitchFamily="2" charset="0"/>
              </a:defRPr>
            </a:lvl2pPr>
            <a:lvl3pPr>
              <a:defRPr sz="1200">
                <a:solidFill>
                  <a:srgbClr val="021D49"/>
                </a:solidFill>
                <a:latin typeface="Poppins Light" panose="00000400000000000000" pitchFamily="2" charset="0"/>
                <a:cs typeface="Poppins Light" panose="00000400000000000000" pitchFamily="2" charset="0"/>
              </a:defRPr>
            </a:lvl3pPr>
            <a:lvl4pPr>
              <a:defRPr sz="1100">
                <a:solidFill>
                  <a:srgbClr val="021D49"/>
                </a:solidFill>
                <a:latin typeface="Poppins Light" panose="00000400000000000000" pitchFamily="2" charset="0"/>
                <a:cs typeface="Poppins Light" panose="00000400000000000000" pitchFamily="2" charset="0"/>
              </a:defRPr>
            </a:lvl4pPr>
            <a:lvl5pPr>
              <a:defRPr sz="1100">
                <a:solidFill>
                  <a:srgbClr val="021D49"/>
                </a:solidFill>
                <a:latin typeface="Poppins Light" panose="00000400000000000000" pitchFamily="2" charset="0"/>
                <a:cs typeface="Poppins Light" panose="000004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05954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23DECA6-93F0-4AA5-B976-6B871C393A0F}"/>
              </a:ext>
            </a:extLst>
          </p:cNvPr>
          <p:cNvSpPr/>
          <p:nvPr userDrawn="1"/>
        </p:nvSpPr>
        <p:spPr>
          <a:xfrm>
            <a:off x="0" y="0"/>
            <a:ext cx="12192000" cy="6858000"/>
          </a:xfrm>
          <a:prstGeom prst="rect">
            <a:avLst/>
          </a:prstGeom>
          <a:solidFill>
            <a:srgbClr val="021D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descr="A picture containing text&#10;&#10;Description automatically generated">
            <a:extLst>
              <a:ext uri="{FF2B5EF4-FFF2-40B4-BE49-F238E27FC236}">
                <a16:creationId xmlns:a16="http://schemas.microsoft.com/office/drawing/2014/main" id="{9AC49D4A-3E6B-4CA7-9EDB-A8B52BCD60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3724" y="-307497"/>
            <a:ext cx="3794222" cy="1946515"/>
          </a:xfrm>
          <a:prstGeom prst="rect">
            <a:avLst/>
          </a:prstGeom>
        </p:spPr>
      </p:pic>
      <p:pic>
        <p:nvPicPr>
          <p:cNvPr id="21" name="Graphic 20">
            <a:extLst>
              <a:ext uri="{FF2B5EF4-FFF2-40B4-BE49-F238E27FC236}">
                <a16:creationId xmlns:a16="http://schemas.microsoft.com/office/drawing/2014/main" id="{C10327B9-D4F8-40E8-8589-BC1EB045DE4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77587" y="400903"/>
            <a:ext cx="457200" cy="457200"/>
          </a:xfrm>
          <a:prstGeom prst="rect">
            <a:avLst/>
          </a:prstGeom>
        </p:spPr>
      </p:pic>
      <p:sp>
        <p:nvSpPr>
          <p:cNvPr id="23" name="Rectangle 22">
            <a:extLst>
              <a:ext uri="{FF2B5EF4-FFF2-40B4-BE49-F238E27FC236}">
                <a16:creationId xmlns:a16="http://schemas.microsoft.com/office/drawing/2014/main" id="{3FB9DD12-DFFC-48C3-8D0D-494106D8DE23}"/>
              </a:ext>
            </a:extLst>
          </p:cNvPr>
          <p:cNvSpPr/>
          <p:nvPr userDrawn="1"/>
        </p:nvSpPr>
        <p:spPr>
          <a:xfrm flipV="1">
            <a:off x="474663" y="1861170"/>
            <a:ext cx="11160124"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9334B953-DE6E-43E6-99AD-CF6C4DDB8877}"/>
              </a:ext>
            </a:extLst>
          </p:cNvPr>
          <p:cNvCxnSpPr/>
          <p:nvPr userDrawn="1"/>
        </p:nvCxnSpPr>
        <p:spPr>
          <a:xfrm>
            <a:off x="474663" y="6456305"/>
            <a:ext cx="111601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 Placeholder 24">
            <a:extLst>
              <a:ext uri="{FF2B5EF4-FFF2-40B4-BE49-F238E27FC236}">
                <a16:creationId xmlns:a16="http://schemas.microsoft.com/office/drawing/2014/main" id="{8AAE0DCC-B8D6-4ECA-B96A-B95B76F09A25}"/>
              </a:ext>
            </a:extLst>
          </p:cNvPr>
          <p:cNvSpPr>
            <a:spLocks noGrp="1"/>
          </p:cNvSpPr>
          <p:nvPr>
            <p:ph type="body" sz="quarter" idx="13"/>
          </p:nvPr>
        </p:nvSpPr>
        <p:spPr>
          <a:xfrm>
            <a:off x="474663" y="1389363"/>
            <a:ext cx="10367962" cy="517525"/>
          </a:xfrm>
        </p:spPr>
        <p:txBody>
          <a:bodyPr/>
          <a:lstStyle>
            <a:lvl1pPr marL="0" indent="0">
              <a:buNone/>
              <a:defRPr>
                <a:solidFill>
                  <a:schemeClr val="bg1"/>
                </a:solidFill>
                <a:latin typeface="Poppins SemiBold" panose="00000700000000000000" pitchFamily="2" charset="0"/>
                <a:cs typeface="Poppins SemiBold" panose="00000700000000000000" pitchFamily="2" charset="0"/>
              </a:defRPr>
            </a:lvl1pPr>
          </a:lstStyle>
          <a:p>
            <a:pPr lvl="0"/>
            <a:endParaRPr lang="en-GB"/>
          </a:p>
        </p:txBody>
      </p:sp>
      <p:sp>
        <p:nvSpPr>
          <p:cNvPr id="27" name="Text Placeholder 47">
            <a:extLst>
              <a:ext uri="{FF2B5EF4-FFF2-40B4-BE49-F238E27FC236}">
                <a16:creationId xmlns:a16="http://schemas.microsoft.com/office/drawing/2014/main" id="{9DB97242-74C4-42D5-821A-6933CD1AA0F2}"/>
              </a:ext>
            </a:extLst>
          </p:cNvPr>
          <p:cNvSpPr>
            <a:spLocks noGrp="1"/>
          </p:cNvSpPr>
          <p:nvPr>
            <p:ph type="body" sz="quarter" idx="15"/>
          </p:nvPr>
        </p:nvSpPr>
        <p:spPr>
          <a:xfrm>
            <a:off x="474663" y="2151063"/>
            <a:ext cx="5387975" cy="4137025"/>
          </a:xfrm>
        </p:spPr>
        <p:txBody>
          <a:bodyPr>
            <a:normAutofit/>
          </a:bodyPr>
          <a:lstStyle>
            <a:lvl1pPr>
              <a:defRPr sz="1600">
                <a:solidFill>
                  <a:schemeClr val="bg1"/>
                </a:solidFill>
                <a:latin typeface="Poppins Light" panose="00000400000000000000" pitchFamily="2" charset="0"/>
                <a:cs typeface="Poppins Light" panose="00000400000000000000" pitchFamily="2" charset="0"/>
              </a:defRPr>
            </a:lvl1pPr>
            <a:lvl2pPr>
              <a:defRPr sz="1400">
                <a:solidFill>
                  <a:schemeClr val="bg1"/>
                </a:solidFill>
                <a:latin typeface="Poppins Light" panose="00000400000000000000" pitchFamily="2" charset="0"/>
                <a:cs typeface="Poppins Light" panose="00000400000000000000" pitchFamily="2" charset="0"/>
              </a:defRPr>
            </a:lvl2pPr>
            <a:lvl3pPr>
              <a:defRPr sz="1200">
                <a:solidFill>
                  <a:schemeClr val="bg1"/>
                </a:solidFill>
                <a:latin typeface="Poppins Light" panose="00000400000000000000" pitchFamily="2" charset="0"/>
                <a:cs typeface="Poppins Light" panose="00000400000000000000" pitchFamily="2" charset="0"/>
              </a:defRPr>
            </a:lvl3pPr>
            <a:lvl4pPr>
              <a:defRPr sz="1100">
                <a:solidFill>
                  <a:schemeClr val="bg1"/>
                </a:solidFill>
                <a:latin typeface="Poppins Light" panose="00000400000000000000" pitchFamily="2" charset="0"/>
                <a:cs typeface="Poppins Light" panose="00000400000000000000" pitchFamily="2" charset="0"/>
              </a:defRPr>
            </a:lvl4pPr>
            <a:lvl5pPr>
              <a:defRPr sz="1100">
                <a:solidFill>
                  <a:schemeClr val="bg1"/>
                </a:solidFill>
                <a:latin typeface="Poppins Light" panose="00000400000000000000" pitchFamily="2" charset="0"/>
                <a:cs typeface="Poppins Light" panose="000004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9509719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591D45-C02B-4E5E-B10E-739D1B922684}"/>
              </a:ext>
            </a:extLst>
          </p:cNvPr>
          <p:cNvSpPr/>
          <p:nvPr userDrawn="1"/>
        </p:nvSpPr>
        <p:spPr>
          <a:xfrm>
            <a:off x="10571" y="0"/>
            <a:ext cx="12192000" cy="6858000"/>
          </a:xfrm>
          <a:prstGeom prst="rect">
            <a:avLst/>
          </a:prstGeom>
          <a:solidFill>
            <a:srgbClr val="021D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descr="A picture containing text&#10;&#10;Description automatically generated">
            <a:extLst>
              <a:ext uri="{FF2B5EF4-FFF2-40B4-BE49-F238E27FC236}">
                <a16:creationId xmlns:a16="http://schemas.microsoft.com/office/drawing/2014/main" id="{CDA08EA9-2434-474B-A1F8-AB407FD81B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3724" y="-307497"/>
            <a:ext cx="3794222" cy="1946515"/>
          </a:xfrm>
          <a:prstGeom prst="rect">
            <a:avLst/>
          </a:prstGeom>
        </p:spPr>
      </p:pic>
      <p:pic>
        <p:nvPicPr>
          <p:cNvPr id="44" name="Graphic 43">
            <a:extLst>
              <a:ext uri="{FF2B5EF4-FFF2-40B4-BE49-F238E27FC236}">
                <a16:creationId xmlns:a16="http://schemas.microsoft.com/office/drawing/2014/main" id="{AFCDDB79-00C7-404C-BCC5-E466CFA8CDD4}"/>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0020"/>
          <a:stretch/>
        </p:blipFill>
        <p:spPr>
          <a:xfrm>
            <a:off x="10572" y="1946515"/>
            <a:ext cx="10970466" cy="5678985"/>
          </a:xfrm>
          <a:prstGeom prst="rect">
            <a:avLst/>
          </a:prstGeom>
        </p:spPr>
      </p:pic>
    </p:spTree>
    <p:extLst>
      <p:ext uri="{BB962C8B-B14F-4D97-AF65-F5344CB8AC3E}">
        <p14:creationId xmlns:p14="http://schemas.microsoft.com/office/powerpoint/2010/main" val="1112288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4C2B0-B2DB-44DC-9E75-597989AD7B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04797ED-8C4B-4040-93B6-90F939384A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7519834-AD24-4383-92AC-9DADB5755C61}"/>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5" name="Footer Placeholder 4">
            <a:extLst>
              <a:ext uri="{FF2B5EF4-FFF2-40B4-BE49-F238E27FC236}">
                <a16:creationId xmlns:a16="http://schemas.microsoft.com/office/drawing/2014/main" id="{0650B624-4333-40CC-BEB7-70D2041D95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60521A-FF05-4CD9-8798-FA42873020EC}"/>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176856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3B3AC-C2BE-4902-854C-FB15C62402F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BACC49E-630D-4F62-A066-D6614B6CBD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737B73-66C0-4707-8A35-D0BCD5A0C109}"/>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5" name="Footer Placeholder 4">
            <a:extLst>
              <a:ext uri="{FF2B5EF4-FFF2-40B4-BE49-F238E27FC236}">
                <a16:creationId xmlns:a16="http://schemas.microsoft.com/office/drawing/2014/main" id="{F84AFCB0-A96E-4041-84C9-A1570D008C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3EFF36-B7E9-4CEF-8370-662CC9CFCEFB}"/>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2384746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EA6DA-5AC3-4D08-AC83-D3BC1B1A2A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FC15F83-B840-429F-9FEF-B59805880A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A6542D-D17F-4C22-BCA7-7F9F15145A9F}"/>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5" name="Footer Placeholder 4">
            <a:extLst>
              <a:ext uri="{FF2B5EF4-FFF2-40B4-BE49-F238E27FC236}">
                <a16:creationId xmlns:a16="http://schemas.microsoft.com/office/drawing/2014/main" id="{8D8320F3-A3D3-4DDE-9209-84F93C37B7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5D398E-8A6C-46E7-B97E-669990773B1A}"/>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1578818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A411F-35C1-4BCE-9D29-3C662E98B53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93A907-BCF2-4506-9671-6F057093A5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E908964-B06D-450E-B564-06C1C4F66A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5EC6DE9-F113-474C-B420-0592F47A10DD}"/>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6" name="Footer Placeholder 5">
            <a:extLst>
              <a:ext uri="{FF2B5EF4-FFF2-40B4-BE49-F238E27FC236}">
                <a16:creationId xmlns:a16="http://schemas.microsoft.com/office/drawing/2014/main" id="{006A7E2D-992D-472C-89C5-A568AF01249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9A8C3B1-5B92-4BCA-8038-45DB9637E2B9}"/>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2077083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2618B-13B8-49FF-ADC0-926CB2A8711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02DD8A0-C3AD-4945-BA62-38ED6B9B99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1028E1-F6AC-44E9-98AA-613C81C7F0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E1096FB-79C7-43B4-B35D-D08911932A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B6A69D-9490-4FF8-8AA1-9F22144003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3B54F4C-CF4E-4567-A0B4-AD17C2EBDA5B}"/>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8" name="Footer Placeholder 7">
            <a:extLst>
              <a:ext uri="{FF2B5EF4-FFF2-40B4-BE49-F238E27FC236}">
                <a16:creationId xmlns:a16="http://schemas.microsoft.com/office/drawing/2014/main" id="{3B18FC71-4739-4BCC-90F3-6AE371A5A74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EE3DF99-9F92-4926-9244-076F5FFFB553}"/>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9956097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E1C2-AE48-4560-8C7C-1BE7FF01396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20E89A5-19BD-423D-A4F4-AC6702F28EB4}"/>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4" name="Footer Placeholder 3">
            <a:extLst>
              <a:ext uri="{FF2B5EF4-FFF2-40B4-BE49-F238E27FC236}">
                <a16:creationId xmlns:a16="http://schemas.microsoft.com/office/drawing/2014/main" id="{C2746670-99CF-4494-98BA-2E4D39B5D79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E35E097-4342-42CB-AA23-AADE72838C11}"/>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3939643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DF7C8B-F2B2-482C-911D-2FF6EE80CEE1}"/>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3" name="Footer Placeholder 2">
            <a:extLst>
              <a:ext uri="{FF2B5EF4-FFF2-40B4-BE49-F238E27FC236}">
                <a16:creationId xmlns:a16="http://schemas.microsoft.com/office/drawing/2014/main" id="{A00E1D47-7BD0-438C-838B-AC09AF507DC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2922CA2-9B61-415A-AC7F-773456AFD9BA}"/>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20960676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D240-3D93-4C85-8DDF-A50263E6E9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9702D7A-D6D1-487B-B0DD-C23DAE4668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5A71201-7217-4D87-8DED-65C31F2AD6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33069A-C8BE-4F29-B95E-F04DDEB9079A}"/>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6" name="Footer Placeholder 5">
            <a:extLst>
              <a:ext uri="{FF2B5EF4-FFF2-40B4-BE49-F238E27FC236}">
                <a16:creationId xmlns:a16="http://schemas.microsoft.com/office/drawing/2014/main" id="{C7E952DC-6B92-4162-8241-AA00546ADB9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6E72CB-BC7B-4415-80A1-A3AC1BAD4BE4}"/>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40522604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3F4BA-A0A1-4A52-BA4B-675759D707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179D0C7-0704-41DB-A17D-AA2DFE0AF2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69AD6FA-B72E-4D42-9A76-D11D99109A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5BCEFE-44C3-4142-9CFC-58CD4DA99A22}"/>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6" name="Footer Placeholder 5">
            <a:extLst>
              <a:ext uri="{FF2B5EF4-FFF2-40B4-BE49-F238E27FC236}">
                <a16:creationId xmlns:a16="http://schemas.microsoft.com/office/drawing/2014/main" id="{ADCC7C83-4FAD-4B26-93CB-A577583D982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A117A79-D0BD-4043-87E0-ADD4C3C49D17}"/>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1293959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8938F-E3D8-4FE3-ACB8-2D23F367B89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6F4DBE1-CF23-4BB5-B231-D477D2BED8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89563C-AF8D-47F5-86F1-585F45AB995E}"/>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5" name="Footer Placeholder 4">
            <a:extLst>
              <a:ext uri="{FF2B5EF4-FFF2-40B4-BE49-F238E27FC236}">
                <a16:creationId xmlns:a16="http://schemas.microsoft.com/office/drawing/2014/main" id="{39C9F9DC-9A4F-48A4-80E2-EAEEECAFA4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188803-1E24-47BE-ABBF-82A9C075BA1D}"/>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278734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544770-3968-4D17-B670-2E6D42795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56EE70D-3F98-4DB4-94BF-3D85C73D7D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384288-54FD-4EA8-A406-6D7A4702D213}"/>
              </a:ext>
            </a:extLst>
          </p:cNvPr>
          <p:cNvSpPr>
            <a:spLocks noGrp="1"/>
          </p:cNvSpPr>
          <p:nvPr>
            <p:ph type="dt" sz="half" idx="10"/>
          </p:nvPr>
        </p:nvSpPr>
        <p:spPr/>
        <p:txBody>
          <a:bodyPr/>
          <a:lstStyle/>
          <a:p>
            <a:fld id="{593DD1DA-E715-487A-A14C-F180D42656A9}" type="datetimeFigureOut">
              <a:rPr lang="en-GB" smtClean="0"/>
              <a:t>25/11/2024</a:t>
            </a:fld>
            <a:endParaRPr lang="en-GB"/>
          </a:p>
        </p:txBody>
      </p:sp>
      <p:sp>
        <p:nvSpPr>
          <p:cNvPr id="5" name="Footer Placeholder 4">
            <a:extLst>
              <a:ext uri="{FF2B5EF4-FFF2-40B4-BE49-F238E27FC236}">
                <a16:creationId xmlns:a16="http://schemas.microsoft.com/office/drawing/2014/main" id="{CA1132E5-D38B-4F1A-B0DD-1DF8790319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F3F045-FFE4-42D1-98DD-EE085C9D8CA1}"/>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16440864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E329-C2E9-4CE7-BF6C-98D98DD4F2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A941CBD-FD06-4F7D-B7AF-CB3D4745A4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7E1871B-8EA8-4F89-9340-D14FFB87D6EF}"/>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5" name="Footer Placeholder 4">
            <a:extLst>
              <a:ext uri="{FF2B5EF4-FFF2-40B4-BE49-F238E27FC236}">
                <a16:creationId xmlns:a16="http://schemas.microsoft.com/office/drawing/2014/main" id="{30C22F62-1883-4B2C-BAAD-4AAFD4054D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5B48CC-9FEE-4846-99AC-9F2BE4AA8F2E}"/>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2789084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AF383-C879-474E-9E5F-80309CE110A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B575D51-E09C-4CAA-99EA-93EBF42808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E8E822-68E1-431E-8D8C-09CE648DEF59}"/>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5" name="Footer Placeholder 4">
            <a:extLst>
              <a:ext uri="{FF2B5EF4-FFF2-40B4-BE49-F238E27FC236}">
                <a16:creationId xmlns:a16="http://schemas.microsoft.com/office/drawing/2014/main" id="{06C9F385-54CB-4D40-96CA-BF32586DE8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A37B22-8C98-4AEB-9E3D-DDF95D8C2E92}"/>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3361062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8F31-A883-4DB5-9C9C-ABEBA9EB31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2BCA505-0504-4B2D-8264-B5237CFD72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0DB468-ACD5-418D-97FF-2B536AEE8C97}"/>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5" name="Footer Placeholder 4">
            <a:extLst>
              <a:ext uri="{FF2B5EF4-FFF2-40B4-BE49-F238E27FC236}">
                <a16:creationId xmlns:a16="http://schemas.microsoft.com/office/drawing/2014/main" id="{D642BE0B-2E64-46FA-91A7-26D06283B0C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AB41E4-E350-48DC-89A3-DB4D03F3893B}"/>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130298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F5AE3-D77A-43C0-A152-2C682AD956F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81BA80B-AF50-4CCD-B4EB-47A51483F9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908B9D7-88D3-45B1-8002-233BA425F2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4A8B52A-C28F-405B-AB1F-5F39DCE2B26B}"/>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6" name="Footer Placeholder 5">
            <a:extLst>
              <a:ext uri="{FF2B5EF4-FFF2-40B4-BE49-F238E27FC236}">
                <a16:creationId xmlns:a16="http://schemas.microsoft.com/office/drawing/2014/main" id="{A47B136D-0AB0-42B4-B961-12011FFF435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5ABF6B-A002-4511-B3BF-33B4A0D58597}"/>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22563814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F1A46-6E66-4ACF-A295-3610CA48A89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2E973AA-065A-42E7-8408-9729DE5C1A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D2670-B751-454D-8D4C-27618F2C82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50F2804-208A-40C6-9B47-69F876B8A1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78A8C5-03CF-4AB6-BF05-D528F3B0FB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9C7B373-9766-41E3-B8F3-B8A52AB8419D}"/>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8" name="Footer Placeholder 7">
            <a:extLst>
              <a:ext uri="{FF2B5EF4-FFF2-40B4-BE49-F238E27FC236}">
                <a16:creationId xmlns:a16="http://schemas.microsoft.com/office/drawing/2014/main" id="{F84EACBA-95B7-4248-96A6-D9172A2E33B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CCA77B2-0F25-49E8-BE32-3D0299572953}"/>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13752491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16437-2029-43BE-83BE-E85723C6CE6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73422D4-2E4D-4690-8512-080576AAB690}"/>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4" name="Footer Placeholder 3">
            <a:extLst>
              <a:ext uri="{FF2B5EF4-FFF2-40B4-BE49-F238E27FC236}">
                <a16:creationId xmlns:a16="http://schemas.microsoft.com/office/drawing/2014/main" id="{50CC8FCD-F56C-4311-894A-BF4F6A3E34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0EA51E3-6EB1-4F4B-8240-318C3188184F}"/>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28135973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7509B6-DC99-4939-A338-AA14348C97A5}"/>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3" name="Footer Placeholder 2">
            <a:extLst>
              <a:ext uri="{FF2B5EF4-FFF2-40B4-BE49-F238E27FC236}">
                <a16:creationId xmlns:a16="http://schemas.microsoft.com/office/drawing/2014/main" id="{577B6DA7-A3FD-44C1-8168-74E896F433E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F76F37-F9B6-4DD7-BFB4-506BE5D6AA7F}"/>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32511762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6429B-4402-43B2-B965-A97BB914A4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810B220-0D37-45B5-9740-C5AFA80842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E7DF65F-F8C3-4475-BE95-53D175AE60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DFF703-8EE3-4FC2-A7CC-7A1F36500245}"/>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6" name="Footer Placeholder 5">
            <a:extLst>
              <a:ext uri="{FF2B5EF4-FFF2-40B4-BE49-F238E27FC236}">
                <a16:creationId xmlns:a16="http://schemas.microsoft.com/office/drawing/2014/main" id="{57EBEE30-DBCE-4B74-A1B1-90F02013EC9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10FD478-6B17-4064-AC02-674296A4C3BE}"/>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8629888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8BACC-1313-42CE-A0CD-2747198999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BC32873-F05E-4163-8CE2-873CD8BD7D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F2ABDDE-ACCD-4B75-BF0F-B594AAA64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BB8EDF-B325-4DD8-8484-4B6EDAD3B42F}"/>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6" name="Footer Placeholder 5">
            <a:extLst>
              <a:ext uri="{FF2B5EF4-FFF2-40B4-BE49-F238E27FC236}">
                <a16:creationId xmlns:a16="http://schemas.microsoft.com/office/drawing/2014/main" id="{91AAE3C6-BCE1-4E49-853E-0B39B083461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8B6F47-5242-4889-94CF-5CA4F873DE81}"/>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16067634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BBBD1-B17F-4E58-A587-47C19C445D0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E749CF-704E-4B35-9239-8A996D1136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4964B7-E179-40EB-8E3C-21AAB5638286}"/>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5" name="Footer Placeholder 4">
            <a:extLst>
              <a:ext uri="{FF2B5EF4-FFF2-40B4-BE49-F238E27FC236}">
                <a16:creationId xmlns:a16="http://schemas.microsoft.com/office/drawing/2014/main" id="{AB35788A-351F-47D5-B503-15D41B37722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52C1A8-427F-4A91-B652-83AF7A7C2F8A}"/>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4418885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E87122-1451-4370-896C-0396BF8DFE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75CF7B-4F63-4CC8-B794-9180F1E3B1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38D4B11-8319-458B-816C-1E287AE783CA}"/>
              </a:ext>
            </a:extLst>
          </p:cNvPr>
          <p:cNvSpPr>
            <a:spLocks noGrp="1"/>
          </p:cNvSpPr>
          <p:nvPr>
            <p:ph type="dt" sz="half" idx="10"/>
          </p:nvPr>
        </p:nvSpPr>
        <p:spPr/>
        <p:txBody>
          <a:bodyPr/>
          <a:lstStyle/>
          <a:p>
            <a:fld id="{8B57E1C2-DDC9-4BEF-8400-1C06BF5B0C62}" type="datetimeFigureOut">
              <a:rPr lang="en-GB" smtClean="0"/>
              <a:t>25/11/2024</a:t>
            </a:fld>
            <a:endParaRPr lang="en-GB"/>
          </a:p>
        </p:txBody>
      </p:sp>
      <p:sp>
        <p:nvSpPr>
          <p:cNvPr id="5" name="Footer Placeholder 4">
            <a:extLst>
              <a:ext uri="{FF2B5EF4-FFF2-40B4-BE49-F238E27FC236}">
                <a16:creationId xmlns:a16="http://schemas.microsoft.com/office/drawing/2014/main" id="{E7E288EB-FC60-46C4-B0D9-E3FAD5589F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2C37B8-5C26-413D-887D-8D5ACA733A33}"/>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47313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385CEE-929F-4006-9DE0-0F885DA877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05FD839-CD07-463F-AB26-AB69FBBA49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FCEEC2A-72F6-4058-BFCF-4632D564B2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3DD1DA-E715-487A-A14C-F180D42656A9}" type="datetimeFigureOut">
              <a:rPr lang="en-GB" smtClean="0"/>
              <a:t>25/11/2024</a:t>
            </a:fld>
            <a:endParaRPr lang="en-GB"/>
          </a:p>
        </p:txBody>
      </p:sp>
      <p:sp>
        <p:nvSpPr>
          <p:cNvPr id="5" name="Footer Placeholder 4">
            <a:extLst>
              <a:ext uri="{FF2B5EF4-FFF2-40B4-BE49-F238E27FC236}">
                <a16:creationId xmlns:a16="http://schemas.microsoft.com/office/drawing/2014/main" id="{BF4DEFF8-27E0-4F23-9CC9-5F7FEA9FC4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3B0A50E-A13F-4DB3-87C9-DC8CBA5587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2B6A1C-F532-41C6-A81B-D7E61540464B}" type="slidenum">
              <a:rPr lang="en-GB" smtClean="0"/>
              <a:t>‹#›</a:t>
            </a:fld>
            <a:endParaRPr lang="en-GB"/>
          </a:p>
        </p:txBody>
      </p:sp>
    </p:spTree>
    <p:extLst>
      <p:ext uri="{BB962C8B-B14F-4D97-AF65-F5344CB8AC3E}">
        <p14:creationId xmlns:p14="http://schemas.microsoft.com/office/powerpoint/2010/main" val="131699489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60" r:id="rId5"/>
    <p:sldLayoutId id="2147483662" r:id="rId6"/>
    <p:sldLayoutId id="2147483661" r:id="rId7"/>
    <p:sldLayoutId id="2147483675" r:id="rId8"/>
    <p:sldLayoutId id="2147483649" r:id="rId9"/>
    <p:sldLayoutId id="2147483650" r:id="rId10"/>
    <p:sldLayoutId id="2147483651" r:id="rId11"/>
    <p:sldLayoutId id="2147483652" r:id="rId12"/>
    <p:sldLayoutId id="2147483653" r:id="rId13"/>
    <p:sldLayoutId id="2147483654" r:id="rId14"/>
    <p:sldLayoutId id="2147483655" r:id="rId15"/>
    <p:sldLayoutId id="2147483656" r:id="rId16"/>
    <p:sldLayoutId id="2147483657" r:id="rId17"/>
    <p:sldLayoutId id="2147483658" r:id="rId18"/>
    <p:sldLayoutId id="2147483659"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0DB179-4FC7-4D2B-A845-4B3C142A88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3DE41D5-6FCC-4A6B-AC73-5EB4141C6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A86190-6F0B-45FF-8536-062BD32D57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57E1C2-DDC9-4BEF-8400-1C06BF5B0C62}" type="datetimeFigureOut">
              <a:rPr lang="en-GB" smtClean="0"/>
              <a:t>25/11/2024</a:t>
            </a:fld>
            <a:endParaRPr lang="en-GB"/>
          </a:p>
        </p:txBody>
      </p:sp>
      <p:sp>
        <p:nvSpPr>
          <p:cNvPr id="5" name="Footer Placeholder 4">
            <a:extLst>
              <a:ext uri="{FF2B5EF4-FFF2-40B4-BE49-F238E27FC236}">
                <a16:creationId xmlns:a16="http://schemas.microsoft.com/office/drawing/2014/main" id="{E97F34F2-85A0-4C38-9120-E65066DC31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89F752A-33EB-4279-B0EA-6C2F419340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180A7D-2850-4397-87A3-BA67CBA76817}" type="slidenum">
              <a:rPr lang="en-GB" smtClean="0"/>
              <a:t>‹#›</a:t>
            </a:fld>
            <a:endParaRPr lang="en-GB"/>
          </a:p>
        </p:txBody>
      </p:sp>
    </p:spTree>
    <p:extLst>
      <p:ext uri="{BB962C8B-B14F-4D97-AF65-F5344CB8AC3E}">
        <p14:creationId xmlns:p14="http://schemas.microsoft.com/office/powerpoint/2010/main" val="165080679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4.xml"/><Relationship Id="rId5" Type="http://schemas.openxmlformats.org/officeDocument/2006/relationships/image" Target="../media/image18.png"/><Relationship Id="rId4" Type="http://schemas.openxmlformats.org/officeDocument/2006/relationships/hyperlink" Target="https://www.gov.uk/government/statistics/cyber-security-breaches-survey-2024/cyber-security-breaches-survey-2024"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5.xml"/><Relationship Id="rId5" Type="http://schemas.openxmlformats.org/officeDocument/2006/relationships/image" Target="../media/image19.png"/><Relationship Id="rId4" Type="http://schemas.openxmlformats.org/officeDocument/2006/relationships/hyperlink" Target="https://www.gov.uk/government/statistics/cyber-security-breaches-survey-2024/cyber-security-breaches-survey-2024"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67088A2B-3A2D-4B22-A189-84BF3EC6378F}"/>
              </a:ext>
            </a:extLst>
          </p:cNvPr>
          <p:cNvSpPr txBox="1">
            <a:spLocks/>
          </p:cNvSpPr>
          <p:nvPr/>
        </p:nvSpPr>
        <p:spPr>
          <a:xfrm>
            <a:off x="485808" y="3118341"/>
            <a:ext cx="7237165" cy="25192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3600" dirty="0">
                <a:solidFill>
                  <a:schemeClr val="bg1"/>
                </a:solidFill>
                <a:latin typeface="Poppins SemiBold" panose="00000700000000000000" pitchFamily="2" charset="0"/>
                <a:cs typeface="Poppins SemiBold" panose="00000700000000000000" pitchFamily="2" charset="0"/>
              </a:rPr>
              <a:t>An introduction to cyber security for board members</a:t>
            </a:r>
            <a:br>
              <a:rPr lang="en-GB" sz="2400" dirty="0">
                <a:solidFill>
                  <a:schemeClr val="bg1"/>
                </a:solidFill>
                <a:latin typeface="Poppins SemiBold" panose="00000700000000000000" pitchFamily="2" charset="0"/>
                <a:cs typeface="Poppins SemiBold" panose="00000700000000000000" pitchFamily="2" charset="0"/>
              </a:rPr>
            </a:br>
            <a:br>
              <a:rPr lang="en-GB" sz="2400" dirty="0">
                <a:solidFill>
                  <a:schemeClr val="bg1"/>
                </a:solidFill>
                <a:latin typeface="Poppins SemiBold" panose="00000700000000000000" pitchFamily="2" charset="0"/>
                <a:cs typeface="Poppins SemiBold" panose="00000700000000000000" pitchFamily="2" charset="0"/>
              </a:rPr>
            </a:br>
            <a:br>
              <a:rPr lang="en-GB" sz="2400" b="0" dirty="0">
                <a:solidFill>
                  <a:schemeClr val="bg1"/>
                </a:solidFill>
                <a:latin typeface="Poppins SemiBold" panose="00000700000000000000" pitchFamily="2" charset="0"/>
                <a:cs typeface="Poppins SemiBold" panose="00000700000000000000" pitchFamily="2" charset="0"/>
              </a:rPr>
            </a:br>
            <a:endParaRPr lang="en-GB" sz="2400" dirty="0">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199557208"/>
      </p:ext>
    </p:extLst>
  </p:cSld>
  <p:clrMapOvr>
    <a:masterClrMapping/>
  </p:clrMapOvr>
  <mc:AlternateContent xmlns:mc="http://schemas.openxmlformats.org/markup-compatibility/2006" xmlns:p14="http://schemas.microsoft.com/office/powerpoint/2010/main">
    <mc:Choice Requires="p14">
      <p:transition spd="slow" p14:dur="2000" advTm="46246"/>
    </mc:Choice>
    <mc:Fallback xmlns="">
      <p:transition spd="slow" advTm="4624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B24629-4EC2-4BB8-A148-FCF15C6EBDE4}"/>
              </a:ext>
            </a:extLst>
          </p:cNvPr>
          <p:cNvSpPr>
            <a:spLocks noGrp="1"/>
          </p:cNvSpPr>
          <p:nvPr>
            <p:ph type="body" sz="quarter" idx="13"/>
          </p:nvPr>
        </p:nvSpPr>
        <p:spPr/>
        <p:txBody>
          <a:bodyPr>
            <a:normAutofit/>
          </a:bodyPr>
          <a:lstStyle/>
          <a:p>
            <a:pPr marL="0" indent="0">
              <a:buNone/>
            </a:pPr>
            <a:r>
              <a:rPr lang="en-GB" sz="2400" b="1" dirty="0"/>
              <a:t>Helping to make the UK the safest place to live and work online </a:t>
            </a:r>
          </a:p>
          <a:p>
            <a:endParaRPr lang="en-GB" sz="2400" dirty="0"/>
          </a:p>
        </p:txBody>
      </p:sp>
      <p:sp>
        <p:nvSpPr>
          <p:cNvPr id="21" name="Text Placeholder 20">
            <a:extLst>
              <a:ext uri="{FF2B5EF4-FFF2-40B4-BE49-F238E27FC236}">
                <a16:creationId xmlns:a16="http://schemas.microsoft.com/office/drawing/2014/main" id="{3F83484E-20A7-484E-85F0-8700BEC1AC95}"/>
              </a:ext>
            </a:extLst>
          </p:cNvPr>
          <p:cNvSpPr>
            <a:spLocks noGrp="1"/>
          </p:cNvSpPr>
          <p:nvPr>
            <p:ph type="body" sz="quarter" idx="15"/>
          </p:nvPr>
        </p:nvSpPr>
        <p:spPr>
          <a:xfrm>
            <a:off x="474662" y="2663752"/>
            <a:ext cx="4473855" cy="3046766"/>
          </a:xfrm>
        </p:spPr>
        <p:txBody>
          <a:bodyPr vert="horz" lIns="91440" tIns="45720" rIns="91440" bIns="45720" rtlCol="0" anchor="t">
            <a:normAutofit/>
          </a:bodyPr>
          <a:lstStyle/>
          <a:p>
            <a:pPr marL="0" indent="0">
              <a:lnSpc>
                <a:spcPct val="100000"/>
              </a:lnSpc>
              <a:buNone/>
            </a:pPr>
            <a:r>
              <a:rPr lang="en-GB" b="1" dirty="0"/>
              <a:t>The NCSC:</a:t>
            </a:r>
          </a:p>
          <a:p>
            <a:pPr marL="342900" indent="-342900" fontAlgn="base">
              <a:lnSpc>
                <a:spcPct val="100000"/>
              </a:lnSpc>
              <a:buFont typeface="Arial" panose="020B0604020202020204" pitchFamily="34" charset="0"/>
              <a:buChar char="•"/>
            </a:pPr>
            <a:r>
              <a:rPr lang="en-GB" sz="1400" b="1" dirty="0">
                <a:latin typeface="Poppins Light"/>
              </a:rPr>
              <a:t>Understands</a:t>
            </a:r>
            <a:r>
              <a:rPr lang="en-GB" sz="1400" dirty="0">
                <a:latin typeface="Poppins Light"/>
              </a:rPr>
              <a:t> cyber </a:t>
            </a:r>
            <a:r>
              <a:rPr lang="en-GB" sz="1400">
                <a:latin typeface="Poppins Light"/>
              </a:rPr>
              <a:t>security and</a:t>
            </a:r>
            <a:r>
              <a:rPr lang="en-GB" sz="1400" dirty="0">
                <a:latin typeface="Poppins Light"/>
              </a:rPr>
              <a:t> distils this knowledge into practical guidance that we make available to all.</a:t>
            </a:r>
          </a:p>
          <a:p>
            <a:pPr marL="342900" indent="-342900" fontAlgn="base">
              <a:lnSpc>
                <a:spcPct val="100000"/>
              </a:lnSpc>
              <a:buFont typeface="Arial" panose="020B0604020202020204" pitchFamily="34" charset="0"/>
              <a:buChar char="•"/>
            </a:pPr>
            <a:r>
              <a:rPr lang="en-GB" sz="1400" b="1" dirty="0">
                <a:latin typeface="Poppins Light"/>
              </a:rPr>
              <a:t>Responds</a:t>
            </a:r>
            <a:r>
              <a:rPr lang="en-GB" sz="1400" dirty="0">
                <a:latin typeface="Poppins Light"/>
              </a:rPr>
              <a:t> to cyber security incidents to reduce the harm they cause to organisations and the wider UK.</a:t>
            </a:r>
          </a:p>
          <a:p>
            <a:pPr marL="342900" indent="-342900" fontAlgn="base">
              <a:lnSpc>
                <a:spcPct val="100000"/>
              </a:lnSpc>
              <a:buFont typeface="Arial" panose="020B0604020202020204" pitchFamily="34" charset="0"/>
              <a:buChar char="•"/>
            </a:pPr>
            <a:r>
              <a:rPr lang="en-GB" sz="1400" dirty="0">
                <a:latin typeface="Poppins Light"/>
              </a:rPr>
              <a:t>Uses industry and academic expertise to </a:t>
            </a:r>
            <a:r>
              <a:rPr lang="en-GB" sz="1400" b="1" dirty="0">
                <a:latin typeface="Poppins Light"/>
              </a:rPr>
              <a:t>nurture</a:t>
            </a:r>
            <a:r>
              <a:rPr lang="en-GB" sz="1400" dirty="0">
                <a:latin typeface="Poppins Light"/>
              </a:rPr>
              <a:t> the UK's cyber security capability.</a:t>
            </a:r>
          </a:p>
          <a:p>
            <a:pPr marL="342900" indent="-342900" fontAlgn="base">
              <a:lnSpc>
                <a:spcPct val="100000"/>
              </a:lnSpc>
              <a:buFont typeface="Arial" panose="020B0604020202020204" pitchFamily="34" charset="0"/>
              <a:buChar char="•"/>
            </a:pPr>
            <a:r>
              <a:rPr lang="en-GB" sz="1400" b="1" dirty="0">
                <a:latin typeface="Poppins Light"/>
              </a:rPr>
              <a:t>Reduces</a:t>
            </a:r>
            <a:r>
              <a:rPr lang="en-GB" sz="1400" dirty="0">
                <a:latin typeface="Poppins Light"/>
              </a:rPr>
              <a:t> risks to the UK by securing public and private sector </a:t>
            </a:r>
            <a:r>
              <a:rPr lang="en-GB" sz="1400">
                <a:latin typeface="Poppins Light"/>
              </a:rPr>
              <a:t>networks.</a:t>
            </a:r>
            <a:endParaRPr lang="en-GB" sz="1400" dirty="0"/>
          </a:p>
          <a:p>
            <a:pPr marL="0" indent="0">
              <a:lnSpc>
                <a:spcPct val="100000"/>
              </a:lnSpc>
              <a:buNone/>
            </a:pPr>
            <a:endParaRPr lang="en-GB" b="1" dirty="0"/>
          </a:p>
          <a:p>
            <a:pPr marL="0" indent="0">
              <a:lnSpc>
                <a:spcPct val="100000"/>
              </a:lnSpc>
              <a:buNone/>
            </a:pPr>
            <a:endParaRPr lang="en-GB" b="1" dirty="0"/>
          </a:p>
          <a:p>
            <a:pPr marL="0" indent="0">
              <a:lnSpc>
                <a:spcPct val="100000"/>
              </a:lnSpc>
              <a:buNone/>
            </a:pPr>
            <a:endParaRPr lang="en-GB" b="1" dirty="0"/>
          </a:p>
          <a:p>
            <a:pPr marL="0" indent="0">
              <a:lnSpc>
                <a:spcPct val="100000"/>
              </a:lnSpc>
              <a:buNone/>
            </a:pPr>
            <a:endParaRPr lang="en-GB" b="1" dirty="0"/>
          </a:p>
        </p:txBody>
      </p:sp>
      <p:pic>
        <p:nvPicPr>
          <p:cNvPr id="26" name="Picture 25">
            <a:extLst>
              <a:ext uri="{FF2B5EF4-FFF2-40B4-BE49-F238E27FC236}">
                <a16:creationId xmlns:a16="http://schemas.microsoft.com/office/drawing/2014/main" id="{3499FD0E-D31A-48C2-85D6-5712789FEF53}"/>
              </a:ext>
            </a:extLst>
          </p:cNvPr>
          <p:cNvPicPr>
            <a:picLocks noChangeAspect="1"/>
          </p:cNvPicPr>
          <p:nvPr/>
        </p:nvPicPr>
        <p:blipFill>
          <a:blip r:embed="rId3"/>
          <a:stretch>
            <a:fillRect/>
          </a:stretch>
        </p:blipFill>
        <p:spPr>
          <a:xfrm>
            <a:off x="6012436" y="2663751"/>
            <a:ext cx="5634777" cy="2836945"/>
          </a:xfrm>
          <a:prstGeom prst="rect">
            <a:avLst/>
          </a:prstGeom>
        </p:spPr>
      </p:pic>
      <p:sp>
        <p:nvSpPr>
          <p:cNvPr id="25" name="Graphic 10">
            <a:extLst>
              <a:ext uri="{FF2B5EF4-FFF2-40B4-BE49-F238E27FC236}">
                <a16:creationId xmlns:a16="http://schemas.microsoft.com/office/drawing/2014/main" id="{046ACD71-4E77-4D0C-A091-424B6CB93BC5}"/>
              </a:ext>
            </a:extLst>
          </p:cNvPr>
          <p:cNvSpPr/>
          <p:nvPr/>
        </p:nvSpPr>
        <p:spPr>
          <a:xfrm>
            <a:off x="7956698" y="2303161"/>
            <a:ext cx="3839455" cy="3839455"/>
          </a:xfrm>
          <a:custGeom>
            <a:avLst/>
            <a:gdLst>
              <a:gd name="connsiteX0" fmla="*/ 0 w 3890964"/>
              <a:gd name="connsiteY0" fmla="*/ 0 h 3890964"/>
              <a:gd name="connsiteX1" fmla="*/ 1945450 w 3890964"/>
              <a:gd name="connsiteY1" fmla="*/ 1945450 h 3890964"/>
              <a:gd name="connsiteX2" fmla="*/ 0 w 3890964"/>
              <a:gd name="connsiteY2" fmla="*/ 3890965 h 3890964"/>
              <a:gd name="connsiteX3" fmla="*/ 1945450 w 3890964"/>
              <a:gd name="connsiteY3" fmla="*/ 3890965 h 3890964"/>
              <a:gd name="connsiteX4" fmla="*/ 3890965 w 3890964"/>
              <a:gd name="connsiteY4" fmla="*/ 1945450 h 3890964"/>
              <a:gd name="connsiteX5" fmla="*/ 1945450 w 3890964"/>
              <a:gd name="connsiteY5" fmla="*/ 0 h 389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0964" h="3890964">
                <a:moveTo>
                  <a:pt x="0" y="0"/>
                </a:moveTo>
                <a:lnTo>
                  <a:pt x="1945450" y="1945450"/>
                </a:lnTo>
                <a:lnTo>
                  <a:pt x="0" y="3890965"/>
                </a:lnTo>
                <a:lnTo>
                  <a:pt x="1945450" y="3890965"/>
                </a:lnTo>
                <a:lnTo>
                  <a:pt x="3890965" y="1945450"/>
                </a:lnTo>
                <a:lnTo>
                  <a:pt x="1945450" y="0"/>
                </a:lnTo>
                <a:close/>
              </a:path>
            </a:pathLst>
          </a:custGeom>
          <a:solidFill>
            <a:schemeClr val="bg1">
              <a:lumMod val="95000"/>
              <a:alpha val="19000"/>
            </a:schemeClr>
          </a:solidFill>
          <a:ln w="6445" cap="flat">
            <a:noFill/>
            <a:prstDash val="solid"/>
            <a:miter/>
          </a:ln>
        </p:spPr>
        <p:txBody>
          <a:bodyPr rtlCol="0" anchor="ctr"/>
          <a:lstStyle/>
          <a:p>
            <a:endParaRPr lang="en-GB"/>
          </a:p>
        </p:txBody>
      </p:sp>
      <p:sp>
        <p:nvSpPr>
          <p:cNvPr id="27" name="Graphic 10">
            <a:extLst>
              <a:ext uri="{FF2B5EF4-FFF2-40B4-BE49-F238E27FC236}">
                <a16:creationId xmlns:a16="http://schemas.microsoft.com/office/drawing/2014/main" id="{A0C60E67-B310-464A-9315-7E5DA7118E0A}"/>
              </a:ext>
            </a:extLst>
          </p:cNvPr>
          <p:cNvSpPr/>
          <p:nvPr/>
        </p:nvSpPr>
        <p:spPr>
          <a:xfrm>
            <a:off x="5520233" y="2303161"/>
            <a:ext cx="3839455" cy="3839455"/>
          </a:xfrm>
          <a:custGeom>
            <a:avLst/>
            <a:gdLst>
              <a:gd name="connsiteX0" fmla="*/ 0 w 3890964"/>
              <a:gd name="connsiteY0" fmla="*/ 0 h 3890964"/>
              <a:gd name="connsiteX1" fmla="*/ 1945450 w 3890964"/>
              <a:gd name="connsiteY1" fmla="*/ 1945450 h 3890964"/>
              <a:gd name="connsiteX2" fmla="*/ 0 w 3890964"/>
              <a:gd name="connsiteY2" fmla="*/ 3890965 h 3890964"/>
              <a:gd name="connsiteX3" fmla="*/ 1945450 w 3890964"/>
              <a:gd name="connsiteY3" fmla="*/ 3890965 h 3890964"/>
              <a:gd name="connsiteX4" fmla="*/ 3890965 w 3890964"/>
              <a:gd name="connsiteY4" fmla="*/ 1945450 h 3890964"/>
              <a:gd name="connsiteX5" fmla="*/ 1945450 w 3890964"/>
              <a:gd name="connsiteY5" fmla="*/ 0 h 389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0964" h="3890964">
                <a:moveTo>
                  <a:pt x="0" y="0"/>
                </a:moveTo>
                <a:lnTo>
                  <a:pt x="1945450" y="1945450"/>
                </a:lnTo>
                <a:lnTo>
                  <a:pt x="0" y="3890965"/>
                </a:lnTo>
                <a:lnTo>
                  <a:pt x="1945450" y="3890965"/>
                </a:lnTo>
                <a:lnTo>
                  <a:pt x="3890965" y="1945450"/>
                </a:lnTo>
                <a:lnTo>
                  <a:pt x="1945450" y="0"/>
                </a:lnTo>
                <a:close/>
              </a:path>
            </a:pathLst>
          </a:custGeom>
          <a:solidFill>
            <a:schemeClr val="bg1">
              <a:lumMod val="95000"/>
              <a:alpha val="19000"/>
            </a:schemeClr>
          </a:solidFill>
          <a:ln w="6445" cap="flat">
            <a:noFill/>
            <a:prstDash val="solid"/>
            <a:miter/>
          </a:ln>
        </p:spPr>
        <p:txBody>
          <a:bodyPr rtlCol="0" anchor="ctr"/>
          <a:lstStyle/>
          <a:p>
            <a:endParaRPr lang="en-GB"/>
          </a:p>
        </p:txBody>
      </p:sp>
    </p:spTree>
    <p:extLst>
      <p:ext uri="{BB962C8B-B14F-4D97-AF65-F5344CB8AC3E}">
        <p14:creationId xmlns:p14="http://schemas.microsoft.com/office/powerpoint/2010/main" val="1391508851"/>
      </p:ext>
    </p:extLst>
  </p:cSld>
  <p:clrMapOvr>
    <a:masterClrMapping/>
  </p:clrMapOvr>
  <mc:AlternateContent xmlns:mc="http://schemas.openxmlformats.org/markup-compatibility/2006" xmlns:p14="http://schemas.microsoft.com/office/powerpoint/2010/main">
    <mc:Choice Requires="p14">
      <p:transition spd="slow" p14:dur="2000" advTm="51002"/>
    </mc:Choice>
    <mc:Fallback xmlns="">
      <p:transition spd="slow" advTm="5100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42772F-DE65-492E-A99A-413A42BB9C52}"/>
              </a:ext>
            </a:extLst>
          </p:cNvPr>
          <p:cNvSpPr>
            <a:spLocks noGrp="1"/>
          </p:cNvSpPr>
          <p:nvPr>
            <p:ph type="body" sz="quarter" idx="13"/>
          </p:nvPr>
        </p:nvSpPr>
        <p:spPr/>
        <p:txBody>
          <a:bodyPr/>
          <a:lstStyle/>
          <a:p>
            <a:r>
              <a:rPr lang="en-GB"/>
              <a:t>What is cyber security?</a:t>
            </a:r>
          </a:p>
        </p:txBody>
      </p:sp>
      <p:pic>
        <p:nvPicPr>
          <p:cNvPr id="5" name="Graphic 4">
            <a:extLst>
              <a:ext uri="{FF2B5EF4-FFF2-40B4-BE49-F238E27FC236}">
                <a16:creationId xmlns:a16="http://schemas.microsoft.com/office/drawing/2014/main" id="{B03782BE-D535-46F2-80A7-10A5DF2BF07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3892" y="2570828"/>
            <a:ext cx="9877941" cy="3884634"/>
          </a:xfrm>
          <a:prstGeom prst="rect">
            <a:avLst/>
          </a:prstGeom>
        </p:spPr>
      </p:pic>
    </p:spTree>
    <p:custDataLst>
      <p:tags r:id="rId1"/>
    </p:custDataLst>
    <p:extLst>
      <p:ext uri="{BB962C8B-B14F-4D97-AF65-F5344CB8AC3E}">
        <p14:creationId xmlns:p14="http://schemas.microsoft.com/office/powerpoint/2010/main" val="1743816689"/>
      </p:ext>
    </p:extLst>
  </p:cSld>
  <p:clrMapOvr>
    <a:masterClrMapping/>
  </p:clrMapOvr>
  <mc:AlternateContent xmlns:mc="http://schemas.openxmlformats.org/markup-compatibility/2006" xmlns:p14="http://schemas.microsoft.com/office/powerpoint/2010/main">
    <mc:Choice Requires="p14">
      <p:transition spd="slow" p14:dur="2000" advTm="20189"/>
    </mc:Choice>
    <mc:Fallback xmlns="">
      <p:transition spd="slow" advTm="2018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2E8CED-8233-4844-84EB-AB3D003F190F}"/>
              </a:ext>
            </a:extLst>
          </p:cNvPr>
          <p:cNvSpPr>
            <a:spLocks noGrp="1"/>
          </p:cNvSpPr>
          <p:nvPr>
            <p:ph type="body" sz="quarter" idx="13"/>
          </p:nvPr>
        </p:nvSpPr>
        <p:spPr/>
        <p:txBody>
          <a:bodyPr/>
          <a:lstStyle/>
          <a:p>
            <a:r>
              <a:rPr lang="en-GB">
                <a:solidFill>
                  <a:srgbClr val="B78B1E"/>
                </a:solidFill>
              </a:rPr>
              <a:t>Cyber security: </a:t>
            </a:r>
            <a:r>
              <a:rPr lang="en-GB"/>
              <a:t>a definition</a:t>
            </a:r>
          </a:p>
        </p:txBody>
      </p:sp>
      <p:sp>
        <p:nvSpPr>
          <p:cNvPr id="4" name="Text Placeholder 3">
            <a:extLst>
              <a:ext uri="{FF2B5EF4-FFF2-40B4-BE49-F238E27FC236}">
                <a16:creationId xmlns:a16="http://schemas.microsoft.com/office/drawing/2014/main" id="{0FA24578-337E-456B-B43C-30BDAC32E763}"/>
              </a:ext>
            </a:extLst>
          </p:cNvPr>
          <p:cNvSpPr>
            <a:spLocks noGrp="1"/>
          </p:cNvSpPr>
          <p:nvPr>
            <p:ph type="body" sz="quarter" idx="15"/>
          </p:nvPr>
        </p:nvSpPr>
        <p:spPr>
          <a:xfrm>
            <a:off x="1254951" y="2703086"/>
            <a:ext cx="3826993" cy="3500738"/>
          </a:xfrm>
        </p:spPr>
        <p:txBody>
          <a:bodyPr/>
          <a:lstStyle/>
          <a:p>
            <a:pPr marL="0" indent="0">
              <a:lnSpc>
                <a:spcPct val="100000"/>
              </a:lnSpc>
              <a:buNone/>
              <a:defRPr/>
            </a:pPr>
            <a:r>
              <a:rPr lang="en-GB" sz="1600" dirty="0">
                <a:solidFill>
                  <a:srgbClr val="B78B1E"/>
                </a:solidFill>
                <a:latin typeface="Poppins SemiBold" panose="00000700000000000000" pitchFamily="2" charset="0"/>
                <a:ea typeface="+mn-lt"/>
                <a:cs typeface="Poppins SemiBold" panose="00000700000000000000" pitchFamily="2" charset="0"/>
              </a:rPr>
              <a:t>“Cyber security </a:t>
            </a:r>
            <a:r>
              <a:rPr lang="en-GB" sz="1600" dirty="0">
                <a:latin typeface="Poppins SemiBold" panose="00000700000000000000" pitchFamily="2" charset="0"/>
                <a:ea typeface="+mn-lt"/>
                <a:cs typeface="Poppins SemiBold" panose="00000700000000000000" pitchFamily="2" charset="0"/>
              </a:rPr>
              <a:t>is how individuals and organisations reduce the risk of cyber attack.</a:t>
            </a:r>
          </a:p>
          <a:p>
            <a:pPr marL="0" indent="0">
              <a:lnSpc>
                <a:spcPct val="100000"/>
              </a:lnSpc>
              <a:buNone/>
              <a:defRPr/>
            </a:pPr>
            <a:r>
              <a:rPr lang="en-GB" sz="1600" dirty="0">
                <a:latin typeface="Poppins SemiBold" panose="00000700000000000000" pitchFamily="2" charset="0"/>
                <a:ea typeface="+mn-lt"/>
                <a:cs typeface="Poppins SemiBold" panose="00000700000000000000" pitchFamily="2" charset="0"/>
              </a:rPr>
              <a:t>Cyber security's core function is to protect the </a:t>
            </a:r>
            <a:r>
              <a:rPr lang="en-GB" sz="1600" b="1" dirty="0">
                <a:latin typeface="Poppins SemiBold" panose="00000700000000000000" pitchFamily="2" charset="0"/>
                <a:ea typeface="+mn-lt"/>
                <a:cs typeface="Poppins SemiBold" panose="00000700000000000000" pitchFamily="2" charset="0"/>
              </a:rPr>
              <a:t>devices</a:t>
            </a:r>
            <a:r>
              <a:rPr lang="en-GB" sz="1600" dirty="0">
                <a:latin typeface="Poppins SemiBold" panose="00000700000000000000" pitchFamily="2" charset="0"/>
                <a:ea typeface="+mn-lt"/>
                <a:cs typeface="Poppins SemiBold" panose="00000700000000000000" pitchFamily="2" charset="0"/>
              </a:rPr>
              <a:t> we all use (smartphones, laptops, tablets and computers) and the </a:t>
            </a:r>
            <a:r>
              <a:rPr lang="en-GB" sz="1600" b="1" dirty="0">
                <a:latin typeface="Poppins SemiBold" panose="00000700000000000000" pitchFamily="2" charset="0"/>
                <a:ea typeface="+mn-lt"/>
                <a:cs typeface="Poppins SemiBold" panose="00000700000000000000" pitchFamily="2" charset="0"/>
              </a:rPr>
              <a:t>services</a:t>
            </a:r>
            <a:r>
              <a:rPr lang="en-GB" sz="1600" dirty="0">
                <a:latin typeface="Poppins SemiBold" panose="00000700000000000000" pitchFamily="2" charset="0"/>
                <a:ea typeface="+mn-lt"/>
                <a:cs typeface="Poppins SemiBold" panose="00000700000000000000" pitchFamily="2" charset="0"/>
              </a:rPr>
              <a:t> we access - both online and at work - from theft or damage.</a:t>
            </a:r>
            <a:endParaRPr lang="en-US" sz="1600" dirty="0">
              <a:latin typeface="Poppins SemiBold" panose="00000700000000000000" pitchFamily="2" charset="0"/>
              <a:ea typeface="+mn-lt"/>
              <a:cs typeface="Poppins SemiBold" panose="00000700000000000000" pitchFamily="2" charset="0"/>
            </a:endParaRPr>
          </a:p>
          <a:p>
            <a:pPr marL="0" indent="0">
              <a:buNone/>
              <a:defRPr/>
            </a:pPr>
            <a:endParaRPr lang="en-GB" sz="1600" dirty="0">
              <a:solidFill>
                <a:schemeClr val="bg1"/>
              </a:solidFill>
              <a:ea typeface="+mn-lt"/>
              <a:cs typeface="+mn-lt"/>
            </a:endParaRPr>
          </a:p>
        </p:txBody>
      </p:sp>
      <p:pic>
        <p:nvPicPr>
          <p:cNvPr id="5" name="Graphic 4">
            <a:extLst>
              <a:ext uri="{FF2B5EF4-FFF2-40B4-BE49-F238E27FC236}">
                <a16:creationId xmlns:a16="http://schemas.microsoft.com/office/drawing/2014/main" id="{CED7CB8C-FB50-4AC7-8EC4-83D356B0BA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4663" y="2664657"/>
            <a:ext cx="670824" cy="388702"/>
          </a:xfrm>
          <a:prstGeom prst="rect">
            <a:avLst/>
          </a:prstGeom>
        </p:spPr>
      </p:pic>
      <p:sp>
        <p:nvSpPr>
          <p:cNvPr id="7" name="Text Placeholder 3">
            <a:extLst>
              <a:ext uri="{FF2B5EF4-FFF2-40B4-BE49-F238E27FC236}">
                <a16:creationId xmlns:a16="http://schemas.microsoft.com/office/drawing/2014/main" id="{F0CCA75D-7C7F-409E-B68E-2E392ADF81D6}"/>
              </a:ext>
            </a:extLst>
          </p:cNvPr>
          <p:cNvSpPr txBox="1">
            <a:spLocks/>
          </p:cNvSpPr>
          <p:nvPr/>
        </p:nvSpPr>
        <p:spPr>
          <a:xfrm>
            <a:off x="5752707" y="4356899"/>
            <a:ext cx="3993161" cy="19658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bg1"/>
                </a:solidFill>
                <a:latin typeface="Poppins Light" panose="00000400000000000000" pitchFamily="2" charset="0"/>
                <a:ea typeface="+mn-ea"/>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Poppins Light" panose="00000400000000000000" pitchFamily="2" charset="0"/>
                <a:ea typeface="+mn-ea"/>
                <a:cs typeface="Poppins Light" panose="000004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Poppins Light" panose="00000400000000000000" pitchFamily="2" charset="0"/>
                <a:ea typeface="+mn-ea"/>
                <a:cs typeface="Poppins Light" panose="000004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defRPr/>
            </a:pPr>
            <a:r>
              <a:rPr lang="en-GB" sz="1600" dirty="0">
                <a:latin typeface="Poppins SemiBold" panose="00000700000000000000" pitchFamily="2" charset="0"/>
                <a:ea typeface="+mn-lt"/>
                <a:cs typeface="Poppins SemiBold" panose="00000700000000000000" pitchFamily="2" charset="0"/>
              </a:rPr>
              <a:t>It's also about preventing unauthorised access to the vast amounts of </a:t>
            </a:r>
            <a:r>
              <a:rPr lang="en-GB" sz="1600" b="1" dirty="0">
                <a:latin typeface="Poppins SemiBold" panose="00000700000000000000" pitchFamily="2" charset="0"/>
                <a:ea typeface="+mn-lt"/>
                <a:cs typeface="Poppins SemiBold" panose="00000700000000000000" pitchFamily="2" charset="0"/>
              </a:rPr>
              <a:t>personal information</a:t>
            </a:r>
            <a:r>
              <a:rPr lang="en-GB" sz="1600" dirty="0">
                <a:latin typeface="Poppins SemiBold" panose="00000700000000000000" pitchFamily="2" charset="0"/>
                <a:ea typeface="+mn-lt"/>
                <a:cs typeface="Poppins SemiBold" panose="00000700000000000000" pitchFamily="2" charset="0"/>
              </a:rPr>
              <a:t> we store on these devices, and online.”</a:t>
            </a:r>
            <a:endParaRPr lang="en-GB" dirty="0">
              <a:latin typeface="Poppins SemiBold" panose="00000700000000000000" pitchFamily="2" charset="0"/>
              <a:ea typeface="+mn-lt"/>
              <a:cs typeface="Poppins SemiBold" panose="00000700000000000000" pitchFamily="2" charset="0"/>
            </a:endParaRPr>
          </a:p>
        </p:txBody>
      </p:sp>
      <p:pic>
        <p:nvPicPr>
          <p:cNvPr id="9" name="Graphic 8">
            <a:extLst>
              <a:ext uri="{FF2B5EF4-FFF2-40B4-BE49-F238E27FC236}">
                <a16:creationId xmlns:a16="http://schemas.microsoft.com/office/drawing/2014/main" id="{79CB9EA1-0AB5-4BC2-8DB1-975EFE377E8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71801" y="4951113"/>
            <a:ext cx="670824" cy="388702"/>
          </a:xfrm>
          <a:prstGeom prst="rect">
            <a:avLst/>
          </a:prstGeom>
        </p:spPr>
      </p:pic>
    </p:spTree>
    <p:extLst>
      <p:ext uri="{BB962C8B-B14F-4D97-AF65-F5344CB8AC3E}">
        <p14:creationId xmlns:p14="http://schemas.microsoft.com/office/powerpoint/2010/main" val="3540394212"/>
      </p:ext>
    </p:extLst>
  </p:cSld>
  <p:clrMapOvr>
    <a:masterClrMapping/>
  </p:clrMapOvr>
  <mc:AlternateContent xmlns:mc="http://schemas.openxmlformats.org/markup-compatibility/2006" xmlns:p14="http://schemas.microsoft.com/office/powerpoint/2010/main">
    <mc:Choice Requires="p14">
      <p:transition spd="slow" p14:dur="2000" advTm="38513"/>
    </mc:Choice>
    <mc:Fallback xmlns="">
      <p:transition spd="slow" advTm="3851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A14EF4-2AEC-4757-AEB4-FECEAAEA2424}"/>
              </a:ext>
            </a:extLst>
          </p:cNvPr>
          <p:cNvSpPr>
            <a:spLocks noGrp="1"/>
          </p:cNvSpPr>
          <p:nvPr>
            <p:ph type="body" sz="quarter" idx="13"/>
          </p:nvPr>
        </p:nvSpPr>
        <p:spPr/>
        <p:txBody>
          <a:bodyPr>
            <a:normAutofit/>
          </a:bodyPr>
          <a:lstStyle/>
          <a:p>
            <a:pPr>
              <a:lnSpc>
                <a:spcPct val="85000"/>
              </a:lnSpc>
              <a:defRPr/>
            </a:pPr>
            <a:r>
              <a:rPr lang="en-GB" b="1">
                <a:solidFill>
                  <a:srgbClr val="B78B1E"/>
                </a:solidFill>
              </a:rPr>
              <a:t>Cyber security: </a:t>
            </a:r>
            <a:r>
              <a:rPr lang="en-GB" b="1"/>
              <a:t>myths and reality</a:t>
            </a:r>
          </a:p>
        </p:txBody>
      </p:sp>
      <p:sp>
        <p:nvSpPr>
          <p:cNvPr id="4" name="Text Placeholder 3">
            <a:extLst>
              <a:ext uri="{FF2B5EF4-FFF2-40B4-BE49-F238E27FC236}">
                <a16:creationId xmlns:a16="http://schemas.microsoft.com/office/drawing/2014/main" id="{2860D6ED-1F44-4F9D-A034-AE56955B839E}"/>
              </a:ext>
            </a:extLst>
          </p:cNvPr>
          <p:cNvSpPr>
            <a:spLocks noGrp="1"/>
          </p:cNvSpPr>
          <p:nvPr>
            <p:ph type="body" sz="quarter" idx="15"/>
          </p:nvPr>
        </p:nvSpPr>
        <p:spPr>
          <a:xfrm>
            <a:off x="557213" y="2536031"/>
            <a:ext cx="4173814" cy="4137025"/>
          </a:xfrm>
        </p:spPr>
        <p:txBody>
          <a:bodyPr>
            <a:normAutofit/>
          </a:bodyPr>
          <a:lstStyle/>
          <a:p>
            <a:pPr marL="0" marR="0" lvl="0" indent="0" algn="l" defTabSz="914400" rtl="0" eaLnBrk="1" fontAlgn="auto" latinLnBrk="0" hangingPunct="1">
              <a:lnSpc>
                <a:spcPct val="100000"/>
              </a:lnSpc>
              <a:spcBef>
                <a:spcPts val="0"/>
              </a:spcBef>
              <a:spcAft>
                <a:spcPts val="0"/>
              </a:spcAft>
              <a:buClrTx/>
              <a:buSzTx/>
              <a:buNone/>
              <a:tabLst/>
              <a:defRPr/>
            </a:pPr>
            <a:r>
              <a:rPr lang="en-GB" sz="800" dirty="0"/>
              <a:t> </a:t>
            </a:r>
            <a:endParaRPr kumimoji="0" lang="en-GB" sz="1400" b="0" i="0" u="none" strike="noStrike" kern="1200" cap="none" spc="0" normalizeH="0" baseline="0" noProof="0" dirty="0">
              <a:ln>
                <a:noFill/>
              </a:ln>
              <a:effectLst/>
              <a:uLnTx/>
              <a:uFillTx/>
            </a:endParaRPr>
          </a:p>
          <a:p>
            <a:pPr marL="565442" marR="0" lvl="0" indent="-565442" algn="l" defTabSz="914400" rtl="0" eaLnBrk="1" fontAlgn="auto" latinLnBrk="0" hangingPunct="1">
              <a:lnSpc>
                <a:spcPct val="100000"/>
              </a:lnSpc>
              <a:spcBef>
                <a:spcPts val="0"/>
              </a:spcBef>
              <a:spcAft>
                <a:spcPts val="0"/>
              </a:spcAft>
              <a:buClrTx/>
              <a:buSzPct val="94000"/>
              <a:buFont typeface="+mj-lt"/>
              <a:buAutoNum type="arabicPeriod"/>
              <a:tabLst/>
              <a:defRPr/>
            </a:pPr>
            <a:r>
              <a:rPr kumimoji="0" lang="en-GB" sz="1400" b="0" i="0" u="none" strike="noStrike" kern="1200" cap="none" spc="0" normalizeH="0" baseline="0" noProof="0" dirty="0">
                <a:ln>
                  <a:noFill/>
                </a:ln>
                <a:effectLst/>
                <a:uLnTx/>
                <a:uFillTx/>
              </a:rPr>
              <a:t>Cyber security is too complex for me to understand.</a:t>
            </a:r>
          </a:p>
          <a:p>
            <a:pPr marL="565442" marR="0" lvl="0" indent="-565442"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400" b="0" i="0" u="none" strike="noStrike" kern="1200" cap="none" spc="0" normalizeH="0" baseline="0" noProof="0" dirty="0">
              <a:ln>
                <a:noFill/>
              </a:ln>
              <a:effectLst/>
              <a:uLnTx/>
              <a:uFillTx/>
            </a:endParaRPr>
          </a:p>
          <a:p>
            <a:pPr marL="565442" marR="0" lvl="0" indent="-565442"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400" b="0" i="0" u="none" strike="noStrike" kern="1200" cap="none" spc="0" normalizeH="0" baseline="0" noProof="0" dirty="0">
              <a:ln>
                <a:noFill/>
              </a:ln>
              <a:effectLst/>
              <a:uLnTx/>
              <a:uFillTx/>
            </a:endParaRPr>
          </a:p>
          <a:p>
            <a:pPr marL="565442" marR="0" lvl="0" indent="-565442"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400" b="0" i="0" u="none" strike="noStrike" kern="1200" cap="none" spc="0" normalizeH="0" baseline="0" noProof="0" dirty="0">
                <a:ln>
                  <a:noFill/>
                </a:ln>
                <a:effectLst/>
                <a:uLnTx/>
                <a:uFillTx/>
              </a:rPr>
              <a:t>Cyber attacks are sophisticated. 	   We can’t stop them.</a:t>
            </a:r>
          </a:p>
          <a:p>
            <a:pPr marL="565442" marR="0" lvl="0" indent="-565442"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400" b="0" i="0" u="none" strike="noStrike" kern="1200" cap="none" spc="0" normalizeH="0" baseline="0" noProof="0" dirty="0">
              <a:ln>
                <a:noFill/>
              </a:ln>
              <a:effectLst/>
              <a:uLnTx/>
              <a:uFillTx/>
            </a:endParaRPr>
          </a:p>
          <a:p>
            <a:pPr marL="565442" marR="0" lvl="0" indent="-565442"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400" b="0" i="0" u="none" strike="noStrike" kern="1200" cap="none" spc="0" normalizeH="0" baseline="0" noProof="0" dirty="0">
              <a:ln>
                <a:noFill/>
              </a:ln>
              <a:effectLst/>
              <a:uLnTx/>
              <a:uFillTx/>
            </a:endParaRPr>
          </a:p>
          <a:p>
            <a:pPr marL="565442" marR="0" lvl="0" indent="-565442"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400" b="0" i="0" u="none" strike="noStrike" kern="1200" cap="none" spc="0" normalizeH="0" baseline="0" noProof="0" dirty="0">
                <a:ln>
                  <a:noFill/>
                </a:ln>
                <a:effectLst/>
                <a:uLnTx/>
                <a:uFillTx/>
              </a:rPr>
              <a:t>Cyber attacks are highly targeted. 	 Our organisation is unlikely to be interesting and/or valuable enough</a:t>
            </a:r>
            <a:r>
              <a:rPr kumimoji="0" lang="en-GB" sz="1400" b="0" i="0" u="none" strike="noStrike" kern="1200" cap="none" spc="0" normalizeH="0" noProof="0" dirty="0">
                <a:ln>
                  <a:noFill/>
                </a:ln>
                <a:effectLst/>
                <a:uLnTx/>
                <a:uFillTx/>
              </a:rPr>
              <a:t> to attackers.</a:t>
            </a:r>
            <a:endParaRPr kumimoji="0" lang="en-GB" sz="1400" b="0" i="0" u="none" strike="noStrike" kern="1200" cap="none" spc="0" normalizeH="0" baseline="0" noProof="0" dirty="0">
              <a:ln>
                <a:noFill/>
              </a:ln>
              <a:effectLst/>
              <a:uLnTx/>
              <a:uFillTx/>
            </a:endParaRPr>
          </a:p>
          <a:p>
            <a:endParaRPr lang="en-GB" sz="1200" dirty="0"/>
          </a:p>
        </p:txBody>
      </p:sp>
      <p:pic>
        <p:nvPicPr>
          <p:cNvPr id="7" name="Picture 6">
            <a:extLst>
              <a:ext uri="{FF2B5EF4-FFF2-40B4-BE49-F238E27FC236}">
                <a16:creationId xmlns:a16="http://schemas.microsoft.com/office/drawing/2014/main" id="{71C46C29-5208-47E3-A69C-A246C04417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3949" y="2386225"/>
            <a:ext cx="6531571" cy="3370519"/>
          </a:xfrm>
          <a:prstGeom prst="rect">
            <a:avLst/>
          </a:prstGeom>
        </p:spPr>
      </p:pic>
    </p:spTree>
    <p:custDataLst>
      <p:tags r:id="rId1"/>
    </p:custDataLst>
    <p:extLst>
      <p:ext uri="{BB962C8B-B14F-4D97-AF65-F5344CB8AC3E}">
        <p14:creationId xmlns:p14="http://schemas.microsoft.com/office/powerpoint/2010/main" val="111703857"/>
      </p:ext>
    </p:extLst>
  </p:cSld>
  <p:clrMapOvr>
    <a:masterClrMapping/>
  </p:clrMapOvr>
  <mc:AlternateContent xmlns:mc="http://schemas.openxmlformats.org/markup-compatibility/2006" xmlns:p14="http://schemas.microsoft.com/office/powerpoint/2010/main">
    <mc:Choice Requires="p14">
      <p:transition spd="slow" p14:dur="2000" advTm="171141"/>
    </mc:Choice>
    <mc:Fallback xmlns="">
      <p:transition spd="slow" advTm="1711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DD765D-62D0-F159-DF0D-62AE08848577}"/>
              </a:ext>
            </a:extLst>
          </p:cNvPr>
          <p:cNvSpPr>
            <a:spLocks noGrp="1"/>
          </p:cNvSpPr>
          <p:nvPr>
            <p:ph type="body" sz="quarter" idx="13"/>
          </p:nvPr>
        </p:nvSpPr>
        <p:spPr/>
        <p:txBody>
          <a:bodyPr vert="horz" lIns="91440" tIns="45720" rIns="91440" bIns="45720" rtlCol="0" anchor="t">
            <a:normAutofit/>
          </a:bodyPr>
          <a:lstStyle/>
          <a:p>
            <a:r>
              <a:rPr lang="en-US" dirty="0">
                <a:solidFill>
                  <a:srgbClr val="B78B1E"/>
                </a:solidFill>
                <a:latin typeface="Poppins SemiBold"/>
                <a:cs typeface="Poppins SemiBold"/>
              </a:rPr>
              <a:t>British Library Cyber Attack: </a:t>
            </a:r>
            <a:r>
              <a:rPr lang="en-US" dirty="0">
                <a:latin typeface="Poppins SemiBold"/>
                <a:cs typeface="Poppins SemiBold"/>
              </a:rPr>
              <a:t>The Impact </a:t>
            </a:r>
          </a:p>
        </p:txBody>
      </p:sp>
      <p:pic>
        <p:nvPicPr>
          <p:cNvPr id="4" name="Picture 3" descr="A building with a clock tower&#10;&#10;Description automatically generated">
            <a:extLst>
              <a:ext uri="{FF2B5EF4-FFF2-40B4-BE49-F238E27FC236}">
                <a16:creationId xmlns:a16="http://schemas.microsoft.com/office/drawing/2014/main" id="{7758DE11-AFD9-9DB9-3E19-D8667AB8EF84}"/>
              </a:ext>
            </a:extLst>
          </p:cNvPr>
          <p:cNvPicPr>
            <a:picLocks noChangeAspect="1"/>
          </p:cNvPicPr>
          <p:nvPr/>
        </p:nvPicPr>
        <p:blipFill>
          <a:blip r:embed="rId3"/>
          <a:stretch>
            <a:fillRect/>
          </a:stretch>
        </p:blipFill>
        <p:spPr>
          <a:xfrm>
            <a:off x="369943" y="2391815"/>
            <a:ext cx="6223219" cy="3510783"/>
          </a:xfrm>
          <a:prstGeom prst="rect">
            <a:avLst/>
          </a:prstGeom>
        </p:spPr>
      </p:pic>
      <p:sp>
        <p:nvSpPr>
          <p:cNvPr id="5" name="TextBox 4">
            <a:extLst>
              <a:ext uri="{FF2B5EF4-FFF2-40B4-BE49-F238E27FC236}">
                <a16:creationId xmlns:a16="http://schemas.microsoft.com/office/drawing/2014/main" id="{0E160F22-2E46-2D0F-963F-0D77AD2C8AB6}"/>
              </a:ext>
            </a:extLst>
          </p:cNvPr>
          <p:cNvSpPr txBox="1"/>
          <p:nvPr/>
        </p:nvSpPr>
        <p:spPr>
          <a:xfrm>
            <a:off x="6695091" y="2228193"/>
            <a:ext cx="4932854"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600" dirty="0">
                <a:solidFill>
                  <a:schemeClr val="bg1"/>
                </a:solidFill>
                <a:latin typeface="Poppins SemiBold"/>
                <a:cs typeface="Poppins SemiBold"/>
              </a:rPr>
              <a:t>Costs unconfirmed but expected to fall well into seven figures</a:t>
            </a:r>
          </a:p>
          <a:p>
            <a:pPr marL="285750" indent="-285750">
              <a:buFont typeface="Arial,Sans-Serif"/>
              <a:buChar char="•"/>
            </a:pPr>
            <a:endParaRPr lang="en-US" sz="1600" dirty="0">
              <a:solidFill>
                <a:schemeClr val="bg1"/>
              </a:solidFill>
              <a:latin typeface="Poppins SemiBold" panose="00000700000000000000" pitchFamily="2" charset="0"/>
              <a:cs typeface="Poppins SemiBold" panose="00000700000000000000" pitchFamily="2" charset="0"/>
            </a:endParaRPr>
          </a:p>
          <a:p>
            <a:pPr marL="285750" indent="-285750">
              <a:buFont typeface="Arial,Sans-Serif"/>
              <a:buChar char="•"/>
            </a:pPr>
            <a:r>
              <a:rPr lang="en-US" sz="1600" dirty="0" err="1">
                <a:solidFill>
                  <a:schemeClr val="bg1"/>
                </a:solidFill>
                <a:latin typeface="Poppins SemiBold"/>
                <a:cs typeface="Poppins SemiBold"/>
              </a:rPr>
              <a:t>Computerised</a:t>
            </a:r>
            <a:r>
              <a:rPr lang="en-US" sz="1600" dirty="0">
                <a:solidFill>
                  <a:schemeClr val="bg1"/>
                </a:solidFill>
                <a:latin typeface="Poppins SemiBold"/>
                <a:cs typeface="Poppins SemiBold"/>
              </a:rPr>
              <a:t> catalogue offline for more than 2 months​</a:t>
            </a:r>
          </a:p>
          <a:p>
            <a:pPr marL="285750" indent="-285750">
              <a:buFont typeface="Arial,Sans-Serif"/>
              <a:buChar char="•"/>
            </a:pPr>
            <a:endParaRPr lang="en-US" sz="1600" dirty="0">
              <a:solidFill>
                <a:schemeClr val="bg1"/>
              </a:solidFill>
              <a:latin typeface="Poppins SemiBold" panose="00000700000000000000" pitchFamily="2" charset="0"/>
              <a:cs typeface="Poppins SemiBold" panose="00000700000000000000" pitchFamily="2" charset="0"/>
            </a:endParaRPr>
          </a:p>
          <a:p>
            <a:pPr marL="285750" indent="-285750">
              <a:buFont typeface="Arial,Sans-Serif"/>
              <a:buChar char="•"/>
            </a:pPr>
            <a:r>
              <a:rPr lang="en-US" sz="1600" dirty="0">
                <a:solidFill>
                  <a:schemeClr val="bg1"/>
                </a:solidFill>
                <a:latin typeface="Poppins SemiBold"/>
                <a:cs typeface="Poppins SemiBold"/>
              </a:rPr>
              <a:t>50% of physical collection inaccessible months  later</a:t>
            </a:r>
          </a:p>
          <a:p>
            <a:pPr marL="285750" indent="-285750">
              <a:buFont typeface="Arial,Sans-Serif"/>
              <a:buChar char="•"/>
            </a:pPr>
            <a:endParaRPr lang="en-US" sz="1600" dirty="0">
              <a:solidFill>
                <a:schemeClr val="bg1"/>
              </a:solidFill>
              <a:latin typeface="Poppins SemiBold" panose="00000700000000000000" pitchFamily="2" charset="0"/>
              <a:cs typeface="Poppins SemiBold" panose="00000700000000000000" pitchFamily="2" charset="0"/>
            </a:endParaRPr>
          </a:p>
          <a:p>
            <a:pPr marL="285750" indent="-285750">
              <a:buFont typeface="Arial,Sans-Serif"/>
              <a:buChar char="•"/>
            </a:pPr>
            <a:r>
              <a:rPr lang="en-US" sz="1600" dirty="0">
                <a:solidFill>
                  <a:schemeClr val="bg1"/>
                </a:solidFill>
                <a:latin typeface="Poppins SemiBold"/>
                <a:cs typeface="Poppins SemiBold"/>
              </a:rPr>
              <a:t>Enquiries system and chat services severely disrupted​</a:t>
            </a:r>
          </a:p>
          <a:p>
            <a:r>
              <a:rPr lang="en-US" sz="1600" dirty="0">
                <a:solidFill>
                  <a:schemeClr val="bg1"/>
                </a:solidFill>
                <a:latin typeface="Poppins SemiBold"/>
                <a:cs typeface="Poppins SemiBold"/>
              </a:rPr>
              <a:t>​</a:t>
            </a:r>
          </a:p>
          <a:p>
            <a:pPr marL="285750" indent="-285750">
              <a:buFont typeface="Arial,Sans-Serif"/>
              <a:buChar char="•"/>
            </a:pPr>
            <a:r>
              <a:rPr lang="en-US" sz="1600" dirty="0" err="1">
                <a:solidFill>
                  <a:schemeClr val="bg1"/>
                </a:solidFill>
                <a:latin typeface="Poppins SemiBold"/>
                <a:cs typeface="Poppins SemiBold"/>
              </a:rPr>
              <a:t>Digitisation</a:t>
            </a:r>
            <a:r>
              <a:rPr lang="en-US" sz="1600" dirty="0">
                <a:solidFill>
                  <a:schemeClr val="bg1"/>
                </a:solidFill>
                <a:latin typeface="Poppins SemiBold"/>
                <a:cs typeface="Poppins SemiBold"/>
              </a:rPr>
              <a:t> activities put on hold, impacting partnership projects and commercial income</a:t>
            </a:r>
            <a:r>
              <a:rPr lang="en-GB" sz="1600" dirty="0">
                <a:solidFill>
                  <a:schemeClr val="bg1"/>
                </a:solidFill>
                <a:latin typeface="Poppins SemiBold"/>
                <a:cs typeface="Poppins SemiBold"/>
              </a:rPr>
              <a:t>​</a:t>
            </a:r>
          </a:p>
        </p:txBody>
      </p:sp>
    </p:spTree>
    <p:extLst>
      <p:ext uri="{BB962C8B-B14F-4D97-AF65-F5344CB8AC3E}">
        <p14:creationId xmlns:p14="http://schemas.microsoft.com/office/powerpoint/2010/main" val="3894652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A24578-337E-456B-B43C-30BDAC32E763}"/>
              </a:ext>
            </a:extLst>
          </p:cNvPr>
          <p:cNvSpPr>
            <a:spLocks noGrp="1"/>
          </p:cNvSpPr>
          <p:nvPr>
            <p:ph type="body" sz="quarter" idx="15"/>
          </p:nvPr>
        </p:nvSpPr>
        <p:spPr>
          <a:xfrm>
            <a:off x="3309445" y="2483938"/>
            <a:ext cx="5354144" cy="3456279"/>
          </a:xfrm>
        </p:spPr>
        <p:txBody>
          <a:bodyPr vert="horz" lIns="91440" tIns="45720" rIns="91440" bIns="45720" rtlCol="0" anchor="t">
            <a:noAutofit/>
          </a:bodyPr>
          <a:lstStyle/>
          <a:p>
            <a:pPr marL="0" indent="0">
              <a:lnSpc>
                <a:spcPct val="100000"/>
              </a:lnSpc>
              <a:buNone/>
              <a:defRPr/>
            </a:pPr>
            <a:r>
              <a:rPr lang="en-GB" sz="1800" dirty="0">
                <a:latin typeface="Poppins SemiBold"/>
                <a:ea typeface="Calibri"/>
                <a:cs typeface="Poppins SemiBold"/>
              </a:rPr>
              <a:t>"It felt like it was an act of vandalism as well as theft.</a:t>
            </a:r>
            <a:endParaRPr lang="en-US" dirty="0"/>
          </a:p>
          <a:p>
            <a:pPr marL="0" indent="0">
              <a:lnSpc>
                <a:spcPct val="100000"/>
              </a:lnSpc>
              <a:buNone/>
              <a:defRPr/>
            </a:pPr>
            <a:r>
              <a:rPr lang="en-GB" sz="1800" dirty="0">
                <a:latin typeface="Poppins SemiBold"/>
                <a:ea typeface="Calibri"/>
                <a:cs typeface="Poppins SemiBold"/>
              </a:rPr>
              <a:t>We have significant lessons to learn about matters such as our historic reliance on a complex legacy infrastructure, which affected our ability to restore services as quickly as we would have wished, and the varying effectiveness of different security measures across our digital estate."</a:t>
            </a:r>
            <a:endParaRPr lang="en-GB" sz="1800" dirty="0"/>
          </a:p>
          <a:p>
            <a:pPr marL="0" indent="0">
              <a:lnSpc>
                <a:spcPct val="100000"/>
              </a:lnSpc>
              <a:buNone/>
              <a:defRPr/>
            </a:pPr>
            <a:endParaRPr lang="en-GB" sz="1800" dirty="0">
              <a:latin typeface="Poppins SemiBold"/>
              <a:ea typeface="Calibri"/>
              <a:cs typeface="Poppins SemiBold"/>
            </a:endParaRPr>
          </a:p>
          <a:p>
            <a:pPr marL="0" indent="0">
              <a:lnSpc>
                <a:spcPct val="100000"/>
              </a:lnSpc>
              <a:buNone/>
              <a:defRPr/>
            </a:pPr>
            <a:endParaRPr lang="en-GB" sz="2000" dirty="0">
              <a:latin typeface="Poppins SemiBold"/>
              <a:ea typeface="Calibri"/>
              <a:cs typeface="Poppins SemiBold"/>
            </a:endParaRPr>
          </a:p>
        </p:txBody>
      </p:sp>
      <p:pic>
        <p:nvPicPr>
          <p:cNvPr id="5" name="Graphic 4">
            <a:extLst>
              <a:ext uri="{FF2B5EF4-FFF2-40B4-BE49-F238E27FC236}">
                <a16:creationId xmlns:a16="http://schemas.microsoft.com/office/drawing/2014/main" id="{CED7CB8C-FB50-4AC7-8EC4-83D356B0BA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80759" y="2485831"/>
            <a:ext cx="670824" cy="388702"/>
          </a:xfrm>
          <a:prstGeom prst="rect">
            <a:avLst/>
          </a:prstGeom>
        </p:spPr>
      </p:pic>
      <p:pic>
        <p:nvPicPr>
          <p:cNvPr id="9" name="Graphic 8">
            <a:extLst>
              <a:ext uri="{FF2B5EF4-FFF2-40B4-BE49-F238E27FC236}">
                <a16:creationId xmlns:a16="http://schemas.microsoft.com/office/drawing/2014/main" id="{79CB9EA1-0AB5-4BC2-8DB1-975EFE377E8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21245" y="4742180"/>
            <a:ext cx="670824" cy="388702"/>
          </a:xfrm>
          <a:prstGeom prst="rect">
            <a:avLst/>
          </a:prstGeom>
        </p:spPr>
      </p:pic>
      <p:sp>
        <p:nvSpPr>
          <p:cNvPr id="10" name="TextBox 9">
            <a:extLst>
              <a:ext uri="{FF2B5EF4-FFF2-40B4-BE49-F238E27FC236}">
                <a16:creationId xmlns:a16="http://schemas.microsoft.com/office/drawing/2014/main" id="{DE195BAF-8D05-471E-AD86-44DD40CAF0F1}"/>
              </a:ext>
            </a:extLst>
          </p:cNvPr>
          <p:cNvSpPr txBox="1"/>
          <p:nvPr/>
        </p:nvSpPr>
        <p:spPr>
          <a:xfrm>
            <a:off x="5678360" y="5254020"/>
            <a:ext cx="3650332" cy="461665"/>
          </a:xfrm>
          <a:prstGeom prst="rect">
            <a:avLst/>
          </a:prstGeom>
          <a:noFill/>
        </p:spPr>
        <p:txBody>
          <a:bodyPr wrap="square" lIns="91440" tIns="45720" rIns="91440" bIns="45720" rtlCol="0" anchor="t">
            <a:spAutoFit/>
          </a:bodyPr>
          <a:lstStyle/>
          <a:p>
            <a:endParaRPr lang="en-GB" sz="1200" dirty="0">
              <a:solidFill>
                <a:schemeClr val="bg1"/>
              </a:solidFill>
              <a:latin typeface="Arial"/>
              <a:cs typeface="Arial"/>
            </a:endParaRPr>
          </a:p>
          <a:p>
            <a:r>
              <a:rPr lang="en-GB" sz="1200" dirty="0">
                <a:solidFill>
                  <a:schemeClr val="bg1"/>
                </a:solidFill>
                <a:latin typeface="Arial"/>
                <a:cs typeface="Arial"/>
              </a:rPr>
              <a:t>Chief Executive, Sir Roly Keating.</a:t>
            </a:r>
            <a:endParaRPr lang="en-GB" sz="1100" dirty="0">
              <a:solidFill>
                <a:schemeClr val="bg1"/>
              </a:solidFill>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159552412"/>
      </p:ext>
    </p:extLst>
  </p:cSld>
  <p:clrMapOvr>
    <a:masterClrMapping/>
  </p:clrMapOvr>
  <mc:AlternateContent xmlns:mc="http://schemas.openxmlformats.org/markup-compatibility/2006" xmlns:p14="http://schemas.microsoft.com/office/powerpoint/2010/main">
    <mc:Choice Requires="p14">
      <p:transition spd="slow" p14:dur="2000" advTm="26800"/>
    </mc:Choice>
    <mc:Fallback xmlns="">
      <p:transition spd="slow" advTm="268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B24629-4EC2-4BB8-A148-FCF15C6EBDE4}"/>
              </a:ext>
            </a:extLst>
          </p:cNvPr>
          <p:cNvSpPr>
            <a:spLocks noGrp="1"/>
          </p:cNvSpPr>
          <p:nvPr>
            <p:ph type="body" sz="quarter" idx="13"/>
          </p:nvPr>
        </p:nvSpPr>
        <p:spPr>
          <a:xfrm>
            <a:off x="474661" y="1266738"/>
            <a:ext cx="11172551" cy="755093"/>
          </a:xfrm>
        </p:spPr>
        <p:txBody>
          <a:bodyPr>
            <a:noAutofit/>
          </a:bodyPr>
          <a:lstStyle/>
          <a:p>
            <a:r>
              <a:rPr lang="en-GB" dirty="0">
                <a:solidFill>
                  <a:srgbClr val="B78B1E"/>
                </a:solidFill>
              </a:rPr>
              <a:t>Cyber security as a board level responsibility</a:t>
            </a:r>
            <a:br>
              <a:rPr lang="en-GB" dirty="0">
                <a:solidFill>
                  <a:srgbClr val="B78B1E"/>
                </a:solidFill>
              </a:rPr>
            </a:br>
            <a:endParaRPr lang="en-GB" dirty="0">
              <a:solidFill>
                <a:srgbClr val="B78B1E"/>
              </a:solidFill>
            </a:endParaRPr>
          </a:p>
        </p:txBody>
      </p:sp>
      <p:sp>
        <p:nvSpPr>
          <p:cNvPr id="21" name="Text Placeholder 20">
            <a:extLst>
              <a:ext uri="{FF2B5EF4-FFF2-40B4-BE49-F238E27FC236}">
                <a16:creationId xmlns:a16="http://schemas.microsoft.com/office/drawing/2014/main" id="{3F83484E-20A7-484E-85F0-8700BEC1AC95}"/>
              </a:ext>
            </a:extLst>
          </p:cNvPr>
          <p:cNvSpPr>
            <a:spLocks noGrp="1"/>
          </p:cNvSpPr>
          <p:nvPr>
            <p:ph type="body" sz="quarter" idx="15"/>
          </p:nvPr>
        </p:nvSpPr>
        <p:spPr>
          <a:xfrm>
            <a:off x="474662" y="2663752"/>
            <a:ext cx="10681018" cy="3046766"/>
          </a:xfrm>
        </p:spPr>
        <p:txBody>
          <a:bodyPr>
            <a:normAutofit/>
          </a:bodyPr>
          <a:lstStyle/>
          <a:p>
            <a:pPr marL="971550" lvl="1" indent="-514350">
              <a:buFont typeface="+mj-lt"/>
              <a:buAutoNum type="arabicPeriod"/>
            </a:pPr>
            <a:r>
              <a:rPr lang="en-GB" sz="1600" dirty="0">
                <a:solidFill>
                  <a:srgbClr val="0D2650"/>
                </a:solidFill>
              </a:rPr>
              <a:t>Nearly all organisations depend on digital technology to </a:t>
            </a:r>
            <a:r>
              <a:rPr lang="en-GB" sz="1600" b="1" dirty="0">
                <a:solidFill>
                  <a:srgbClr val="0D2650"/>
                </a:solidFill>
              </a:rPr>
              <a:t>function.</a:t>
            </a:r>
          </a:p>
          <a:p>
            <a:pPr marL="971550" lvl="1" indent="-514350">
              <a:buFont typeface="+mj-lt"/>
              <a:buAutoNum type="arabicPeriod"/>
            </a:pPr>
            <a:endParaRPr lang="en-GB" sz="1600" b="1" dirty="0">
              <a:solidFill>
                <a:srgbClr val="0D2650"/>
              </a:solidFill>
            </a:endParaRPr>
          </a:p>
          <a:p>
            <a:pPr marL="971550" lvl="1" indent="-514350">
              <a:buFont typeface="+mj-lt"/>
              <a:buAutoNum type="arabicPeriod"/>
            </a:pPr>
            <a:r>
              <a:rPr lang="en-GB" sz="1600" dirty="0">
                <a:solidFill>
                  <a:srgbClr val="0D2650"/>
                </a:solidFill>
              </a:rPr>
              <a:t>The potential </a:t>
            </a:r>
            <a:r>
              <a:rPr lang="en-GB" sz="1600" b="1" dirty="0">
                <a:solidFill>
                  <a:srgbClr val="0D2650"/>
                </a:solidFill>
              </a:rPr>
              <a:t>cost</a:t>
            </a:r>
            <a:r>
              <a:rPr lang="en-GB" sz="1600" dirty="0">
                <a:solidFill>
                  <a:srgbClr val="0D2650"/>
                </a:solidFill>
              </a:rPr>
              <a:t> of remedying a cyber incident can be significant.</a:t>
            </a:r>
          </a:p>
          <a:p>
            <a:pPr marL="971550" lvl="1" indent="-514350">
              <a:buFont typeface="+mj-lt"/>
              <a:buAutoNum type="arabicPeriod"/>
            </a:pPr>
            <a:endParaRPr lang="en-GB" sz="1600" dirty="0">
              <a:solidFill>
                <a:srgbClr val="0D2650"/>
              </a:solidFill>
            </a:endParaRPr>
          </a:p>
          <a:p>
            <a:pPr marL="971550" lvl="1" indent="-514350">
              <a:buFont typeface="+mj-lt"/>
              <a:buAutoNum type="arabicPeriod"/>
            </a:pPr>
            <a:r>
              <a:rPr lang="en-GB" sz="1600" dirty="0">
                <a:solidFill>
                  <a:srgbClr val="0D2650"/>
                </a:solidFill>
              </a:rPr>
              <a:t>The risk of </a:t>
            </a:r>
            <a:r>
              <a:rPr lang="en-GB" sz="1600" b="1" dirty="0">
                <a:solidFill>
                  <a:srgbClr val="0D2650"/>
                </a:solidFill>
              </a:rPr>
              <a:t>reputational damage.</a:t>
            </a:r>
          </a:p>
          <a:p>
            <a:pPr marL="971550" lvl="1" indent="-514350">
              <a:buFont typeface="+mj-lt"/>
              <a:buAutoNum type="arabicPeriod"/>
            </a:pPr>
            <a:endParaRPr lang="en-GB" sz="1600" b="1" dirty="0">
              <a:solidFill>
                <a:srgbClr val="0D2650"/>
              </a:solidFill>
            </a:endParaRPr>
          </a:p>
          <a:p>
            <a:pPr marL="971550" lvl="1" indent="-514350">
              <a:buFont typeface="+mj-lt"/>
              <a:buAutoNum type="arabicPeriod"/>
            </a:pPr>
            <a:endParaRPr lang="en-GB" sz="1600" b="1" dirty="0">
              <a:solidFill>
                <a:srgbClr val="0D2650"/>
              </a:solidFill>
            </a:endParaRPr>
          </a:p>
          <a:p>
            <a:pPr marL="971550" lvl="1" indent="-514350">
              <a:buFont typeface="+mj-lt"/>
              <a:buAutoNum type="arabicPeriod"/>
            </a:pPr>
            <a:endParaRPr lang="en-GB" sz="1600" b="1" dirty="0">
              <a:solidFill>
                <a:srgbClr val="0D2650"/>
              </a:solidFill>
            </a:endParaRPr>
          </a:p>
          <a:p>
            <a:pPr marL="457200" lvl="1" indent="0">
              <a:buNone/>
            </a:pPr>
            <a:r>
              <a:rPr lang="en-GB" sz="1600" dirty="0">
                <a:solidFill>
                  <a:srgbClr val="0D2650"/>
                </a:solidFill>
              </a:rPr>
              <a:t>Cyber security is therefore </a:t>
            </a:r>
            <a:r>
              <a:rPr lang="en-GB" sz="1600" b="1" dirty="0">
                <a:solidFill>
                  <a:srgbClr val="0D2650"/>
                </a:solidFill>
              </a:rPr>
              <a:t>essential</a:t>
            </a:r>
            <a:r>
              <a:rPr lang="en-GB" sz="1600" dirty="0">
                <a:solidFill>
                  <a:srgbClr val="0D2650"/>
                </a:solidFill>
              </a:rPr>
              <a:t> and needs to be understood as an </a:t>
            </a:r>
            <a:r>
              <a:rPr lang="en-GB" sz="1600" b="1" dirty="0">
                <a:solidFill>
                  <a:srgbClr val="0D2650"/>
                </a:solidFill>
              </a:rPr>
              <a:t>enabler.</a:t>
            </a:r>
          </a:p>
          <a:p>
            <a:pPr marL="457200" lvl="1" indent="0">
              <a:buNone/>
            </a:pPr>
            <a:endParaRPr lang="en-GB" sz="1600" b="1" dirty="0">
              <a:solidFill>
                <a:srgbClr val="0D2650"/>
              </a:solidFill>
            </a:endParaRPr>
          </a:p>
          <a:p>
            <a:pPr marL="0" indent="0">
              <a:lnSpc>
                <a:spcPct val="100000"/>
              </a:lnSpc>
              <a:buNone/>
            </a:pPr>
            <a:endParaRPr lang="en-GB" b="1" dirty="0">
              <a:solidFill>
                <a:srgbClr val="0D2650"/>
              </a:solidFill>
            </a:endParaRPr>
          </a:p>
          <a:p>
            <a:pPr marL="0" indent="0">
              <a:lnSpc>
                <a:spcPct val="100000"/>
              </a:lnSpc>
              <a:buNone/>
            </a:pPr>
            <a:endParaRPr lang="en-GB" b="1" dirty="0"/>
          </a:p>
          <a:p>
            <a:pPr marL="0" indent="0">
              <a:lnSpc>
                <a:spcPct val="100000"/>
              </a:lnSpc>
              <a:buNone/>
            </a:pPr>
            <a:endParaRPr lang="en-GB" b="1" dirty="0"/>
          </a:p>
          <a:p>
            <a:pPr marL="0" indent="0">
              <a:lnSpc>
                <a:spcPct val="100000"/>
              </a:lnSpc>
              <a:buNone/>
            </a:pPr>
            <a:endParaRPr lang="en-GB" b="1" dirty="0"/>
          </a:p>
        </p:txBody>
      </p:sp>
    </p:spTree>
    <p:custDataLst>
      <p:tags r:id="rId1"/>
    </p:custDataLst>
    <p:extLst>
      <p:ext uri="{BB962C8B-B14F-4D97-AF65-F5344CB8AC3E}">
        <p14:creationId xmlns:p14="http://schemas.microsoft.com/office/powerpoint/2010/main" val="1819834448"/>
      </p:ext>
    </p:extLst>
  </p:cSld>
  <p:clrMapOvr>
    <a:masterClrMapping/>
  </p:clrMapOvr>
  <mc:AlternateContent xmlns:mc="http://schemas.openxmlformats.org/markup-compatibility/2006" xmlns:p14="http://schemas.microsoft.com/office/powerpoint/2010/main">
    <mc:Choice Requires="p14">
      <p:transition spd="slow" p14:dur="2000" advTm="154008"/>
    </mc:Choice>
    <mc:Fallback xmlns="">
      <p:transition spd="slow" advTm="1540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EFAEDE9-2D7E-4135-9FFA-4C906469C746}"/>
              </a:ext>
            </a:extLst>
          </p:cNvPr>
          <p:cNvSpPr>
            <a:spLocks noGrp="1"/>
          </p:cNvSpPr>
          <p:nvPr>
            <p:ph type="body" sz="quarter" idx="13"/>
          </p:nvPr>
        </p:nvSpPr>
        <p:spPr>
          <a:xfrm>
            <a:off x="474663" y="1168925"/>
            <a:ext cx="10846480" cy="826520"/>
          </a:xfrm>
        </p:spPr>
        <p:txBody>
          <a:bodyPr>
            <a:normAutofit lnSpcReduction="10000"/>
          </a:bodyPr>
          <a:lstStyle/>
          <a:p>
            <a:r>
              <a:rPr lang="en-GB" dirty="0">
                <a:solidFill>
                  <a:srgbClr val="B78B1E"/>
                </a:solidFill>
              </a:rPr>
              <a:t>Organisations with board members taking on cyber security </a:t>
            </a:r>
            <a:r>
              <a:rPr lang="en-GB" dirty="0" err="1">
                <a:solidFill>
                  <a:srgbClr val="B78B1E"/>
                </a:solidFill>
              </a:rPr>
              <a:t>responsibilites</a:t>
            </a:r>
            <a:endParaRPr lang="en-GB" dirty="0">
              <a:solidFill>
                <a:srgbClr val="B78B1E"/>
              </a:solidFill>
            </a:endParaRPr>
          </a:p>
        </p:txBody>
      </p:sp>
      <p:sp>
        <p:nvSpPr>
          <p:cNvPr id="9" name="TextBox 8">
            <a:extLst>
              <a:ext uri="{FF2B5EF4-FFF2-40B4-BE49-F238E27FC236}">
                <a16:creationId xmlns:a16="http://schemas.microsoft.com/office/drawing/2014/main" id="{4320A58E-DBCF-4168-8044-B86CB59D1813}"/>
              </a:ext>
            </a:extLst>
          </p:cNvPr>
          <p:cNvSpPr txBox="1"/>
          <p:nvPr/>
        </p:nvSpPr>
        <p:spPr>
          <a:xfrm>
            <a:off x="491331" y="6522002"/>
            <a:ext cx="11209337" cy="215444"/>
          </a:xfrm>
          <a:prstGeom prst="rect">
            <a:avLst/>
          </a:prstGeom>
          <a:noFill/>
        </p:spPr>
        <p:txBody>
          <a:bodyPr wrap="square" rtlCol="0">
            <a:spAutoFit/>
          </a:bodyPr>
          <a:lstStyle/>
          <a:p>
            <a:r>
              <a:rPr lang="en-GB" sz="800">
                <a:hlinkClick r:id="rId4"/>
              </a:rPr>
              <a:t>Cyber security breaches survey 2024 - GOV.UK (www.gov.uk)</a:t>
            </a:r>
            <a:endParaRPr lang="en-GB" sz="300" dirty="0">
              <a:latin typeface="Poppins Light" panose="00000400000000000000" pitchFamily="2" charset="0"/>
              <a:cs typeface="Poppins Light" panose="00000400000000000000" pitchFamily="2" charset="0"/>
            </a:endParaRPr>
          </a:p>
        </p:txBody>
      </p:sp>
      <p:pic>
        <p:nvPicPr>
          <p:cNvPr id="3" name="Picture 2">
            <a:extLst>
              <a:ext uri="{FF2B5EF4-FFF2-40B4-BE49-F238E27FC236}">
                <a16:creationId xmlns:a16="http://schemas.microsoft.com/office/drawing/2014/main" id="{A41C7386-EE8C-AE80-8E5C-1C498BE83A7E}"/>
              </a:ext>
            </a:extLst>
          </p:cNvPr>
          <p:cNvPicPr>
            <a:picLocks noChangeAspect="1"/>
          </p:cNvPicPr>
          <p:nvPr/>
        </p:nvPicPr>
        <p:blipFill>
          <a:blip r:embed="rId5"/>
          <a:stretch>
            <a:fillRect/>
          </a:stretch>
        </p:blipFill>
        <p:spPr>
          <a:xfrm>
            <a:off x="1451728" y="2031679"/>
            <a:ext cx="7571689" cy="3926061"/>
          </a:xfrm>
          <a:prstGeom prst="rect">
            <a:avLst/>
          </a:prstGeom>
        </p:spPr>
      </p:pic>
    </p:spTree>
    <p:custDataLst>
      <p:tags r:id="rId1"/>
    </p:custDataLst>
    <p:extLst>
      <p:ext uri="{BB962C8B-B14F-4D97-AF65-F5344CB8AC3E}">
        <p14:creationId xmlns:p14="http://schemas.microsoft.com/office/powerpoint/2010/main" val="1019694064"/>
      </p:ext>
    </p:extLst>
  </p:cSld>
  <p:clrMapOvr>
    <a:masterClrMapping/>
  </p:clrMapOvr>
  <mc:AlternateContent xmlns:mc="http://schemas.openxmlformats.org/markup-compatibility/2006" xmlns:p14="http://schemas.microsoft.com/office/powerpoint/2010/main">
    <mc:Choice Requires="p14">
      <p:transition spd="slow" p14:dur="2000" advTm="59669"/>
    </mc:Choice>
    <mc:Fallback xmlns="">
      <p:transition spd="slow" advTm="5966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CB0A7B-77EB-41EF-87C3-CE4B446DEEAA}"/>
              </a:ext>
            </a:extLst>
          </p:cNvPr>
          <p:cNvSpPr>
            <a:spLocks noGrp="1"/>
          </p:cNvSpPr>
          <p:nvPr>
            <p:ph type="body" sz="quarter" idx="13"/>
          </p:nvPr>
        </p:nvSpPr>
        <p:spPr>
          <a:xfrm>
            <a:off x="622169" y="1084083"/>
            <a:ext cx="10220456" cy="822806"/>
          </a:xfrm>
        </p:spPr>
        <p:txBody>
          <a:bodyPr>
            <a:noAutofit/>
          </a:bodyPr>
          <a:lstStyle/>
          <a:p>
            <a:r>
              <a:rPr lang="en-GB" dirty="0">
                <a:solidFill>
                  <a:srgbClr val="B78B1E"/>
                </a:solidFill>
              </a:rPr>
              <a:t>Organisations </a:t>
            </a:r>
            <a:r>
              <a:rPr lang="en-GB" dirty="0" err="1">
                <a:solidFill>
                  <a:srgbClr val="B78B1E"/>
                </a:solidFill>
              </a:rPr>
              <a:t>identifing</a:t>
            </a:r>
            <a:r>
              <a:rPr lang="en-GB" dirty="0">
                <a:solidFill>
                  <a:srgbClr val="B78B1E"/>
                </a:solidFill>
              </a:rPr>
              <a:t> breaches or attacks in last 12 months</a:t>
            </a:r>
          </a:p>
        </p:txBody>
      </p:sp>
      <p:sp>
        <p:nvSpPr>
          <p:cNvPr id="5" name="TextBox 4">
            <a:extLst>
              <a:ext uri="{FF2B5EF4-FFF2-40B4-BE49-F238E27FC236}">
                <a16:creationId xmlns:a16="http://schemas.microsoft.com/office/drawing/2014/main" id="{E169C613-C3DE-4841-9178-295ACEE3B6CF}"/>
              </a:ext>
            </a:extLst>
          </p:cNvPr>
          <p:cNvSpPr txBox="1"/>
          <p:nvPr/>
        </p:nvSpPr>
        <p:spPr>
          <a:xfrm>
            <a:off x="491330" y="6473279"/>
            <a:ext cx="11209337" cy="215444"/>
          </a:xfrm>
          <a:prstGeom prst="rect">
            <a:avLst/>
          </a:prstGeom>
          <a:noFill/>
        </p:spPr>
        <p:txBody>
          <a:bodyPr wrap="square" rtlCol="0">
            <a:spAutoFit/>
          </a:bodyPr>
          <a:lstStyle/>
          <a:p>
            <a:r>
              <a:rPr lang="en-GB" sz="800">
                <a:hlinkClick r:id="rId4"/>
              </a:rPr>
              <a:t>Cyber security breaches survey 2024 - GOV.UK (www.gov.uk)</a:t>
            </a:r>
            <a:endParaRPr lang="en-GB" sz="300" dirty="0">
              <a:latin typeface="Poppins Light" panose="00000400000000000000" pitchFamily="2" charset="0"/>
              <a:cs typeface="Poppins Light" panose="00000400000000000000" pitchFamily="2" charset="0"/>
            </a:endParaRPr>
          </a:p>
        </p:txBody>
      </p:sp>
      <p:pic>
        <p:nvPicPr>
          <p:cNvPr id="6" name="Picture 5">
            <a:extLst>
              <a:ext uri="{FF2B5EF4-FFF2-40B4-BE49-F238E27FC236}">
                <a16:creationId xmlns:a16="http://schemas.microsoft.com/office/drawing/2014/main" id="{BFECD906-CD0F-2B80-F98D-0E7E720DBB81}"/>
              </a:ext>
            </a:extLst>
          </p:cNvPr>
          <p:cNvPicPr>
            <a:picLocks noChangeAspect="1"/>
          </p:cNvPicPr>
          <p:nvPr/>
        </p:nvPicPr>
        <p:blipFill>
          <a:blip r:embed="rId5"/>
          <a:stretch>
            <a:fillRect/>
          </a:stretch>
        </p:blipFill>
        <p:spPr>
          <a:xfrm>
            <a:off x="2947661" y="2111423"/>
            <a:ext cx="6296677" cy="4047368"/>
          </a:xfrm>
          <a:prstGeom prst="rect">
            <a:avLst/>
          </a:prstGeom>
        </p:spPr>
      </p:pic>
    </p:spTree>
    <p:custDataLst>
      <p:tags r:id="rId1"/>
    </p:custDataLst>
    <p:extLst>
      <p:ext uri="{BB962C8B-B14F-4D97-AF65-F5344CB8AC3E}">
        <p14:creationId xmlns:p14="http://schemas.microsoft.com/office/powerpoint/2010/main" val="1747842799"/>
      </p:ext>
    </p:extLst>
  </p:cSld>
  <p:clrMapOvr>
    <a:masterClrMapping/>
  </p:clrMapOvr>
  <mc:AlternateContent xmlns:mc="http://schemas.openxmlformats.org/markup-compatibility/2006" xmlns:p14="http://schemas.microsoft.com/office/powerpoint/2010/main">
    <mc:Choice Requires="p14">
      <p:transition spd="slow" p14:dur="2000" advTm="37815"/>
    </mc:Choice>
    <mc:Fallback xmlns="">
      <p:transition spd="slow" advTm="3781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67088A2B-3A2D-4B22-A189-84BF3EC6378F}"/>
              </a:ext>
            </a:extLst>
          </p:cNvPr>
          <p:cNvSpPr txBox="1">
            <a:spLocks/>
          </p:cNvSpPr>
          <p:nvPr/>
        </p:nvSpPr>
        <p:spPr>
          <a:xfrm>
            <a:off x="462382" y="2431986"/>
            <a:ext cx="7081418" cy="15967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chemeClr val="bg1"/>
                </a:solidFill>
                <a:latin typeface="Poppins SemiBold" panose="00000700000000000000" pitchFamily="2" charset="0"/>
                <a:cs typeface="Poppins SemiBold" panose="00000700000000000000" pitchFamily="2" charset="0"/>
              </a:rPr>
              <a:t>Next steps: </a:t>
            </a:r>
          </a:p>
          <a:p>
            <a:pPr marL="0" indent="0">
              <a:buNone/>
            </a:pPr>
            <a:endParaRPr lang="en-GB" dirty="0">
              <a:solidFill>
                <a:schemeClr val="bg1"/>
              </a:solidFill>
              <a:latin typeface="Poppins SemiBold" panose="00000700000000000000" pitchFamily="2" charset="0"/>
              <a:cs typeface="Poppins SemiBold" panose="00000700000000000000" pitchFamily="2" charset="0"/>
            </a:endParaRPr>
          </a:p>
          <a:p>
            <a:pPr marL="0" indent="0">
              <a:buNone/>
            </a:pPr>
            <a:r>
              <a:rPr lang="en-GB" dirty="0">
                <a:solidFill>
                  <a:schemeClr val="bg1"/>
                </a:solidFill>
                <a:latin typeface="Poppins SemiBold" panose="00000700000000000000" pitchFamily="2" charset="0"/>
                <a:cs typeface="Poppins SemiBold" panose="00000700000000000000" pitchFamily="2" charset="0"/>
              </a:rPr>
              <a:t>The Cyber Security Toolkit for Boards:</a:t>
            </a:r>
          </a:p>
          <a:p>
            <a:pPr marL="0" indent="0">
              <a:buNone/>
            </a:pPr>
            <a:r>
              <a:rPr lang="en-GB" dirty="0">
                <a:solidFill>
                  <a:srgbClr val="B78B1E"/>
                </a:solidFill>
                <a:latin typeface="Poppins SemiBold" panose="00000700000000000000" pitchFamily="2" charset="0"/>
                <a:cs typeface="Poppins SemiBold" panose="00000700000000000000" pitchFamily="2" charset="0"/>
              </a:rPr>
              <a:t>Helping board members get to grips with cyber security. </a:t>
            </a:r>
            <a:endParaRPr lang="en-GB" sz="1800" dirty="0">
              <a:solidFill>
                <a:srgbClr val="B78B1E"/>
              </a:solidFill>
              <a:latin typeface="Poppins SemiBold" panose="00000700000000000000" pitchFamily="2" charset="0"/>
              <a:cs typeface="Poppins SemiBold" panose="00000700000000000000" pitchFamily="2" charset="0"/>
            </a:endParaRPr>
          </a:p>
        </p:txBody>
      </p:sp>
      <p:sp>
        <p:nvSpPr>
          <p:cNvPr id="4" name="Text Placeholder 1">
            <a:extLst>
              <a:ext uri="{FF2B5EF4-FFF2-40B4-BE49-F238E27FC236}">
                <a16:creationId xmlns:a16="http://schemas.microsoft.com/office/drawing/2014/main" id="{8BF97F52-DE2B-4800-B56E-951ADF0D2890}"/>
              </a:ext>
            </a:extLst>
          </p:cNvPr>
          <p:cNvSpPr txBox="1">
            <a:spLocks/>
          </p:cNvSpPr>
          <p:nvPr/>
        </p:nvSpPr>
        <p:spPr>
          <a:xfrm>
            <a:off x="584662" y="5526379"/>
            <a:ext cx="6293690" cy="5111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200" dirty="0">
              <a:solidFill>
                <a:srgbClr val="B78B1E"/>
              </a:solidFill>
              <a:latin typeface="Poppins SemiBold" panose="00000700000000000000" pitchFamily="2" charset="0"/>
              <a:cs typeface="Poppins SemiBold" panose="00000700000000000000" pitchFamily="2" charset="0"/>
            </a:endParaRPr>
          </a:p>
          <a:p>
            <a:pPr marL="0" indent="0">
              <a:buNone/>
            </a:pPr>
            <a:endParaRPr lang="en-GB" sz="1800" dirty="0">
              <a:solidFill>
                <a:srgbClr val="B78B1E"/>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1973593119"/>
      </p:ext>
    </p:extLst>
  </p:cSld>
  <p:clrMapOvr>
    <a:masterClrMapping/>
  </p:clrMapOvr>
  <mc:AlternateContent xmlns:mc="http://schemas.openxmlformats.org/markup-compatibility/2006" xmlns:p14="http://schemas.microsoft.com/office/powerpoint/2010/main">
    <mc:Choice Requires="p14">
      <p:transition spd="slow" p14:dur="2000" advTm="17338"/>
    </mc:Choice>
    <mc:Fallback xmlns="">
      <p:transition spd="slow" advTm="17338"/>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0.2"/>
</p:tagLst>
</file>

<file path=ppt/tags/tag2.xml><?xml version="1.0" encoding="utf-8"?>
<p:tagLst xmlns:a="http://schemas.openxmlformats.org/drawingml/2006/main" xmlns:r="http://schemas.openxmlformats.org/officeDocument/2006/relationships" xmlns:p="http://schemas.openxmlformats.org/presentationml/2006/main">
  <p:tag name="TIMING" val="|15.5|47.8"/>
</p:tagLst>
</file>

<file path=ppt/tags/tag3.xml><?xml version="1.0" encoding="utf-8"?>
<p:tagLst xmlns:a="http://schemas.openxmlformats.org/drawingml/2006/main" xmlns:r="http://schemas.openxmlformats.org/officeDocument/2006/relationships" xmlns:p="http://schemas.openxmlformats.org/presentationml/2006/main">
  <p:tag name="TIMING" val="|40|23.6|28|30.6"/>
</p:tagLst>
</file>

<file path=ppt/tags/tag4.xml><?xml version="1.0" encoding="utf-8"?>
<p:tagLst xmlns:a="http://schemas.openxmlformats.org/drawingml/2006/main" xmlns:r="http://schemas.openxmlformats.org/officeDocument/2006/relationships" xmlns:p="http://schemas.openxmlformats.org/presentationml/2006/main">
  <p:tag name="TIMING" val="|16.5"/>
</p:tagLst>
</file>

<file path=ppt/tags/tag5.xml><?xml version="1.0" encoding="utf-8"?>
<p:tagLst xmlns:a="http://schemas.openxmlformats.org/drawingml/2006/main" xmlns:r="http://schemas.openxmlformats.org/officeDocument/2006/relationships" xmlns:p="http://schemas.openxmlformats.org/presentationml/2006/main">
  <p:tag name="TIMING" val="|17.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38D1DB696E29C4890AFC8CE6F1F52A8" ma:contentTypeVersion="3" ma:contentTypeDescription="Create a new document." ma:contentTypeScope="" ma:versionID="bb5871e0a248113abff784417fc88882">
  <xsd:schema xmlns:xsd="http://www.w3.org/2001/XMLSchema" xmlns:xs="http://www.w3.org/2001/XMLSchema" xmlns:p="http://schemas.microsoft.com/office/2006/metadata/properties" xmlns:ns2="0ac1a4ba-81e3-44a4-9cc3-b6c258e147e8" targetNamespace="http://schemas.microsoft.com/office/2006/metadata/properties" ma:root="true" ma:fieldsID="cdb4c4c6994b836c95e5895f2eae4251" ns2:_="">
    <xsd:import namespace="0ac1a4ba-81e3-44a4-9cc3-b6c258e147e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c1a4ba-81e3-44a4-9cc3-b6c258e147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E67866-B62F-426F-9BFA-CFD6C1CCD8A4}"/>
</file>

<file path=customXml/itemProps2.xml><?xml version="1.0" encoding="utf-8"?>
<ds:datastoreItem xmlns:ds="http://schemas.openxmlformats.org/officeDocument/2006/customXml" ds:itemID="{6AFC58C4-2184-4116-A415-ECFBC8C11B05}">
  <ds:schemaRefs>
    <ds:schemaRef ds:uri="http://www.w3.org/XML/1998/namespace"/>
    <ds:schemaRef ds:uri="http://schemas.microsoft.com/office/2006/documentManagement/types"/>
    <ds:schemaRef ds:uri="8eb8d25d-af30-4f41-9b5a-8c3a073d5f5b"/>
    <ds:schemaRef ds:uri="2f5a243b-06fa-451b-8f01-9e8d3c718bd8"/>
    <ds:schemaRef ds:uri="http://schemas.microsoft.com/office/2006/metadata/properties"/>
    <ds:schemaRef ds:uri="http://purl.org/dc/elements/1.1/"/>
    <ds:schemaRef ds:uri="http://schemas.microsoft.com/office/infopath/2007/PartnerControls"/>
    <ds:schemaRef ds:uri="http://purl.org/dc/dcmitype/"/>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E02DBCDF-ACB4-419A-9642-36BC5F4284F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2525</Words>
  <Application>Microsoft Office PowerPoint</Application>
  <PresentationFormat>Widescreen</PresentationFormat>
  <Paragraphs>187</Paragraphs>
  <Slides>11</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Arial</vt:lpstr>
      <vt:lpstr>Arial,Sans-Serif</vt:lpstr>
      <vt:lpstr>Calibri</vt:lpstr>
      <vt:lpstr>Calibri Light</vt:lpstr>
      <vt:lpstr>Poppins Light</vt:lpstr>
      <vt:lpstr>Poppins SemiBold</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Board-toolkit-Introduction-to-cyber-security-for-board-members-briefing-pack</dc:title>
  <dc:creator/>
  <cp:lastModifiedBy/>
  <cp:revision>1</cp:revision>
  <dcterms:created xsi:type="dcterms:W3CDTF">2021-07-01T09:48:30Z</dcterms:created>
  <dcterms:modified xsi:type="dcterms:W3CDTF">2024-11-25T13:51:35Z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policyId">
    <vt:lpwstr>0x010100D87388DB0C0E544B9EF3700046109C5B|1208973698</vt:lpwstr>
  </property>
  <property fmtid="{D5CDD505-2E9C-101B-9397-08002B2CF9AE}" pid="3" name="SharedWithUsers">
    <vt:lpwstr>471;#Simon B;#1146;#Katie T;#3096;#Hannah H</vt:lpwstr>
  </property>
  <property fmtid="{D5CDD505-2E9C-101B-9397-08002B2CF9AE}" pid="4" name="ContentTypeId">
    <vt:lpwstr>0x010100138D1DB696E29C4890AFC8CE6F1F52A8</vt:lpwstr>
  </property>
  <property fmtid="{D5CDD505-2E9C-101B-9397-08002B2CF9AE}" pid="5" name="ItemRetentionFormula">
    <vt:lpwstr>&lt;formula id="Microsoft.Office.RecordsManagement.PolicyFeatures.Expiration.Formula.BuiltIn"&gt;&lt;number&gt;2&lt;/number&gt;&lt;property&gt;Modified&lt;/property&gt;&lt;propertyId&gt;28cf69c5-fa48-462a-b5cd-27b6f9d2bd5f&lt;/propertyId&gt;&lt;period&gt;years&lt;/period&gt;&lt;/formula&gt;</vt:lpwstr>
  </property>
  <property fmtid="{D5CDD505-2E9C-101B-9397-08002B2CF9AE}" pid="6" name="_dlc_DocIdItemGuid">
    <vt:lpwstr>516ca242-4761-47ea-8436-f66154db0327</vt:lpwstr>
  </property>
  <property fmtid="{D5CDD505-2E9C-101B-9397-08002B2CF9AE}" pid="7" name="NCSCS Team">
    <vt:lpwstr/>
  </property>
  <property fmtid="{D5CDD505-2E9C-101B-9397-08002B2CF9AE}" pid="8" name="_dlc_ExpireDate">
    <vt:filetime>2031-07-01T09:48:58Z</vt:filetime>
  </property>
  <property fmtid="{D5CDD505-2E9C-101B-9397-08002B2CF9AE}" pid="9" name="MediaServiceImageTags">
    <vt:lpwstr/>
  </property>
  <property fmtid="{D5CDD505-2E9C-101B-9397-08002B2CF9AE}" pid="10" name="TaxCatchAll">
    <vt:lpwstr/>
  </property>
  <property fmtid="{D5CDD505-2E9C-101B-9397-08002B2CF9AE}" pid="11" name="i2a9d56797544f3d9c3c8414e16f8390">
    <vt:lpwstr/>
  </property>
  <property fmtid="{D5CDD505-2E9C-101B-9397-08002B2CF9AE}" pid="12" name="xd_ProgID">
    <vt:lpwstr/>
  </property>
  <property fmtid="{D5CDD505-2E9C-101B-9397-08002B2CF9AE}" pid="13" name="_dlc_DocId">
    <vt:lpwstr>NCSC-1975912354-10160</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_dlc_DocIdUrl">
    <vt:lpwstr>https://ukncsc.sharepoint.com/sites/NCSC Home/Eng/EandS/_layouts/15/DocIdRedir.aspx?ID=NCSC-1975912354-10160, NCSC-1975912354-10160</vt:lpwstr>
  </property>
  <property fmtid="{D5CDD505-2E9C-101B-9397-08002B2CF9AE}" pid="19" name="xd_Signature">
    <vt:bool>false</vt:bool>
  </property>
</Properties>
</file>